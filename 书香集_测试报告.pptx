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00" y="2232000"/>
            <a:ext cx="792000" cy="64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2376000"/>
            <a:ext cx="1008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 试 报 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096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A227"/>
                </a:solidFill>
                <a:latin typeface="Consolas"/>
                <a:ea typeface="Consolas"/>
                <a:cs typeface="Consolas"/>
              </a:rPr>
              <a:t>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96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书香集 · 独立网上书城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4320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A227"/>
                </a:solidFill>
                <a:latin typeface="Consolas"/>
                <a:ea typeface="Consolas"/>
                <a:cs typeface="Consolas"/>
              </a:rPr>
              <a:t>（bookstore_app）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580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Microsoft YaHei"/>
                <a:ea typeface="Microsoft YaHei"/>
                <a:cs typeface="Microsoft YaHei"/>
              </a:rPr>
              <a:t>版本 V-1.0        日期 2026-09-27        执行：pytest 9.1.1</a:t>
            </a:r>
          </a:p>
        </p:txBody>
      </p:sp>
      <p:sp>
        <p:nvSpPr>
          <p:cNvPr id="9" name="AILabel"/>
          <p:cNvSpPr txBox="1"/>
          <p:nvPr/>
        </p:nvSpPr>
        <p:spPr>
          <a:xfrm>
            <a:off x="9612119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1008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一、前言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    1、声明      2、背景说明      3、目的      4、适用范围      5、参考资料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二、测试环境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    1、硬件资源    2、软件资源    3、测试环境拓扑图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三、测试范围说明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四、测试过程分析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    1、功能测试    2、安全与隔离测试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五、测试结果分析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    1、测试覆盖率分析    2、缺陷分析（类型/功能分布/时间趋势）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六、测试汇总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    1、测试问题汇总    2、差异分析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七、测试总结和评价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八、建议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附录：缺陷报告（0 缺陷）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一、前言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92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1、声明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本报告只适用于“书香集 · 独立网上书城”系统的功能测试结果。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引用本文档内容应保证其本来意义，不得擅自增加、修改、伪造。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软件产品更新后任何新功能模块都需重新测试，本报告不再适用。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2268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2、背景说明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556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“书香集”是完全独立的 Flask + SQLite 网上书城示例。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首次启动自动建表并写入 42 本示例书籍，密码使用 Werkzeug 哈希存储。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提供注册、登录、浏览、搜索、购物车、结算、订单等完整电商闭环。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本次测试验证系统是否符合 README.md 与 API_DOC.md 所述功能需求。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4104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3、目的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4392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总结本次测试的测试内容和测试结果。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对系统功能作出相应评估，分析存在的缺陷。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为项目改进提供建议，给用户对产品的使用提供帮助。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544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4、适用范围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832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本报告为项目内部资料，读者范围为项目测试人员、研发人员和相关负责人。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如需对外出示，必须经过审批程序。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一、前言  ·  5、参考资料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080000"/>
          <a:ext cx="108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2520000"/>
                <a:gridCol w="2520000"/>
                <a:gridCol w="2880000"/>
              </a:tblGrid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 / 日期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作者或来源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“书香集”项目说明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V-1.0 / 2026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项目作者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README.md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“书香集”接口文档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V-1.0 / 2026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项目作者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API_DOC.md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“书香集”依赖清单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V-1.0 / 2026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项目作者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requirements.txt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“书香集”应用源码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V-1.0 / 2026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项目作者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app.py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“书香集”测试代码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V-1.0 / 2026-09-27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TraeCode Agent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tests/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二、测试环境  ·  1、硬件资源  2、软件资源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1、硬件资源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972000"/>
          <a:ext cx="1080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2160000"/>
                <a:gridCol w="2520000"/>
                <a:gridCol w="4680000"/>
                <a:gridCol w="720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硬件设备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处理器型号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远程沙箱服务器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Linux x86_64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 Flask 应用与 SQLite 数据库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0000" y="2160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2、软件资源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2412000"/>
          <a:ext cx="1116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3240000"/>
                <a:gridCol w="2160000"/>
                <a:gridCol w="3600000"/>
              </a:tblGrid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软件名称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软件名称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操作系统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Linux（远程沙箱）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3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解释器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3.14.7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模板引擎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Jinja2（随 Flask）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框架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Flask 3.1.3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测试框架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pytest 9.1.1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WSGI 工具库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Werkzeug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测试客户端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Flask test_client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二、测试环境  ·  3、测试环境拓扑图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260000"/>
            <a:ext cx="2880000" cy="90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36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pytest 9.1.1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692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2F4F7"/>
                </a:solidFill>
                <a:latin typeface="Microsoft YaHei"/>
                <a:ea typeface="Microsoft YaHei"/>
                <a:cs typeface="Microsoft YaHei"/>
              </a:rPr>
              <a:t>（自动化测试）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71999" y="1440000"/>
            <a:ext cx="1080000" cy="540000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60000" y="1260000"/>
            <a:ext cx="2880000" cy="90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0" y="136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bookstore_app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0" y="1692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2F4F7"/>
                </a:solidFill>
                <a:latin typeface="Microsoft YaHei"/>
                <a:ea typeface="Microsoft YaHei"/>
                <a:cs typeface="Microsoft YaHei"/>
              </a:rPr>
              <a:t>（app.py · Flask）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120000" y="2268000"/>
            <a:ext cx="540000" cy="792000"/>
          </a:xfrm>
          <a:prstGeom prst="down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60000" y="3240000"/>
            <a:ext cx="2880000" cy="90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0" y="334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SQLite 临时库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00" y="3671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2F4F7"/>
                </a:solidFill>
                <a:latin typeface="Microsoft YaHei"/>
                <a:ea typeface="Microsoft YaHei"/>
                <a:cs typeface="Microsoft YaHei"/>
              </a:rPr>
              <a:t>（tmp_path/test.db）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86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远程沙箱（Linux x86_64）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500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测试通过 Flask 内置 test_client 在进程内发起请求，不经过真实网络端口。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通过 tmp_path 夹具为每个用例生成独立临时数据库，绝不触碰项目自带 bookstore.db。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用例之间完全隔离，session 由 test_client 自动管理。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三、测试范围说明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27999"/>
          <a:ext cx="102600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1800000"/>
                <a:gridCol w="5760000"/>
                <a:gridCol w="2160000"/>
              </a:tblGrid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序号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产品描述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测试要点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用户注册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表单返回、成功注册、4 类校验失败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全部准确实现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用户登录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表单返回、成功、失败、next 跳转、开放重定向防护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全部准确实现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用户退出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清空 session、重定向首页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全部准确实现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图书浏览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首页、全部图书、书名/作者搜索、分类筛选、组合筛选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全部准确实现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图书详情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200、相关推荐、404、非整数 404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全部准确实现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图书封面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 SVG、静态文件、404、路径遍历拦截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全部准确实现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种子数据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 本入库、价格非负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全部准确实现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购物车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增删改查、累加、夹取、跨用户隔离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全部准确实现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结算与订单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守卫、空车重定向、下单、详情、404、列表、隔离、快照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全部准确实现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四、测试过程分析  ·  1、功能测试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792000"/>
          <a:ext cx="102600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720000"/>
                <a:gridCol w="1080000"/>
                <a:gridCol w="720000"/>
                <a:gridCol w="1080000"/>
                <a:gridCol w="1080000"/>
                <a:gridCol w="3960000"/>
              </a:tblGrid>
              <a:tr h="4581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功能模块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轮数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执行用例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未通过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通过率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用户注册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覆盖表单与 4 类校验失败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用户登录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 next 跳转与开放重定向防护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用户退出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session 清空 + 重定向首页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图书浏览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书名/作者/分类/组合筛选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图书详情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 与 404 路径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图书封面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 SVG / 静态 / 路径遍历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种子数据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 本入库 + 价格非负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购物车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增删改查 + 跨用户隔离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结算与订单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下单全链路 + 快照保留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581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四、测试过程分析  ·  2、安全与隔离测试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900000"/>
          <a:ext cx="108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720000"/>
                <a:gridCol w="1080000"/>
                <a:gridCol w="720000"/>
                <a:gridCol w="1080000"/>
                <a:gridCol w="1080000"/>
                <a:gridCol w="3960000"/>
              </a:tblGrid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测试项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轮数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执行用例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未通过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通过率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购物车跨用户隔离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无法修改/删除 A 的条目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订单跨用户隔离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的订单对 B 不可见（404）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封面路径遍历防护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/covers/../app.py 被拒绝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开放重定向防护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next=http://evil.com 回退首页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4320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说明：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608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本项目为单进程 Flask Web 应用，无前端打包与多端分发。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故“兼容性测试”在本报告中转化为安全与隔离测试，聚焦真正存在的风险面。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差异已在第六章详细说明。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五、测试结果分析  ·  1、测试覆盖率分析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92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功能测试覆盖率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1080000"/>
          <a:ext cx="1044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080000"/>
                <a:gridCol w="1080000"/>
                <a:gridCol w="1080000"/>
                <a:gridCol w="5400000"/>
              </a:tblGrid>
              <a:tr h="42545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功能模块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用例总数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执行数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覆盖率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4254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用户注册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覆盖成功路径与 4 类失败校验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254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用户登录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 next 跳转与开放重定向防护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254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用户退出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254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图书浏览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覆盖搜索、分类、组合筛选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254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图书详情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 200 与 404 路径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254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图书封面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覆盖动态 SVG、静态、缺失、遍历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254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种子数据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覆盖数量与价格约束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254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购物车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覆盖增删改查与跨用户隔离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254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结算与订单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覆盖下单全链路与快照保留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254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五、测试结果分析  ·  2、缺陷分析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92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（1）缺陷类型汇总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1044000"/>
          <a:ext cx="432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080000"/>
                <a:gridCol w="1080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缺陷类型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功能类型缺陷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安全类型缺陷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兼容性缺陷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性能缺陷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0000" y="792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（2）缺陷按功能分布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0000" y="1044000"/>
          <a:ext cx="54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900000"/>
                <a:gridCol w="900000"/>
                <a:gridCol w="900000"/>
                <a:gridCol w="900000"/>
              </a:tblGrid>
              <a:tr h="30857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功能模块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缺陷数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严重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一般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轻微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30857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用户注册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30857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用户登录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30857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图书浏览/详情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30857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购物车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30857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结算与订单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30857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3420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（3）缺陷时间趋势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3708000"/>
            <a:ext cx="11160000" cy="1800000"/>
          </a:xfrm>
          <a:prstGeom prst="roundRect">
            <a:avLst/>
          </a:prstGeom>
          <a:solidFill>
            <a:srgbClr val="F2F4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88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本次为单轮一次性执行，全程缺陷数为 0，曲线始终贴合 0 轴，无回归或新增缺陷。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0000" y="5328000"/>
            <a:ext cx="10440000" cy="0"/>
          </a:xfrm>
          <a:prstGeom prst="line">
            <a:avLst/>
          </a:prstGeom>
          <a:ln w="317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20000" y="5274000"/>
            <a:ext cx="108000" cy="10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0000" y="5274000"/>
            <a:ext cx="108000" cy="10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80000" y="5274000"/>
            <a:ext cx="108000" cy="10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60000" y="5274000"/>
            <a:ext cx="108000" cy="10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40000" y="5274000"/>
            <a:ext cx="108000" cy="10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20000" y="5274000"/>
            <a:ext cx="108000" cy="10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00000" y="5274000"/>
            <a:ext cx="108000" cy="10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0000" y="5274000"/>
            <a:ext cx="108000" cy="10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60000" y="5274000"/>
            <a:ext cx="108000" cy="10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40000" y="5274000"/>
            <a:ext cx="108000" cy="10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000" y="5472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注册  登录  退出  浏览  详情  封面  种子  购物车  结算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六、测试汇总  ·  1、测试问题汇总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27999"/>
          <a:ext cx="10620000" cy="5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1800000"/>
                <a:gridCol w="5040000"/>
                <a:gridCol w="3240000"/>
              </a:tblGrid>
              <a:tr h="522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序号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测试项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测试要点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测试结论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用户注册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表单、成功、4 类校验失败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功能完整准确实现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用户登录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表单、成功、失败、next、开放重定向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功能完整准确实现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用户退出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清空 session、重定向首页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功能完整准确实现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图书浏览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首页、全部、搜索、分类、组合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功能完整准确实现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图书详情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200、相关推荐、404、非整数 404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功能完整准确实现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图书封面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 SVG、静态、404、遍历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功能完整准确实现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种子数据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 本入库、价格非负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功能完整准确实现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购物车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增删改查、累加、夹取、隔离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功能完整准确实现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结算与订单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守卫、空车、下单、详情、404、列表、隔离、快照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功能完整准确实现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六、测试汇总  ·  2、差异分析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92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差异项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测试方式：API_DOC 建议 Postman + 手动 Cookie，实际采用 pytest + test_client。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数据库：项目默认 bookstore.db，测试用 BOOKSTORE_DATABASE 指向 tmp_path 临时库。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兼容性范围：模板含多端/多浏览器，本项目单端 Web 应用，转为安全与隔离测试。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CSRF：项目未启用 CSRF，本次未列为缺陷（属已知设计取舍），第八章给出建议。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3960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差异分析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4248000"/>
            <a:ext cx="111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pytest 自动化可达更高一致性与可重复性，tmp_path 实现用例级隔离，比 Postman 更彻底。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安全隔离测试替代兼容性测试，符合单端 Web 应用实际形态，聚焦真正风险面。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CSRF 缺失属设计取舍而非实现缺陷，不计入缺陷统计，但应在后续迭代评估启用。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七、测试总结和评价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900000"/>
            <a:ext cx="111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整个测试过程包括功能测试与安全隔离测试。</a:t>
            </a:r>
          </a:p>
          <a:p>
            <a:pPr/>
            <a:r>
              <a:rPr sz="13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共执行 57 个功能用例 + 5 项安全隔离检查，全部通过，未发现任何缺陷。</a:t>
            </a:r>
          </a:p>
          <a:p>
            <a:pPr/>
            <a:r>
              <a:rPr sz="13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用户注册/登录/退出：14 个用例，100% 通过。</a:t>
            </a:r>
          </a:p>
          <a:p>
            <a:pPr/>
            <a:r>
              <a:rPr sz="13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图书浏览/详情/封面/种子数据：15 个用例，100% 通过。</a:t>
            </a:r>
          </a:p>
          <a:p>
            <a:pPr/>
            <a:r>
              <a:rPr sz="13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购物车：15 个用例，100% 通过。</a:t>
            </a:r>
          </a:p>
          <a:p>
            <a:pPr/>
            <a:r>
              <a:rPr sz="13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结算与订单：13 个用例，100% 通过。</a:t>
            </a:r>
          </a:p>
          <a:p>
            <a:pPr/>
            <a:r>
              <a:rPr sz="13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安全与隔离（跨用户、路径遍历、开放重定向）：5 项，100% 通过。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960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未及测试而可能存在的风险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248000"/>
            <a:ext cx="111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前端交互测试：templates 下的 Jinja2 渲染逻辑未做浏览器端验证。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并发与性能测试：多用户并发下单、SQLite 写锁、高负载响应延迟未验证。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CSRF 防护验证：项目未启用 CSRF，未做跨站请求伪造实际复现。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真实封面下载脚本：download_covers.py 依赖外部 API，未做网络测试。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长会话与过期行为：Flask session 的过期/刷新/跨标签页未验证。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七、测试总结和评价  · 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440000"/>
            <a:ext cx="10440000" cy="324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620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  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“书香集 · 独立网上书城”系统在本次功能与安全隔离测试中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全部 57 个用例通过，未发现任何缺陷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024000"/>
            <a:ext cx="104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核心功能均符合 API_DOC.md 所述需求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104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该系统通过本次测试，可予以发布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040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建议在发布前补充前端渲染与并发场景测试，并评估启用 CSRF 防护。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八、建议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900000"/>
            <a:ext cx="111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（1）补充前端渲染测试：用 Playwright/Selenium 对 templates 渲染做端到端验证，覆盖 flash 消息、表单回显、购物车徽标。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（2）启用 CSRF 防护：引入 Flask-WTF 或自定义 CSRF Token，对所有 POST 路由（注册、登录、加购、改/删购物车、结算）增加校验。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（3）增加并发与性能测试：补充多用户并发下单、SQLite 写锁竞争场景测试，评估是否需要切换到 PostgreSQL/MySQL。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（4）完善密码策略：当前仅校验长度 ≥ 6，建议增加复杂度要求并校验常见弱密码。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（5）订单状态流转测试：当前订单状态固定为“待发货”，建议补充发货/完成/取消等状态流转用例。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（6）库存与限购：cart_items.quantity 无上限累加（仅 UI 夹取 99），建议业务层增加每书限购与库存校验。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（7）真实封面下载脚本测试：对 download_covers.py 增加离线 mock 测试，验证网络失败时的降级行为。</a:t>
            </a:r>
          </a:p>
          <a:p>
            <a:pPr/>
            <a:r>
              <a:rPr sz="12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• （8）测试纳入 CI：将 python -m pytest tests/ 接入持续集成，每次提交自动执行，防止回归。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附录  ·  缺陷报告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827999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本次测试未发现任何缺陷，故无缺陷报告条目。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6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缺陷统计汇总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12000"/>
          <a:ext cx="288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440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等级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严重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一般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轻微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960000" y="126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缺陷优先级汇总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12000"/>
          <a:ext cx="288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440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立即解决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高优先级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可延后解决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60000" y="1260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缺陷 ID 明细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60000" y="1512000"/>
          <a:ext cx="396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440000"/>
                <a:gridCol w="900000"/>
                <a:gridCol w="720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 ID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等级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（无）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0000" y="3960000"/>
            <a:ext cx="11160000" cy="1440000"/>
          </a:xfrm>
          <a:prstGeom prst="roundRect">
            <a:avLst/>
          </a:prstGeom>
          <a:solidFill>
            <a:srgbClr val="F2F4F7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414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本次测试 0 缺陷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46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B38"/>
                </a:solidFill>
                <a:latin typeface="Microsoft YaHei"/>
                <a:ea typeface="Microsoft YaHei"/>
                <a:cs typeface="Microsoft YaHei"/>
              </a:rPr>
              <a:t>57 个功能用例 + 5 项安全隔离检查  全部通过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360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附录  ·  测试执行证据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00119" y="6660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8279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测试命令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080000"/>
            <a:ext cx="11160000" cy="576000"/>
          </a:xfrm>
          <a:prstGeom prst="roundRect">
            <a:avLst/>
          </a:prstGeom>
          <a:solidFill>
            <a:srgbClr val="222B3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117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$ cd /workspace/bookstore_app &amp;&amp; python -m pytest tests/ 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872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测试结果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2124000"/>
            <a:ext cx="11160000" cy="576000"/>
          </a:xfrm>
          <a:prstGeom prst="roundRect">
            <a:avLst/>
          </a:prstGeom>
          <a:solidFill>
            <a:srgbClr val="222B3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221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============================== 57 passed in 6.98s ==============================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3024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测试文件清单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276000"/>
          <a:ext cx="108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1080000"/>
                <a:gridCol w="6480000"/>
              </a:tblGrid>
              <a:tr h="4114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用例数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覆盖范围</a:t>
                      </a:r>
                    </a:p>
                  </a:txBody>
                  <a:tcPr marL="36000" marR="36000" marT="14400" marB="14400">
                    <a:solidFill>
                      <a:srgbClr val="1F3A5F"/>
                    </a:solidFill>
                  </a:tcPr>
                </a:tc>
              </a:tr>
              <a:tr h="4114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tests/conftest.py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共享夹具：临时数据库、app/client/auth_client、注册/登录辅助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114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tests/test_auth.py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注册、登录、退出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tests/test_catalog.py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首页、详情、封面、种子数据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114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tests/test_cart.py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购物车增删改与隔离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tests/test_orders.py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结算、订单列表、详情、快照</a:t>
                      </a:r>
                    </a:p>
                  </a:txBody>
                  <a:tcPr marL="36000" marR="36000" marT="14400" marB="14400">
                    <a:solidFill>
                      <a:srgbClr val="F2F4F7"/>
                    </a:solidFill>
                  </a:tcPr>
                </a:tc>
              </a:tr>
              <a:tr h="41143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B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36000" marR="36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0" y="6606001"/>
            <a:ext cx="1219211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6E7B"/>
                </a:solidFill>
                <a:latin typeface="Microsoft YaHei"/>
                <a:ea typeface="Microsoft YaHei"/>
                <a:cs typeface="Microsoft YaHei"/>
              </a:rPr>
              <a:t>书香集 · 独立网上书城  测试报告  |  V-1.0  |  2026-09-27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20000" y="2951999"/>
            <a:ext cx="1800000" cy="64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3096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10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书香集 · 独立网上书城  测试报告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