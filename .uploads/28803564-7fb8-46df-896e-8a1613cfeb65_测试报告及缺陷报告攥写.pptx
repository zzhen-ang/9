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5"/>
  </p:notesMasterIdLst>
  <p:sldIdLst>
    <p:sldId id="4671" r:id="rId3"/>
    <p:sldId id="4815" r:id="rId4"/>
    <p:sldId id="4772" r:id="rId5"/>
    <p:sldId id="4775" r:id="rId6"/>
    <p:sldId id="4776" r:id="rId7"/>
    <p:sldId id="4777" r:id="rId8"/>
    <p:sldId id="4778" r:id="rId9"/>
    <p:sldId id="4779" r:id="rId10"/>
    <p:sldId id="4780" r:id="rId11"/>
    <p:sldId id="4781" r:id="rId12"/>
    <p:sldId id="4785" r:id="rId13"/>
    <p:sldId id="4786" r:id="rId14"/>
    <p:sldId id="4787" r:id="rId15"/>
    <p:sldId id="4788" r:id="rId16"/>
    <p:sldId id="4789" r:id="rId17"/>
    <p:sldId id="4790" r:id="rId18"/>
    <p:sldId id="4791" r:id="rId19"/>
    <p:sldId id="4782" r:id="rId20"/>
    <p:sldId id="4783" r:id="rId21"/>
    <p:sldId id="4784" r:id="rId22"/>
    <p:sldId id="4792" r:id="rId23"/>
    <p:sldId id="4793" r:id="rId24"/>
    <p:sldId id="4796" r:id="rId25"/>
    <p:sldId id="4797" r:id="rId26"/>
    <p:sldId id="4798" r:id="rId27"/>
    <p:sldId id="4794" r:id="rId28"/>
    <p:sldId id="4795" r:id="rId29"/>
    <p:sldId id="4799" r:id="rId30"/>
    <p:sldId id="4800" r:id="rId31"/>
    <p:sldId id="4801" r:id="rId32"/>
    <p:sldId id="4802" r:id="rId33"/>
    <p:sldId id="4814" r:id="rId34"/>
    <p:sldId id="4803" r:id="rId35"/>
    <p:sldId id="4804" r:id="rId36"/>
    <p:sldId id="4805" r:id="rId37"/>
    <p:sldId id="4806" r:id="rId38"/>
    <p:sldId id="4807" r:id="rId39"/>
    <p:sldId id="4808" r:id="rId40"/>
    <p:sldId id="4809" r:id="rId41"/>
    <p:sldId id="4810" r:id="rId42"/>
    <p:sldId id="4811" r:id="rId43"/>
    <p:sldId id="4693" r:id="rId44"/>
  </p:sldIdLst>
  <p:sldSz cx="12192000" cy="6858000"/>
  <p:notesSz cx="6797675" cy="9926320"/>
  <p:custDataLst>
    <p:tags r:id="rId5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yche" initials="P"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A2DB"/>
    <a:srgbClr val="6E9DD5"/>
    <a:srgbClr val="FF0201"/>
    <a:srgbClr val="5B9BD5"/>
    <a:srgbClr val="218AE9"/>
    <a:srgbClr val="3C66D8"/>
    <a:srgbClr val="FB6E49"/>
    <a:srgbClr val="48C6EB"/>
    <a:srgbClr val="0A46A4"/>
    <a:srgbClr val="E0E8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704" autoAdjust="0"/>
    <p:restoredTop sz="86509" autoAdjust="0"/>
  </p:normalViewPr>
  <p:slideViewPr>
    <p:cSldViewPr snapToGrid="0">
      <p:cViewPr varScale="1">
        <p:scale>
          <a:sx n="98" d="100"/>
          <a:sy n="98" d="100"/>
        </p:scale>
        <p:origin x="858" y="78"/>
      </p:cViewPr>
      <p:guideLst>
        <p:guide orient="horz" pos="3988"/>
        <p:guide pos="302"/>
        <p:guide pos="3125"/>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48" d="100"/>
          <a:sy n="48" d="100"/>
        </p:scale>
        <p:origin x="2692" y="2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0" Type="http://schemas.openxmlformats.org/officeDocument/2006/relationships/tags" Target="tags/tag9.xml"/><Relationship Id="rId5" Type="http://schemas.openxmlformats.org/officeDocument/2006/relationships/slide" Target="slides/slide3.xml"/><Relationship Id="rId49" Type="http://schemas.openxmlformats.org/officeDocument/2006/relationships/commentAuthors" Target="commentAuthors.xml"/><Relationship Id="rId48" Type="http://schemas.openxmlformats.org/officeDocument/2006/relationships/tableStyles" Target="tableStyles.xml"/><Relationship Id="rId47" Type="http://schemas.openxmlformats.org/officeDocument/2006/relationships/viewProps" Target="viewProps.xml"/><Relationship Id="rId46" Type="http://schemas.openxmlformats.org/officeDocument/2006/relationships/presProps" Target="presProps.xml"/><Relationship Id="rId45" Type="http://schemas.openxmlformats.org/officeDocument/2006/relationships/notesMaster" Target="notesMasters/notesMaster1.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7BE9E2DB-D247-40A9-B876-4A57753B0F8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22275" y="962812"/>
            <a:ext cx="5953125" cy="33496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1DFC842B-8951-4F96-B53C-FC68EF154B6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image" Target="../media/image5.png"/><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7" name="图片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5933" y="98244"/>
            <a:ext cx="1853791" cy="792610"/>
          </a:xfrm>
          <a:prstGeom prst="rect">
            <a:avLst/>
          </a:prstGeom>
        </p:spPr>
      </p:pic>
      <p:pic>
        <p:nvPicPr>
          <p:cNvPr id="8" name="图片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708779" y="6302688"/>
            <a:ext cx="2071006" cy="333418"/>
          </a:xfrm>
          <a:prstGeom prst="rect">
            <a:avLst/>
          </a:prstGeom>
        </p:spPr>
      </p:pic>
      <p:sp>
        <p:nvSpPr>
          <p:cNvPr id="5" name="标题 1"/>
          <p:cNvSpPr>
            <a:spLocks noGrp="1"/>
          </p:cNvSpPr>
          <p:nvPr>
            <p:ph type="ctrTitle"/>
          </p:nvPr>
        </p:nvSpPr>
        <p:spPr>
          <a:xfrm>
            <a:off x="1524000" y="946194"/>
            <a:ext cx="9144000" cy="2387600"/>
          </a:xfrm>
          <a:prstGeom prst="rect">
            <a:avLst/>
          </a:prstGeom>
        </p:spPr>
        <p:txBody>
          <a:bodyPr anchor="b"/>
          <a:lstStyle>
            <a:lvl1pPr algn="ctr">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9" name="副标题 2"/>
          <p:cNvSpPr>
            <a:spLocks noGrp="1"/>
          </p:cNvSpPr>
          <p:nvPr>
            <p:ph type="subTitle" idx="1"/>
          </p:nvPr>
        </p:nvSpPr>
        <p:spPr>
          <a:xfrm>
            <a:off x="1524000" y="3649193"/>
            <a:ext cx="9144000" cy="1516328"/>
          </a:xfrm>
          <a:prstGeom prst="rect">
            <a:avLst/>
          </a:prstGeom>
        </p:spPr>
        <p:txBody>
          <a:bodyPr/>
          <a:lstStyle>
            <a:lvl1pPr marL="0" indent="0" algn="ctr">
              <a:buNone/>
              <a:defRPr sz="2000" b="1">
                <a:solidFill>
                  <a:schemeClr val="tx1">
                    <a:lumMod val="65000"/>
                    <a:lumOff val="35000"/>
                  </a:schemeClr>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pic>
        <p:nvPicPr>
          <p:cNvPr id="10" name="图片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1" name="图片 10"/>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5933" y="98244"/>
            <a:ext cx="1853791" cy="792610"/>
          </a:xfrm>
          <a:prstGeom prst="rect">
            <a:avLst/>
          </a:prstGeom>
        </p:spPr>
      </p:pic>
      <p:pic>
        <p:nvPicPr>
          <p:cNvPr id="12" name="图片 11"/>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708779" y="6302688"/>
            <a:ext cx="2071006" cy="333418"/>
          </a:xfrm>
          <a:prstGeom prst="rect">
            <a:avLst/>
          </a:prstGeom>
        </p:spPr>
      </p:pic>
      <p:sp>
        <p:nvSpPr>
          <p:cNvPr id="6" name="标题占位符 1"/>
          <p:cNvSpPr>
            <a:spLocks noGrp="1"/>
          </p:cNvSpPr>
          <p:nvPr>
            <p:ph type="title"/>
          </p:nvPr>
        </p:nvSpPr>
        <p:spPr>
          <a:xfrm>
            <a:off x="1922333" y="272228"/>
            <a:ext cx="9167913" cy="533115"/>
          </a:xfrm>
          <a:prstGeom prst="rect">
            <a:avLst/>
          </a:prstGeom>
        </p:spPr>
        <p:txBody>
          <a:bodyPr vert="horz" lIns="91440" tIns="45720" rIns="91440" bIns="45720" rtlCol="0" anchor="ctr">
            <a:noAutofit/>
          </a:bodyPr>
          <a:lstStyle>
            <a:lvl1pPr>
              <a:defRPr sz="28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8" name="图片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5933" y="98244"/>
            <a:ext cx="1853791" cy="792610"/>
          </a:xfrm>
          <a:prstGeom prst="rect">
            <a:avLst/>
          </a:prstGeom>
        </p:spPr>
      </p:pic>
      <p:pic>
        <p:nvPicPr>
          <p:cNvPr id="9" name="图片 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708779" y="6302688"/>
            <a:ext cx="2071006" cy="333418"/>
          </a:xfrm>
          <a:prstGeom prst="rect">
            <a:avLst/>
          </a:prstGeom>
        </p:spPr>
      </p:pic>
      <p:sp>
        <p:nvSpPr>
          <p:cNvPr id="10" name="内容占位符 2"/>
          <p:cNvSpPr>
            <a:spLocks noGrp="1"/>
          </p:cNvSpPr>
          <p:nvPr>
            <p:ph idx="1"/>
          </p:nvPr>
        </p:nvSpPr>
        <p:spPr>
          <a:xfrm>
            <a:off x="972424" y="1422953"/>
            <a:ext cx="10117822" cy="4351338"/>
          </a:xfrm>
          <a:prstGeom prst="rect">
            <a:avLst/>
          </a:prstGeom>
        </p:spPr>
        <p:txBody>
          <a:bodyPr>
            <a:normAutofit/>
          </a:bodyPr>
          <a:lstStyle>
            <a:lvl1pPr>
              <a:defRPr sz="2400">
                <a:latin typeface="微软雅黑" panose="020B0503020204020204" pitchFamily="34" charset="-122"/>
                <a:ea typeface="微软雅黑" panose="020B0503020204020204" pitchFamily="34" charset="-122"/>
              </a:defRPr>
            </a:lvl1pPr>
            <a:lvl2pPr>
              <a:defRPr sz="2000">
                <a:latin typeface="微软雅黑" panose="020B0503020204020204" pitchFamily="34" charset="-122"/>
                <a:ea typeface="微软雅黑" panose="020B0503020204020204" pitchFamily="34" charset="-122"/>
              </a:defRPr>
            </a:lvl2pPr>
            <a:lvl3pPr>
              <a:defRPr sz="1800">
                <a:latin typeface="微软雅黑" panose="020B0503020204020204" pitchFamily="34" charset="-122"/>
                <a:ea typeface="微软雅黑" panose="020B0503020204020204" pitchFamily="34" charset="-122"/>
              </a:defRPr>
            </a:lvl3pPr>
            <a:lvl4pPr>
              <a:defRPr sz="16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12" name="标题占位符 1"/>
          <p:cNvSpPr>
            <a:spLocks noGrp="1"/>
          </p:cNvSpPr>
          <p:nvPr>
            <p:ph type="title"/>
          </p:nvPr>
        </p:nvSpPr>
        <p:spPr>
          <a:xfrm>
            <a:off x="1922333" y="272228"/>
            <a:ext cx="9167913" cy="533115"/>
          </a:xfrm>
          <a:prstGeom prst="rect">
            <a:avLst/>
          </a:prstGeom>
        </p:spPr>
        <p:txBody>
          <a:bodyPr vert="horz" lIns="91440" tIns="45720" rIns="91440" bIns="45720" rtlCol="0" anchor="ctr">
            <a:noAutofit/>
          </a:bodyPr>
          <a:lstStyle>
            <a:lvl1pPr>
              <a:defRPr sz="28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空白页">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7" name="图片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5933" y="98244"/>
            <a:ext cx="1853791" cy="792610"/>
          </a:xfrm>
          <a:prstGeom prst="rect">
            <a:avLst/>
          </a:prstGeom>
        </p:spPr>
      </p:pic>
      <p:pic>
        <p:nvPicPr>
          <p:cNvPr id="8" name="图片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708779" y="6302688"/>
            <a:ext cx="2071006" cy="333418"/>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1）">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自定义版式（2）">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7" name="图片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08779" y="6302688"/>
            <a:ext cx="2071006" cy="333418"/>
          </a:xfrm>
          <a:prstGeom prst="rect">
            <a:avLst/>
          </a:prstGeom>
        </p:spPr>
      </p:pic>
      <p:pic>
        <p:nvPicPr>
          <p:cNvPr id="8" name="图片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88622" y="255217"/>
            <a:ext cx="1557413" cy="54373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自定义版式（3）">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7" name="图片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08779" y="6302688"/>
            <a:ext cx="2071006" cy="333418"/>
          </a:xfrm>
          <a:prstGeom prst="rect">
            <a:avLst/>
          </a:prstGeom>
        </p:spPr>
      </p:pic>
      <p:pic>
        <p:nvPicPr>
          <p:cNvPr id="5" name="图片 4"/>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45933" y="98244"/>
            <a:ext cx="1853791" cy="79261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1.xml"/><Relationship Id="rId2" Type="http://schemas.openxmlformats.org/officeDocument/2006/relationships/image" Target="../media/image13.emf"/><Relationship Id="rId1"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7.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8.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6.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8.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5"/>
          <p:cNvSpPr>
            <a:spLocks noGrp="1"/>
          </p:cNvSpPr>
          <p:nvPr/>
        </p:nvSpPr>
        <p:spPr>
          <a:xfrm>
            <a:off x="0" y="2704288"/>
            <a:ext cx="12192000" cy="629505"/>
          </a:xfrm>
          <a:prstGeom prst="rect">
            <a:avLst/>
          </a:prstGeom>
        </p:spPr>
        <p:txBody>
          <a:bodyPr anchor="b"/>
          <a:lstStyle>
            <a:lvl1pPr algn="ctr" defTabSz="914400" rtl="0" eaLnBrk="1" latinLnBrk="0" hangingPunct="1">
              <a:lnSpc>
                <a:spcPct val="90000"/>
              </a:lnSpc>
              <a:spcBef>
                <a:spcPct val="0"/>
              </a:spcBef>
              <a:buNone/>
              <a:defRPr sz="3600" b="1" kern="1200">
                <a:solidFill>
                  <a:srgbClr val="C00000"/>
                </a:solidFill>
                <a:latin typeface="微软雅黑" panose="020B0503020204020204" pitchFamily="34" charset="-122"/>
                <a:ea typeface="微软雅黑" panose="020B0503020204020204" pitchFamily="34" charset="-122"/>
                <a:cs typeface="+mj-cs"/>
              </a:defRPr>
            </a:lvl1pPr>
          </a:lstStyle>
          <a:p>
            <a:r>
              <a:rPr lang="zh-CN" altLang="en-US" b="0" spc="200" dirty="0">
                <a:solidFill>
                  <a:srgbClr val="FF0000"/>
                </a:solidFill>
                <a:effectLst>
                  <a:outerShdw blurRad="38100" dist="38100" dir="2700000" algn="tl">
                    <a:srgbClr val="000000">
                      <a:alpha val="43137"/>
                    </a:srgbClr>
                  </a:outerShdw>
                </a:effectLst>
                <a:latin typeface="Arial" panose="020B0604020202020204" pitchFamily="34" charset="0"/>
                <a:ea typeface="汉仪旗黑-85S" panose="00020600040101010101" pitchFamily="18" charset="-122"/>
                <a:cs typeface="+mn-cs"/>
              </a:rPr>
              <a:t>在线考试</a:t>
            </a:r>
            <a:r>
              <a:rPr lang="zh-CN" altLang="en-US" b="0" spc="200" dirty="0">
                <a:solidFill>
                  <a:srgbClr val="FF0000"/>
                </a:solidFill>
                <a:effectLst>
                  <a:outerShdw blurRad="38100" dist="38100" dir="2700000" algn="tl">
                    <a:srgbClr val="000000">
                      <a:alpha val="43137"/>
                    </a:srgbClr>
                  </a:outerShdw>
                </a:effectLst>
                <a:latin typeface="Arial" panose="020B0604020202020204" pitchFamily="34" charset="0"/>
                <a:ea typeface="汉仪旗黑-85S" panose="00020600040101010101" pitchFamily="18" charset="-122"/>
                <a:cs typeface="+mn-cs"/>
              </a:rPr>
              <a:t>系统</a:t>
            </a:r>
            <a:endParaRPr lang="zh-CN" altLang="en-US" b="0" spc="200" dirty="0">
              <a:solidFill>
                <a:srgbClr val="FF0000"/>
              </a:solidFill>
              <a:effectLst>
                <a:outerShdw blurRad="38100" dist="38100" dir="2700000" algn="tl">
                  <a:srgbClr val="000000">
                    <a:alpha val="43137"/>
                  </a:srgbClr>
                </a:outerShdw>
              </a:effectLst>
              <a:latin typeface="Arial" panose="020B0604020202020204" pitchFamily="34" charset="0"/>
              <a:ea typeface="汉仪旗黑-85S" panose="00020600040101010101" pitchFamily="18"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5"/>
          <p:cNvSpPr>
            <a:spLocks noGrp="1"/>
          </p:cNvSpPr>
          <p:nvPr/>
        </p:nvSpPr>
        <p:spPr>
          <a:xfrm>
            <a:off x="0" y="2704288"/>
            <a:ext cx="12192000" cy="629505"/>
          </a:xfrm>
          <a:prstGeom prst="rect">
            <a:avLst/>
          </a:prstGeom>
        </p:spPr>
        <p:txBody>
          <a:bodyPr anchor="b"/>
          <a:lstStyle>
            <a:lvl1pPr algn="ctr" defTabSz="914400" rtl="0" eaLnBrk="1" latinLnBrk="0" hangingPunct="1">
              <a:lnSpc>
                <a:spcPct val="90000"/>
              </a:lnSpc>
              <a:spcBef>
                <a:spcPct val="0"/>
              </a:spcBef>
              <a:buNone/>
              <a:defRPr sz="3600" b="1" kern="1200">
                <a:solidFill>
                  <a:srgbClr val="C00000"/>
                </a:solidFill>
                <a:latin typeface="微软雅黑" panose="020B0503020204020204" pitchFamily="34" charset="-122"/>
                <a:ea typeface="微软雅黑" panose="020B0503020204020204" pitchFamily="34" charset="-122"/>
                <a:cs typeface="+mj-cs"/>
              </a:defRPr>
            </a:lvl1pPr>
          </a:lstStyle>
          <a:p>
            <a:r>
              <a:rPr lang="zh-CN" altLang="en-US" b="0" spc="200" dirty="0">
                <a:solidFill>
                  <a:srgbClr val="FF0000"/>
                </a:solidFill>
                <a:effectLst>
                  <a:outerShdw blurRad="38100" dist="38100" dir="2700000" algn="tl">
                    <a:srgbClr val="000000">
                      <a:alpha val="43137"/>
                    </a:srgbClr>
                  </a:outerShdw>
                </a:effectLst>
                <a:latin typeface="Arial" panose="020B0604020202020204" pitchFamily="34" charset="0"/>
                <a:ea typeface="汉仪旗黑-85S" panose="00020600040101010101" pitchFamily="18" charset="-122"/>
                <a:cs typeface="+mn-cs"/>
              </a:rPr>
              <a:t>测试</a:t>
            </a:r>
            <a:r>
              <a:rPr lang="zh-CN" altLang="en-US" b="0" spc="200" dirty="0">
                <a:solidFill>
                  <a:srgbClr val="FF0000"/>
                </a:solidFill>
                <a:effectLst>
                  <a:outerShdw blurRad="38100" dist="38100" dir="2700000" algn="tl">
                    <a:srgbClr val="000000">
                      <a:alpha val="43137"/>
                    </a:srgbClr>
                  </a:outerShdw>
                </a:effectLst>
                <a:latin typeface="Arial" panose="020B0604020202020204" pitchFamily="34" charset="0"/>
                <a:ea typeface="汉仪旗黑-85S" panose="00020600040101010101" pitchFamily="18" charset="-122"/>
                <a:cs typeface="+mn-cs"/>
              </a:rPr>
              <a:t>报告</a:t>
            </a:r>
            <a:endParaRPr lang="zh-CN" altLang="en-US" b="0" spc="200" dirty="0">
              <a:solidFill>
                <a:srgbClr val="FF0000"/>
              </a:solidFill>
              <a:effectLst>
                <a:outerShdw blurRad="38100" dist="38100" dir="2700000" algn="tl">
                  <a:srgbClr val="000000">
                    <a:alpha val="43137"/>
                  </a:srgbClr>
                </a:outerShdw>
              </a:effectLst>
              <a:latin typeface="Arial" panose="020B0604020202020204" pitchFamily="34" charset="0"/>
              <a:ea typeface="汉仪旗黑-85S" panose="00020600040101010101" pitchFamily="18"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nvSpPr>
        <p:spPr>
          <a:xfrm>
            <a:off x="1922333" y="272228"/>
            <a:ext cx="9167913" cy="5331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rgbClr val="C00000"/>
                </a:solidFill>
                <a:latin typeface="微软雅黑" panose="020B0503020204020204" pitchFamily="34" charset="-122"/>
                <a:ea typeface="微软雅黑" panose="020B0503020204020204" pitchFamily="34" charset="-122"/>
                <a:cs typeface="+mj-cs"/>
              </a:defRPr>
            </a:lvl1pPr>
          </a:lstStyle>
          <a:p>
            <a:pPr marL="0" algn="l" defTabSz="914400" rtl="0" eaLnBrk="1" latinLnBrk="0" hangingPunct="1"/>
            <a:r>
              <a:rPr lang="zh-CN" altLang="en-US" dirty="0" smtClean="0">
                <a:solidFill>
                  <a:srgbClr val="FF0000"/>
                </a:solidFill>
                <a:sym typeface="+mn-ea"/>
              </a:rPr>
              <a:t>测试报告</a:t>
            </a:r>
            <a:endParaRPr lang="zh-CN" altLang="en-US" dirty="0" smtClean="0">
              <a:solidFill>
                <a:srgbClr val="FF0000"/>
              </a:solidFill>
              <a:sym typeface="+mn-ea"/>
            </a:endParaRPr>
          </a:p>
        </p:txBody>
      </p:sp>
      <p:sp>
        <p:nvSpPr>
          <p:cNvPr id="4" name="内容占位符 2"/>
          <p:cNvSpPr txBox="1"/>
          <p:nvPr/>
        </p:nvSpPr>
        <p:spPr>
          <a:xfrm>
            <a:off x="1270536" y="1402293"/>
            <a:ext cx="10481911" cy="1273529"/>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测试报告</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编写过程也会因某些原因出错，检查测试报告时对错误进行修改，测试报告的修改可记录</a:t>
            </a:r>
            <a:r>
              <a:rPr lang="zh-CN" altLang="zh-CN"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a:t>
            </a:r>
            <a:r>
              <a:rPr lang="zh-CN" altLang="en-US"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文件更改审批记录中。</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2" name="表格 1"/>
          <p:cNvGraphicFramePr>
            <a:graphicFrameLocks noGrp="1"/>
          </p:cNvGraphicFramePr>
          <p:nvPr/>
        </p:nvGraphicFramePr>
        <p:xfrm>
          <a:off x="2213807" y="2762455"/>
          <a:ext cx="8450984" cy="3163139"/>
        </p:xfrm>
        <a:graphic>
          <a:graphicData uri="http://schemas.openxmlformats.org/drawingml/2006/table">
            <a:tbl>
              <a:tblPr firstRow="1" firstCol="1" bandRow="1">
                <a:tableStyleId>{5C22544A-7EE6-4342-B048-85BDC9FD1C3A}</a:tableStyleId>
              </a:tblPr>
              <a:tblGrid>
                <a:gridCol w="809622"/>
                <a:gridCol w="983042"/>
                <a:gridCol w="984032"/>
                <a:gridCol w="983042"/>
                <a:gridCol w="1216524"/>
                <a:gridCol w="1703672"/>
                <a:gridCol w="1771050"/>
              </a:tblGrid>
              <a:tr h="757199">
                <a:tc>
                  <a:txBody>
                    <a:bodyPr/>
                    <a:lstStyle/>
                    <a:p>
                      <a:pPr algn="ctr">
                        <a:spcAft>
                          <a:spcPts val="0"/>
                        </a:spcAft>
                      </a:pPr>
                      <a:r>
                        <a:rPr lang="zh-CN" sz="2400" kern="100" dirty="0">
                          <a:effectLst/>
                          <a:latin typeface="幼圆" panose="02010509060101010101" pitchFamily="49" charset="-122"/>
                          <a:ea typeface="幼圆" panose="02010509060101010101" pitchFamily="49" charset="-122"/>
                        </a:rPr>
                        <a:t>序号</a:t>
                      </a:r>
                      <a:endParaRPr lang="zh-CN" sz="2400" kern="100" dirty="0">
                        <a:effectLst/>
                        <a:latin typeface="幼圆" panose="02010509060101010101" pitchFamily="49" charset="-122"/>
                        <a:ea typeface="幼圆" panose="02010509060101010101" pitchFamily="49" charset="-122"/>
                      </a:endParaRPr>
                    </a:p>
                  </a:txBody>
                  <a:tcPr marL="68580" marR="68580" marT="0" marB="0" anchor="ctr" anchorCtr="1"/>
                </a:tc>
                <a:tc>
                  <a:txBody>
                    <a:bodyPr/>
                    <a:lstStyle/>
                    <a:p>
                      <a:pPr algn="ctr">
                        <a:spcAft>
                          <a:spcPts val="0"/>
                        </a:spcAft>
                      </a:pPr>
                      <a:r>
                        <a:rPr lang="zh-CN" sz="2400" kern="100" dirty="0">
                          <a:effectLst/>
                          <a:latin typeface="幼圆" panose="02010509060101010101" pitchFamily="49" charset="-122"/>
                          <a:ea typeface="幼圆" panose="02010509060101010101" pitchFamily="49" charset="-122"/>
                        </a:rPr>
                        <a:t>版本</a:t>
                      </a:r>
                      <a:endParaRPr lang="zh-CN" sz="2400" kern="100" dirty="0">
                        <a:effectLst/>
                        <a:latin typeface="幼圆" panose="02010509060101010101" pitchFamily="49" charset="-122"/>
                        <a:ea typeface="幼圆" panose="02010509060101010101" pitchFamily="49" charset="-122"/>
                      </a:endParaRPr>
                    </a:p>
                  </a:txBody>
                  <a:tcPr marL="68580" marR="68580" marT="0" marB="0" anchor="ctr" anchorCtr="1"/>
                </a:tc>
                <a:tc>
                  <a:txBody>
                    <a:bodyPr/>
                    <a:lstStyle/>
                    <a:p>
                      <a:pPr algn="ctr">
                        <a:spcAft>
                          <a:spcPts val="0"/>
                        </a:spcAft>
                      </a:pPr>
                      <a:r>
                        <a:rPr lang="en-US" sz="2400" kern="100" dirty="0">
                          <a:effectLst/>
                          <a:latin typeface="幼圆" panose="02010509060101010101" pitchFamily="49" charset="-122"/>
                          <a:ea typeface="幼圆" panose="02010509060101010101" pitchFamily="49" charset="-122"/>
                        </a:rPr>
                        <a:t>*</a:t>
                      </a:r>
                      <a:r>
                        <a:rPr lang="zh-CN" sz="2400" kern="100" dirty="0">
                          <a:effectLst/>
                          <a:latin typeface="幼圆" panose="02010509060101010101" pitchFamily="49" charset="-122"/>
                          <a:ea typeface="幼圆" panose="02010509060101010101" pitchFamily="49" charset="-122"/>
                        </a:rPr>
                        <a:t>状态</a:t>
                      </a:r>
                      <a:endParaRPr lang="zh-CN" sz="2400" kern="100" dirty="0">
                        <a:effectLst/>
                        <a:latin typeface="幼圆" panose="02010509060101010101" pitchFamily="49" charset="-122"/>
                        <a:ea typeface="幼圆" panose="02010509060101010101" pitchFamily="49" charset="-122"/>
                      </a:endParaRPr>
                    </a:p>
                  </a:txBody>
                  <a:tcPr marL="68580" marR="68580" marT="0" marB="0" anchor="ctr" anchorCtr="1"/>
                </a:tc>
                <a:tc>
                  <a:txBody>
                    <a:bodyPr/>
                    <a:lstStyle/>
                    <a:p>
                      <a:pPr algn="ctr">
                        <a:spcAft>
                          <a:spcPts val="0"/>
                        </a:spcAft>
                      </a:pPr>
                      <a:r>
                        <a:rPr lang="zh-CN" sz="2400" kern="100" dirty="0">
                          <a:effectLst/>
                          <a:latin typeface="幼圆" panose="02010509060101010101" pitchFamily="49" charset="-122"/>
                          <a:ea typeface="幼圆" panose="02010509060101010101" pitchFamily="49" charset="-122"/>
                        </a:rPr>
                        <a:t>作者</a:t>
                      </a:r>
                      <a:endParaRPr lang="zh-CN" sz="2400" kern="100" dirty="0">
                        <a:effectLst/>
                        <a:latin typeface="幼圆" panose="02010509060101010101" pitchFamily="49" charset="-122"/>
                        <a:ea typeface="幼圆" panose="02010509060101010101" pitchFamily="49" charset="-122"/>
                      </a:endParaRPr>
                    </a:p>
                  </a:txBody>
                  <a:tcPr marL="68580" marR="68580" marT="0" marB="0" anchor="ctr" anchorCtr="1"/>
                </a:tc>
                <a:tc>
                  <a:txBody>
                    <a:bodyPr/>
                    <a:lstStyle/>
                    <a:p>
                      <a:pPr algn="ctr">
                        <a:spcAft>
                          <a:spcPts val="0"/>
                        </a:spcAft>
                      </a:pPr>
                      <a:r>
                        <a:rPr lang="zh-CN" sz="2400" kern="100" dirty="0">
                          <a:effectLst/>
                          <a:latin typeface="幼圆" panose="02010509060101010101" pitchFamily="49" charset="-122"/>
                          <a:ea typeface="幼圆" panose="02010509060101010101" pitchFamily="49" charset="-122"/>
                        </a:rPr>
                        <a:t>审核者</a:t>
                      </a:r>
                      <a:endParaRPr lang="zh-CN" sz="2400" kern="100" dirty="0">
                        <a:effectLst/>
                        <a:latin typeface="幼圆" panose="02010509060101010101" pitchFamily="49" charset="-122"/>
                        <a:ea typeface="幼圆" panose="02010509060101010101" pitchFamily="49" charset="-122"/>
                      </a:endParaRPr>
                    </a:p>
                  </a:txBody>
                  <a:tcPr marL="68580" marR="68580" marT="0" marB="0" anchor="ctr" anchorCtr="1"/>
                </a:tc>
                <a:tc>
                  <a:txBody>
                    <a:bodyPr/>
                    <a:lstStyle/>
                    <a:p>
                      <a:pPr algn="ctr">
                        <a:spcAft>
                          <a:spcPts val="0"/>
                        </a:spcAft>
                      </a:pPr>
                      <a:r>
                        <a:rPr lang="zh-CN" sz="2400" kern="100" dirty="0">
                          <a:effectLst/>
                          <a:latin typeface="幼圆" panose="02010509060101010101" pitchFamily="49" charset="-122"/>
                          <a:ea typeface="幼圆" panose="02010509060101010101" pitchFamily="49" charset="-122"/>
                        </a:rPr>
                        <a:t>完成日期</a:t>
                      </a:r>
                      <a:endParaRPr lang="zh-CN" sz="2400" kern="100" dirty="0">
                        <a:effectLst/>
                        <a:latin typeface="幼圆" panose="02010509060101010101" pitchFamily="49" charset="-122"/>
                        <a:ea typeface="幼圆" panose="02010509060101010101" pitchFamily="49" charset="-122"/>
                      </a:endParaRPr>
                    </a:p>
                  </a:txBody>
                  <a:tcPr marL="68580" marR="68580" marT="0" marB="0" anchor="ctr" anchorCtr="1"/>
                </a:tc>
                <a:tc>
                  <a:txBody>
                    <a:bodyPr/>
                    <a:lstStyle/>
                    <a:p>
                      <a:pPr algn="ctr">
                        <a:spcAft>
                          <a:spcPts val="0"/>
                        </a:spcAft>
                      </a:pPr>
                      <a:r>
                        <a:rPr lang="zh-CN" sz="2400" kern="100" dirty="0">
                          <a:effectLst/>
                          <a:latin typeface="幼圆" panose="02010509060101010101" pitchFamily="49" charset="-122"/>
                          <a:ea typeface="幼圆" panose="02010509060101010101" pitchFamily="49" charset="-122"/>
                        </a:rPr>
                        <a:t>修改内容</a:t>
                      </a:r>
                      <a:endParaRPr lang="zh-CN" sz="2400" kern="100" dirty="0">
                        <a:effectLst/>
                        <a:latin typeface="幼圆" panose="02010509060101010101" pitchFamily="49" charset="-122"/>
                        <a:ea typeface="幼圆" panose="02010509060101010101" pitchFamily="49" charset="-122"/>
                      </a:endParaRPr>
                    </a:p>
                  </a:txBody>
                  <a:tcPr marL="68580" marR="68580" marT="0" marB="0" anchor="ctr" anchorCtr="1"/>
                </a:tc>
              </a:tr>
              <a:tr h="601485">
                <a:tc>
                  <a:txBody>
                    <a:bodyPr/>
                    <a:lstStyle/>
                    <a:p>
                      <a:pPr algn="just">
                        <a:spcAft>
                          <a:spcPts val="0"/>
                        </a:spcAft>
                      </a:pPr>
                      <a:r>
                        <a:rPr lang="en-US" sz="2400" kern="100">
                          <a:effectLst/>
                          <a:latin typeface="幼圆" panose="02010509060101010101" pitchFamily="49" charset="-122"/>
                          <a:ea typeface="幼圆" panose="02010509060101010101" pitchFamily="49" charset="-122"/>
                        </a:rPr>
                        <a:t> </a:t>
                      </a:r>
                      <a:endParaRPr lang="zh-CN" sz="2400" kern="100">
                        <a:effectLst/>
                        <a:latin typeface="幼圆" panose="02010509060101010101" pitchFamily="49" charset="-122"/>
                        <a:ea typeface="幼圆" panose="02010509060101010101" pitchFamily="49" charset="-122"/>
                      </a:endParaRPr>
                    </a:p>
                  </a:txBody>
                  <a:tcPr marL="68580" marR="68580" marT="0" marB="0"/>
                </a:tc>
                <a:tc>
                  <a:txBody>
                    <a:bodyPr/>
                    <a:lstStyle/>
                    <a:p>
                      <a:pPr algn="just">
                        <a:spcAft>
                          <a:spcPts val="0"/>
                        </a:spcAft>
                      </a:pPr>
                      <a:r>
                        <a:rPr lang="en-US" sz="2400" kern="100">
                          <a:effectLst/>
                          <a:latin typeface="幼圆" panose="02010509060101010101" pitchFamily="49" charset="-122"/>
                          <a:ea typeface="幼圆" panose="02010509060101010101" pitchFamily="49" charset="-122"/>
                        </a:rPr>
                        <a:t> </a:t>
                      </a:r>
                      <a:endParaRPr lang="zh-CN" sz="2400" kern="100">
                        <a:effectLst/>
                        <a:latin typeface="幼圆" panose="02010509060101010101" pitchFamily="49" charset="-122"/>
                        <a:ea typeface="幼圆" panose="02010509060101010101" pitchFamily="49" charset="-122"/>
                      </a:endParaRPr>
                    </a:p>
                  </a:txBody>
                  <a:tcPr marL="68580" marR="68580" marT="0" marB="0"/>
                </a:tc>
                <a:tc>
                  <a:txBody>
                    <a:bodyPr/>
                    <a:lstStyle/>
                    <a:p>
                      <a:pPr algn="just">
                        <a:spcAft>
                          <a:spcPts val="0"/>
                        </a:spcAft>
                      </a:pPr>
                      <a:r>
                        <a:rPr lang="en-US" sz="2400" kern="100">
                          <a:effectLst/>
                          <a:latin typeface="幼圆" panose="02010509060101010101" pitchFamily="49" charset="-122"/>
                          <a:ea typeface="幼圆" panose="02010509060101010101" pitchFamily="49" charset="-122"/>
                        </a:rPr>
                        <a:t> </a:t>
                      </a:r>
                      <a:endParaRPr lang="zh-CN" sz="2400" kern="100">
                        <a:effectLst/>
                        <a:latin typeface="幼圆" panose="02010509060101010101" pitchFamily="49" charset="-122"/>
                        <a:ea typeface="幼圆" panose="02010509060101010101" pitchFamily="49" charset="-122"/>
                      </a:endParaRPr>
                    </a:p>
                  </a:txBody>
                  <a:tcPr marL="68580" marR="68580" marT="0" marB="0"/>
                </a:tc>
                <a:tc>
                  <a:txBody>
                    <a:bodyPr/>
                    <a:lstStyle/>
                    <a:p>
                      <a:pPr algn="just">
                        <a:spcAft>
                          <a:spcPts val="0"/>
                        </a:spcAft>
                      </a:pPr>
                      <a:r>
                        <a:rPr lang="en-US" sz="2400" kern="100">
                          <a:effectLst/>
                          <a:latin typeface="幼圆" panose="02010509060101010101" pitchFamily="49" charset="-122"/>
                          <a:ea typeface="幼圆" panose="02010509060101010101" pitchFamily="49" charset="-122"/>
                        </a:rPr>
                        <a:t> </a:t>
                      </a:r>
                      <a:endParaRPr lang="zh-CN" sz="2400" kern="100">
                        <a:effectLst/>
                        <a:latin typeface="幼圆" panose="02010509060101010101" pitchFamily="49" charset="-122"/>
                        <a:ea typeface="幼圆" panose="02010509060101010101" pitchFamily="49" charset="-122"/>
                      </a:endParaRPr>
                    </a:p>
                  </a:txBody>
                  <a:tcPr marL="68580" marR="68580" marT="0" marB="0"/>
                </a:tc>
                <a:tc>
                  <a:txBody>
                    <a:bodyPr/>
                    <a:lstStyle/>
                    <a:p>
                      <a:pPr algn="just">
                        <a:spcAft>
                          <a:spcPts val="0"/>
                        </a:spcAft>
                      </a:pPr>
                      <a:r>
                        <a:rPr lang="en-US" sz="2400" kern="100">
                          <a:effectLst/>
                          <a:latin typeface="幼圆" panose="02010509060101010101" pitchFamily="49" charset="-122"/>
                          <a:ea typeface="幼圆" panose="02010509060101010101" pitchFamily="49" charset="-122"/>
                        </a:rPr>
                        <a:t> </a:t>
                      </a:r>
                      <a:endParaRPr lang="zh-CN" sz="2400" kern="100">
                        <a:effectLst/>
                        <a:latin typeface="幼圆" panose="02010509060101010101" pitchFamily="49" charset="-122"/>
                        <a:ea typeface="幼圆" panose="02010509060101010101" pitchFamily="49" charset="-122"/>
                      </a:endParaRPr>
                    </a:p>
                  </a:txBody>
                  <a:tcPr marL="68580" marR="68580" marT="0" marB="0"/>
                </a:tc>
                <a:tc>
                  <a:txBody>
                    <a:bodyPr/>
                    <a:lstStyle/>
                    <a:p>
                      <a:pPr algn="just">
                        <a:spcAft>
                          <a:spcPts val="0"/>
                        </a:spcAft>
                      </a:pPr>
                      <a:r>
                        <a:rPr lang="en-US" sz="2400" kern="100">
                          <a:effectLst/>
                          <a:latin typeface="幼圆" panose="02010509060101010101" pitchFamily="49" charset="-122"/>
                          <a:ea typeface="幼圆" panose="02010509060101010101" pitchFamily="49" charset="-122"/>
                        </a:rPr>
                        <a:t> </a:t>
                      </a:r>
                      <a:endParaRPr lang="zh-CN" sz="2400" kern="100">
                        <a:effectLst/>
                        <a:latin typeface="幼圆" panose="02010509060101010101" pitchFamily="49" charset="-122"/>
                        <a:ea typeface="幼圆" panose="02010509060101010101" pitchFamily="49" charset="-122"/>
                      </a:endParaRPr>
                    </a:p>
                  </a:txBody>
                  <a:tcPr marL="68580" marR="68580" marT="0" marB="0"/>
                </a:tc>
                <a:tc>
                  <a:txBody>
                    <a:bodyPr/>
                    <a:lstStyle/>
                    <a:p>
                      <a:pPr algn="just">
                        <a:spcAft>
                          <a:spcPts val="0"/>
                        </a:spcAft>
                      </a:pPr>
                      <a:r>
                        <a:rPr lang="en-US" sz="2400" kern="100">
                          <a:effectLst/>
                          <a:latin typeface="幼圆" panose="02010509060101010101" pitchFamily="49" charset="-122"/>
                          <a:ea typeface="幼圆" panose="02010509060101010101" pitchFamily="49" charset="-122"/>
                        </a:rPr>
                        <a:t> </a:t>
                      </a:r>
                      <a:endParaRPr lang="zh-CN" sz="2400" kern="100">
                        <a:effectLst/>
                        <a:latin typeface="幼圆" panose="02010509060101010101" pitchFamily="49" charset="-122"/>
                        <a:ea typeface="幼圆" panose="02010509060101010101" pitchFamily="49" charset="-122"/>
                      </a:endParaRPr>
                    </a:p>
                  </a:txBody>
                  <a:tcPr marL="68580" marR="68580" marT="0" marB="0"/>
                </a:tc>
              </a:tr>
              <a:tr h="601485">
                <a:tc>
                  <a:txBody>
                    <a:bodyPr/>
                    <a:lstStyle/>
                    <a:p>
                      <a:pPr algn="just">
                        <a:spcAft>
                          <a:spcPts val="0"/>
                        </a:spcAft>
                      </a:pPr>
                      <a:r>
                        <a:rPr lang="en-US" sz="2400" kern="100">
                          <a:effectLst/>
                          <a:latin typeface="幼圆" panose="02010509060101010101" pitchFamily="49" charset="-122"/>
                          <a:ea typeface="幼圆" panose="02010509060101010101" pitchFamily="49" charset="-122"/>
                        </a:rPr>
                        <a:t> </a:t>
                      </a:r>
                      <a:endParaRPr lang="zh-CN" sz="2400" kern="100">
                        <a:effectLst/>
                        <a:latin typeface="幼圆" panose="02010509060101010101" pitchFamily="49" charset="-122"/>
                        <a:ea typeface="幼圆" panose="02010509060101010101" pitchFamily="49" charset="-122"/>
                      </a:endParaRPr>
                    </a:p>
                  </a:txBody>
                  <a:tcPr marL="68580" marR="68580" marT="0" marB="0"/>
                </a:tc>
                <a:tc>
                  <a:txBody>
                    <a:bodyPr/>
                    <a:lstStyle/>
                    <a:p>
                      <a:pPr algn="just">
                        <a:spcAft>
                          <a:spcPts val="0"/>
                        </a:spcAft>
                      </a:pPr>
                      <a:r>
                        <a:rPr lang="en-US" sz="2400" kern="100">
                          <a:effectLst/>
                          <a:latin typeface="幼圆" panose="02010509060101010101" pitchFamily="49" charset="-122"/>
                          <a:ea typeface="幼圆" panose="02010509060101010101" pitchFamily="49" charset="-122"/>
                        </a:rPr>
                        <a:t> </a:t>
                      </a:r>
                      <a:endParaRPr lang="zh-CN" sz="2400" kern="100">
                        <a:effectLst/>
                        <a:latin typeface="幼圆" panose="02010509060101010101" pitchFamily="49" charset="-122"/>
                        <a:ea typeface="幼圆" panose="02010509060101010101" pitchFamily="49" charset="-122"/>
                      </a:endParaRPr>
                    </a:p>
                  </a:txBody>
                  <a:tcPr marL="68580" marR="68580" marT="0" marB="0"/>
                </a:tc>
                <a:tc>
                  <a:txBody>
                    <a:bodyPr/>
                    <a:lstStyle/>
                    <a:p>
                      <a:pPr algn="just">
                        <a:spcAft>
                          <a:spcPts val="0"/>
                        </a:spcAft>
                      </a:pPr>
                      <a:r>
                        <a:rPr lang="en-US" sz="2400" kern="100">
                          <a:effectLst/>
                          <a:latin typeface="幼圆" panose="02010509060101010101" pitchFamily="49" charset="-122"/>
                          <a:ea typeface="幼圆" panose="02010509060101010101" pitchFamily="49" charset="-122"/>
                        </a:rPr>
                        <a:t> </a:t>
                      </a:r>
                      <a:endParaRPr lang="zh-CN" sz="2400" kern="100">
                        <a:effectLst/>
                        <a:latin typeface="幼圆" panose="02010509060101010101" pitchFamily="49" charset="-122"/>
                        <a:ea typeface="幼圆" panose="02010509060101010101" pitchFamily="49" charset="-122"/>
                      </a:endParaRPr>
                    </a:p>
                  </a:txBody>
                  <a:tcPr marL="68580" marR="68580" marT="0" marB="0"/>
                </a:tc>
                <a:tc>
                  <a:txBody>
                    <a:bodyPr/>
                    <a:lstStyle/>
                    <a:p>
                      <a:pPr algn="just">
                        <a:spcAft>
                          <a:spcPts val="0"/>
                        </a:spcAft>
                      </a:pPr>
                      <a:r>
                        <a:rPr lang="en-US" sz="2400" kern="100">
                          <a:effectLst/>
                          <a:latin typeface="幼圆" panose="02010509060101010101" pitchFamily="49" charset="-122"/>
                          <a:ea typeface="幼圆" panose="02010509060101010101" pitchFamily="49" charset="-122"/>
                        </a:rPr>
                        <a:t> </a:t>
                      </a:r>
                      <a:endParaRPr lang="zh-CN" sz="2400" kern="100">
                        <a:effectLst/>
                        <a:latin typeface="幼圆" panose="02010509060101010101" pitchFamily="49" charset="-122"/>
                        <a:ea typeface="幼圆" panose="02010509060101010101" pitchFamily="49" charset="-122"/>
                      </a:endParaRPr>
                    </a:p>
                  </a:txBody>
                  <a:tcPr marL="68580" marR="68580" marT="0" marB="0"/>
                </a:tc>
                <a:tc>
                  <a:txBody>
                    <a:bodyPr/>
                    <a:lstStyle/>
                    <a:p>
                      <a:pPr algn="just">
                        <a:spcAft>
                          <a:spcPts val="0"/>
                        </a:spcAft>
                      </a:pPr>
                      <a:r>
                        <a:rPr lang="en-US" sz="2400" kern="100">
                          <a:effectLst/>
                          <a:latin typeface="幼圆" panose="02010509060101010101" pitchFamily="49" charset="-122"/>
                          <a:ea typeface="幼圆" panose="02010509060101010101" pitchFamily="49" charset="-122"/>
                        </a:rPr>
                        <a:t> </a:t>
                      </a:r>
                      <a:endParaRPr lang="zh-CN" sz="2400" kern="100">
                        <a:effectLst/>
                        <a:latin typeface="幼圆" panose="02010509060101010101" pitchFamily="49" charset="-122"/>
                        <a:ea typeface="幼圆" panose="02010509060101010101" pitchFamily="49" charset="-122"/>
                      </a:endParaRPr>
                    </a:p>
                  </a:txBody>
                  <a:tcPr marL="68580" marR="68580" marT="0" marB="0"/>
                </a:tc>
                <a:tc>
                  <a:txBody>
                    <a:bodyPr/>
                    <a:lstStyle/>
                    <a:p>
                      <a:pPr algn="just">
                        <a:spcAft>
                          <a:spcPts val="0"/>
                        </a:spcAft>
                      </a:pPr>
                      <a:r>
                        <a:rPr lang="en-US" sz="2400" kern="100">
                          <a:effectLst/>
                          <a:latin typeface="幼圆" panose="02010509060101010101" pitchFamily="49" charset="-122"/>
                          <a:ea typeface="幼圆" panose="02010509060101010101" pitchFamily="49" charset="-122"/>
                        </a:rPr>
                        <a:t> </a:t>
                      </a:r>
                      <a:endParaRPr lang="zh-CN" sz="2400" kern="100">
                        <a:effectLst/>
                        <a:latin typeface="幼圆" panose="02010509060101010101" pitchFamily="49" charset="-122"/>
                        <a:ea typeface="幼圆" panose="02010509060101010101" pitchFamily="49" charset="-122"/>
                      </a:endParaRPr>
                    </a:p>
                  </a:txBody>
                  <a:tcPr marL="68580" marR="68580" marT="0" marB="0"/>
                </a:tc>
                <a:tc>
                  <a:txBody>
                    <a:bodyPr/>
                    <a:lstStyle/>
                    <a:p>
                      <a:pPr algn="just">
                        <a:spcAft>
                          <a:spcPts val="0"/>
                        </a:spcAft>
                      </a:pPr>
                      <a:r>
                        <a:rPr lang="en-US" sz="2400" kern="100">
                          <a:effectLst/>
                          <a:latin typeface="幼圆" panose="02010509060101010101" pitchFamily="49" charset="-122"/>
                          <a:ea typeface="幼圆" panose="02010509060101010101" pitchFamily="49" charset="-122"/>
                        </a:rPr>
                        <a:t> </a:t>
                      </a:r>
                      <a:endParaRPr lang="zh-CN" sz="2400" kern="100">
                        <a:effectLst/>
                        <a:latin typeface="幼圆" panose="02010509060101010101" pitchFamily="49" charset="-122"/>
                        <a:ea typeface="幼圆" panose="02010509060101010101" pitchFamily="49" charset="-122"/>
                      </a:endParaRPr>
                    </a:p>
                  </a:txBody>
                  <a:tcPr marL="68580" marR="68580" marT="0" marB="0"/>
                </a:tc>
              </a:tr>
              <a:tr h="601485">
                <a:tc>
                  <a:txBody>
                    <a:bodyPr/>
                    <a:lstStyle/>
                    <a:p>
                      <a:pPr algn="just">
                        <a:spcAft>
                          <a:spcPts val="0"/>
                        </a:spcAft>
                      </a:pPr>
                      <a:r>
                        <a:rPr lang="en-US" sz="2400" kern="100">
                          <a:effectLst/>
                          <a:latin typeface="幼圆" panose="02010509060101010101" pitchFamily="49" charset="-122"/>
                          <a:ea typeface="幼圆" panose="02010509060101010101" pitchFamily="49" charset="-122"/>
                        </a:rPr>
                        <a:t> </a:t>
                      </a:r>
                      <a:endParaRPr lang="zh-CN" sz="2400" kern="100">
                        <a:effectLst/>
                        <a:latin typeface="幼圆" panose="02010509060101010101" pitchFamily="49" charset="-122"/>
                        <a:ea typeface="幼圆" panose="02010509060101010101" pitchFamily="49" charset="-122"/>
                      </a:endParaRPr>
                    </a:p>
                  </a:txBody>
                  <a:tcPr marL="68580" marR="68580" marT="0" marB="0"/>
                </a:tc>
                <a:tc>
                  <a:txBody>
                    <a:bodyPr/>
                    <a:lstStyle/>
                    <a:p>
                      <a:pPr algn="just">
                        <a:spcAft>
                          <a:spcPts val="0"/>
                        </a:spcAft>
                      </a:pPr>
                      <a:r>
                        <a:rPr lang="en-US" sz="2400" kern="100">
                          <a:effectLst/>
                          <a:latin typeface="幼圆" panose="02010509060101010101" pitchFamily="49" charset="-122"/>
                          <a:ea typeface="幼圆" panose="02010509060101010101" pitchFamily="49" charset="-122"/>
                        </a:rPr>
                        <a:t> </a:t>
                      </a:r>
                      <a:endParaRPr lang="zh-CN" sz="2400" kern="100">
                        <a:effectLst/>
                        <a:latin typeface="幼圆" panose="02010509060101010101" pitchFamily="49" charset="-122"/>
                        <a:ea typeface="幼圆" panose="02010509060101010101" pitchFamily="49" charset="-122"/>
                      </a:endParaRPr>
                    </a:p>
                  </a:txBody>
                  <a:tcPr marL="68580" marR="68580" marT="0" marB="0"/>
                </a:tc>
                <a:tc>
                  <a:txBody>
                    <a:bodyPr/>
                    <a:lstStyle/>
                    <a:p>
                      <a:pPr algn="just">
                        <a:spcAft>
                          <a:spcPts val="0"/>
                        </a:spcAft>
                      </a:pPr>
                      <a:r>
                        <a:rPr lang="en-US" sz="2400" kern="100">
                          <a:effectLst/>
                          <a:latin typeface="幼圆" panose="02010509060101010101" pitchFamily="49" charset="-122"/>
                          <a:ea typeface="幼圆" panose="02010509060101010101" pitchFamily="49" charset="-122"/>
                        </a:rPr>
                        <a:t> </a:t>
                      </a:r>
                      <a:endParaRPr lang="zh-CN" sz="2400" kern="100">
                        <a:effectLst/>
                        <a:latin typeface="幼圆" panose="02010509060101010101" pitchFamily="49" charset="-122"/>
                        <a:ea typeface="幼圆" panose="02010509060101010101" pitchFamily="49" charset="-122"/>
                      </a:endParaRPr>
                    </a:p>
                  </a:txBody>
                  <a:tcPr marL="68580" marR="68580" marT="0" marB="0"/>
                </a:tc>
                <a:tc>
                  <a:txBody>
                    <a:bodyPr/>
                    <a:lstStyle/>
                    <a:p>
                      <a:pPr algn="just">
                        <a:spcAft>
                          <a:spcPts val="0"/>
                        </a:spcAft>
                      </a:pPr>
                      <a:r>
                        <a:rPr lang="en-US" sz="2400" kern="100">
                          <a:effectLst/>
                          <a:latin typeface="幼圆" panose="02010509060101010101" pitchFamily="49" charset="-122"/>
                          <a:ea typeface="幼圆" panose="02010509060101010101" pitchFamily="49" charset="-122"/>
                        </a:rPr>
                        <a:t> </a:t>
                      </a:r>
                      <a:endParaRPr lang="zh-CN" sz="2400" kern="100">
                        <a:effectLst/>
                        <a:latin typeface="幼圆" panose="02010509060101010101" pitchFamily="49" charset="-122"/>
                        <a:ea typeface="幼圆" panose="02010509060101010101" pitchFamily="49" charset="-122"/>
                      </a:endParaRPr>
                    </a:p>
                  </a:txBody>
                  <a:tcPr marL="68580" marR="68580" marT="0" marB="0"/>
                </a:tc>
                <a:tc>
                  <a:txBody>
                    <a:bodyPr/>
                    <a:lstStyle/>
                    <a:p>
                      <a:pPr algn="just">
                        <a:spcAft>
                          <a:spcPts val="0"/>
                        </a:spcAft>
                      </a:pPr>
                      <a:r>
                        <a:rPr lang="en-US" sz="2400" kern="100">
                          <a:effectLst/>
                          <a:latin typeface="幼圆" panose="02010509060101010101" pitchFamily="49" charset="-122"/>
                          <a:ea typeface="幼圆" panose="02010509060101010101" pitchFamily="49" charset="-122"/>
                        </a:rPr>
                        <a:t> </a:t>
                      </a:r>
                      <a:endParaRPr lang="zh-CN" sz="2400" kern="100">
                        <a:effectLst/>
                        <a:latin typeface="幼圆" panose="02010509060101010101" pitchFamily="49" charset="-122"/>
                        <a:ea typeface="幼圆" panose="02010509060101010101" pitchFamily="49" charset="-122"/>
                      </a:endParaRPr>
                    </a:p>
                  </a:txBody>
                  <a:tcPr marL="68580" marR="68580" marT="0" marB="0"/>
                </a:tc>
                <a:tc>
                  <a:txBody>
                    <a:bodyPr/>
                    <a:lstStyle/>
                    <a:p>
                      <a:pPr algn="just">
                        <a:spcAft>
                          <a:spcPts val="0"/>
                        </a:spcAft>
                      </a:pPr>
                      <a:r>
                        <a:rPr lang="en-US" sz="2400" kern="100">
                          <a:effectLst/>
                          <a:latin typeface="幼圆" panose="02010509060101010101" pitchFamily="49" charset="-122"/>
                          <a:ea typeface="幼圆" panose="02010509060101010101" pitchFamily="49" charset="-122"/>
                        </a:rPr>
                        <a:t> </a:t>
                      </a:r>
                      <a:endParaRPr lang="zh-CN" sz="2400" kern="100">
                        <a:effectLst/>
                        <a:latin typeface="幼圆" panose="02010509060101010101" pitchFamily="49" charset="-122"/>
                        <a:ea typeface="幼圆" panose="02010509060101010101" pitchFamily="49" charset="-122"/>
                      </a:endParaRPr>
                    </a:p>
                  </a:txBody>
                  <a:tcPr marL="68580" marR="68580" marT="0" marB="0"/>
                </a:tc>
                <a:tc>
                  <a:txBody>
                    <a:bodyPr/>
                    <a:lstStyle/>
                    <a:p>
                      <a:pPr algn="just">
                        <a:spcAft>
                          <a:spcPts val="0"/>
                        </a:spcAft>
                      </a:pPr>
                      <a:r>
                        <a:rPr lang="en-US" sz="2400" kern="100">
                          <a:effectLst/>
                          <a:latin typeface="幼圆" panose="02010509060101010101" pitchFamily="49" charset="-122"/>
                          <a:ea typeface="幼圆" panose="02010509060101010101" pitchFamily="49" charset="-122"/>
                        </a:rPr>
                        <a:t> </a:t>
                      </a:r>
                      <a:endParaRPr lang="zh-CN" sz="2400" kern="100">
                        <a:effectLst/>
                        <a:latin typeface="幼圆" panose="02010509060101010101" pitchFamily="49" charset="-122"/>
                        <a:ea typeface="幼圆" panose="02010509060101010101" pitchFamily="49" charset="-122"/>
                      </a:endParaRPr>
                    </a:p>
                  </a:txBody>
                  <a:tcPr marL="68580" marR="68580" marT="0" marB="0"/>
                </a:tc>
              </a:tr>
              <a:tr h="601485">
                <a:tc>
                  <a:txBody>
                    <a:bodyPr/>
                    <a:lstStyle/>
                    <a:p>
                      <a:pPr algn="just">
                        <a:spcAft>
                          <a:spcPts val="0"/>
                        </a:spcAft>
                      </a:pPr>
                      <a:r>
                        <a:rPr lang="en-US" sz="2400" kern="100">
                          <a:effectLst/>
                          <a:latin typeface="幼圆" panose="02010509060101010101" pitchFamily="49" charset="-122"/>
                          <a:ea typeface="幼圆" panose="02010509060101010101" pitchFamily="49" charset="-122"/>
                        </a:rPr>
                        <a:t> </a:t>
                      </a:r>
                      <a:endParaRPr lang="zh-CN" sz="2400" kern="100">
                        <a:effectLst/>
                        <a:latin typeface="幼圆" panose="02010509060101010101" pitchFamily="49" charset="-122"/>
                        <a:ea typeface="幼圆" panose="02010509060101010101" pitchFamily="49" charset="-122"/>
                      </a:endParaRPr>
                    </a:p>
                  </a:txBody>
                  <a:tcPr marL="68580" marR="68580" marT="0" marB="0"/>
                </a:tc>
                <a:tc>
                  <a:txBody>
                    <a:bodyPr/>
                    <a:lstStyle/>
                    <a:p>
                      <a:pPr algn="just">
                        <a:spcAft>
                          <a:spcPts val="0"/>
                        </a:spcAft>
                      </a:pPr>
                      <a:r>
                        <a:rPr lang="en-US" sz="2400" kern="100">
                          <a:effectLst/>
                          <a:latin typeface="幼圆" panose="02010509060101010101" pitchFamily="49" charset="-122"/>
                          <a:ea typeface="幼圆" panose="02010509060101010101" pitchFamily="49" charset="-122"/>
                        </a:rPr>
                        <a:t> </a:t>
                      </a:r>
                      <a:endParaRPr lang="zh-CN" sz="2400" kern="100">
                        <a:effectLst/>
                        <a:latin typeface="幼圆" panose="02010509060101010101" pitchFamily="49" charset="-122"/>
                        <a:ea typeface="幼圆" panose="02010509060101010101" pitchFamily="49" charset="-122"/>
                      </a:endParaRPr>
                    </a:p>
                  </a:txBody>
                  <a:tcPr marL="68580" marR="68580" marT="0" marB="0"/>
                </a:tc>
                <a:tc>
                  <a:txBody>
                    <a:bodyPr/>
                    <a:lstStyle/>
                    <a:p>
                      <a:pPr algn="just">
                        <a:spcAft>
                          <a:spcPts val="0"/>
                        </a:spcAft>
                      </a:pPr>
                      <a:r>
                        <a:rPr lang="en-US" sz="2400" kern="100">
                          <a:effectLst/>
                          <a:latin typeface="幼圆" panose="02010509060101010101" pitchFamily="49" charset="-122"/>
                          <a:ea typeface="幼圆" panose="02010509060101010101" pitchFamily="49" charset="-122"/>
                        </a:rPr>
                        <a:t> </a:t>
                      </a:r>
                      <a:endParaRPr lang="zh-CN" sz="2400" kern="100">
                        <a:effectLst/>
                        <a:latin typeface="幼圆" panose="02010509060101010101" pitchFamily="49" charset="-122"/>
                        <a:ea typeface="幼圆" panose="02010509060101010101" pitchFamily="49" charset="-122"/>
                      </a:endParaRPr>
                    </a:p>
                  </a:txBody>
                  <a:tcPr marL="68580" marR="68580" marT="0" marB="0"/>
                </a:tc>
                <a:tc>
                  <a:txBody>
                    <a:bodyPr/>
                    <a:lstStyle/>
                    <a:p>
                      <a:pPr algn="just">
                        <a:spcAft>
                          <a:spcPts val="0"/>
                        </a:spcAft>
                      </a:pPr>
                      <a:r>
                        <a:rPr lang="en-US" sz="2400" kern="100">
                          <a:effectLst/>
                          <a:latin typeface="幼圆" panose="02010509060101010101" pitchFamily="49" charset="-122"/>
                          <a:ea typeface="幼圆" panose="02010509060101010101" pitchFamily="49" charset="-122"/>
                        </a:rPr>
                        <a:t> </a:t>
                      </a:r>
                      <a:endParaRPr lang="zh-CN" sz="2400" kern="100">
                        <a:effectLst/>
                        <a:latin typeface="幼圆" panose="02010509060101010101" pitchFamily="49" charset="-122"/>
                        <a:ea typeface="幼圆" panose="02010509060101010101" pitchFamily="49" charset="-122"/>
                      </a:endParaRPr>
                    </a:p>
                  </a:txBody>
                  <a:tcPr marL="68580" marR="68580" marT="0" marB="0"/>
                </a:tc>
                <a:tc>
                  <a:txBody>
                    <a:bodyPr/>
                    <a:lstStyle/>
                    <a:p>
                      <a:pPr algn="just">
                        <a:spcAft>
                          <a:spcPts val="0"/>
                        </a:spcAft>
                      </a:pPr>
                      <a:r>
                        <a:rPr lang="en-US" sz="2400" kern="100">
                          <a:effectLst/>
                          <a:latin typeface="幼圆" panose="02010509060101010101" pitchFamily="49" charset="-122"/>
                          <a:ea typeface="幼圆" panose="02010509060101010101" pitchFamily="49" charset="-122"/>
                        </a:rPr>
                        <a:t> </a:t>
                      </a:r>
                      <a:endParaRPr lang="zh-CN" sz="2400" kern="100">
                        <a:effectLst/>
                        <a:latin typeface="幼圆" panose="02010509060101010101" pitchFamily="49" charset="-122"/>
                        <a:ea typeface="幼圆" panose="02010509060101010101" pitchFamily="49" charset="-122"/>
                      </a:endParaRPr>
                    </a:p>
                  </a:txBody>
                  <a:tcPr marL="68580" marR="68580" marT="0" marB="0"/>
                </a:tc>
                <a:tc>
                  <a:txBody>
                    <a:bodyPr/>
                    <a:lstStyle/>
                    <a:p>
                      <a:pPr algn="just">
                        <a:spcAft>
                          <a:spcPts val="0"/>
                        </a:spcAft>
                      </a:pPr>
                      <a:r>
                        <a:rPr lang="en-US" sz="2400" kern="100">
                          <a:effectLst/>
                          <a:latin typeface="幼圆" panose="02010509060101010101" pitchFamily="49" charset="-122"/>
                          <a:ea typeface="幼圆" panose="02010509060101010101" pitchFamily="49" charset="-122"/>
                        </a:rPr>
                        <a:t> </a:t>
                      </a:r>
                      <a:endParaRPr lang="zh-CN" sz="2400" kern="100">
                        <a:effectLst/>
                        <a:latin typeface="幼圆" panose="02010509060101010101" pitchFamily="49" charset="-122"/>
                        <a:ea typeface="幼圆" panose="02010509060101010101" pitchFamily="49" charset="-122"/>
                      </a:endParaRPr>
                    </a:p>
                  </a:txBody>
                  <a:tcPr marL="68580" marR="68580" marT="0" marB="0"/>
                </a:tc>
                <a:tc>
                  <a:txBody>
                    <a:bodyPr/>
                    <a:lstStyle/>
                    <a:p>
                      <a:pPr algn="just">
                        <a:spcAft>
                          <a:spcPts val="0"/>
                        </a:spcAft>
                      </a:pPr>
                      <a:r>
                        <a:rPr lang="en-US" sz="2400" kern="100" dirty="0">
                          <a:effectLst/>
                          <a:latin typeface="幼圆" panose="02010509060101010101" pitchFamily="49" charset="-122"/>
                          <a:ea typeface="幼圆" panose="02010509060101010101" pitchFamily="49" charset="-122"/>
                        </a:rPr>
                        <a:t> </a:t>
                      </a:r>
                      <a:endParaRPr lang="zh-CN" sz="2400" kern="100" dirty="0">
                        <a:effectLst/>
                        <a:latin typeface="幼圆" panose="02010509060101010101" pitchFamily="49" charset="-122"/>
                        <a:ea typeface="幼圆" panose="02010509060101010101" pitchFamily="49" charset="-122"/>
                      </a:endParaRPr>
                    </a:p>
                  </a:txBody>
                  <a:tcPr marL="68580" marR="68580" marT="0" marB="0"/>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arn(inVertical)">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nvSpPr>
        <p:spPr>
          <a:xfrm>
            <a:off x="1922333" y="272228"/>
            <a:ext cx="9167913" cy="5331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rgbClr val="C00000"/>
                </a:solidFill>
                <a:latin typeface="微软雅黑" panose="020B0503020204020204" pitchFamily="34" charset="-122"/>
                <a:ea typeface="微软雅黑" panose="020B0503020204020204" pitchFamily="34" charset="-122"/>
                <a:cs typeface="+mj-cs"/>
              </a:defRPr>
            </a:lvl1pPr>
          </a:lstStyle>
          <a:p>
            <a:pPr marL="0" algn="l" defTabSz="914400" rtl="0" eaLnBrk="1" latinLnBrk="0" hangingPunct="1"/>
            <a:r>
              <a:rPr lang="zh-CN" altLang="en-US" dirty="0" smtClean="0">
                <a:solidFill>
                  <a:srgbClr val="FF0000"/>
                </a:solidFill>
                <a:sym typeface="+mn-ea"/>
              </a:rPr>
              <a:t>测试报告</a:t>
            </a:r>
            <a:endParaRPr lang="zh-CN" altLang="en-US" dirty="0" smtClean="0">
              <a:solidFill>
                <a:srgbClr val="FF0000"/>
              </a:solidFill>
              <a:sym typeface="+mn-ea"/>
            </a:endParaRPr>
          </a:p>
        </p:txBody>
      </p:sp>
      <p:sp>
        <p:nvSpPr>
          <p:cNvPr id="7" name="内容占位符 2"/>
          <p:cNvSpPr txBox="1"/>
          <p:nvPr/>
        </p:nvSpPr>
        <p:spPr>
          <a:xfrm>
            <a:off x="7401829" y="2191132"/>
            <a:ext cx="2281186" cy="2900302"/>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smtClean="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状态</a:t>
            </a:r>
            <a:r>
              <a:rPr lang="zh-CN" altLang="zh-CN" sz="2400" dirty="0" smtClean="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a:t>
            </a:r>
            <a:endParaRPr lang="en-US" altLang="zh-CN" sz="2400" dirty="0" smtClean="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indent="0" eaLnBrk="1" hangingPunct="1">
              <a:lnSpc>
                <a:spcPct val="150000"/>
              </a:lnSpc>
              <a:spcBef>
                <a:spcPct val="0"/>
              </a:spcBef>
              <a:buNone/>
              <a:defRPr/>
            </a:pPr>
            <a:r>
              <a:rPr lang="en-US" altLang="zh-CN" sz="2400" dirty="0" smtClean="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C</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—创建</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a:t>
            </a:r>
            <a:endParaRPr lang="en-US" altLang="zh-CN" sz="2400" dirty="0" smtClean="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indent="0" eaLnBrk="1" hangingPunct="1">
              <a:lnSpc>
                <a:spcPct val="150000"/>
              </a:lnSpc>
              <a:spcBef>
                <a:spcPct val="0"/>
              </a:spcBef>
              <a:buNone/>
              <a:defRPr/>
            </a:pPr>
            <a:r>
              <a:rPr lang="en-US" altLang="zh-CN" sz="2400" dirty="0" smtClean="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A</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—增加</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a:t>
            </a:r>
            <a:endParaRPr lang="en-US" altLang="zh-CN" sz="2400" dirty="0" smtClean="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indent="0" eaLnBrk="1" hangingPunct="1">
              <a:lnSpc>
                <a:spcPct val="150000"/>
              </a:lnSpc>
              <a:spcBef>
                <a:spcPct val="0"/>
              </a:spcBef>
              <a:buNone/>
              <a:defRPr/>
            </a:pPr>
            <a:r>
              <a:rPr lang="en-US" altLang="zh-CN" sz="2400" dirty="0" smtClean="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M</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—修改</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a:t>
            </a:r>
            <a:endParaRPr lang="en-US" altLang="zh-CN" sz="2400" dirty="0" smtClean="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indent="0" eaLnBrk="1" hangingPunct="1">
              <a:lnSpc>
                <a:spcPct val="150000"/>
              </a:lnSpc>
              <a:spcBef>
                <a:spcPct val="0"/>
              </a:spcBef>
              <a:buNone/>
              <a:defRPr/>
            </a:pPr>
            <a:r>
              <a:rPr lang="en-US" altLang="zh-CN" sz="2400" dirty="0" smtClean="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D</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a:t>
            </a:r>
            <a:r>
              <a:rPr lang="zh-CN" altLang="zh-CN" sz="2400" dirty="0" smtClean="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删除</a:t>
            </a:r>
            <a:endPar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p:txBody>
      </p:sp>
      <p:pic>
        <p:nvPicPr>
          <p:cNvPr id="6"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30257" y="1318102"/>
            <a:ext cx="4827284" cy="47519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nvSpPr>
        <p:spPr>
          <a:xfrm>
            <a:off x="1922333" y="272228"/>
            <a:ext cx="9167913" cy="5331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rgbClr val="C00000"/>
                </a:solidFill>
                <a:latin typeface="微软雅黑" panose="020B0503020204020204" pitchFamily="34" charset="-122"/>
                <a:ea typeface="微软雅黑" panose="020B0503020204020204" pitchFamily="34" charset="-122"/>
                <a:cs typeface="+mj-cs"/>
              </a:defRPr>
            </a:lvl1pPr>
          </a:lstStyle>
          <a:p>
            <a:pPr marL="0" algn="l" defTabSz="914400" rtl="0" eaLnBrk="1" latinLnBrk="0" hangingPunct="1"/>
            <a:r>
              <a:rPr lang="zh-CN" altLang="en-US" dirty="0" smtClean="0">
                <a:solidFill>
                  <a:srgbClr val="FF0000"/>
                </a:solidFill>
                <a:sym typeface="+mn-ea"/>
              </a:rPr>
              <a:t>测试报告</a:t>
            </a:r>
            <a:endParaRPr lang="zh-CN" altLang="en-US" dirty="0" smtClean="0">
              <a:solidFill>
                <a:srgbClr val="FF0000"/>
              </a:solidFill>
              <a:sym typeface="+mn-ea"/>
            </a:endParaRPr>
          </a:p>
        </p:txBody>
      </p:sp>
      <p:sp>
        <p:nvSpPr>
          <p:cNvPr id="4" name="内容占位符 2"/>
          <p:cNvSpPr txBox="1"/>
          <p:nvPr/>
        </p:nvSpPr>
        <p:spPr>
          <a:xfrm>
            <a:off x="2021307" y="1421544"/>
            <a:ext cx="2445484" cy="792267"/>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测试报告</a:t>
            </a:r>
            <a:r>
              <a:rPr lang="zh-CN" altLang="en-US"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目录</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 name="组合 1"/>
          <p:cNvGrpSpPr/>
          <p:nvPr/>
        </p:nvGrpSpPr>
        <p:grpSpPr>
          <a:xfrm>
            <a:off x="4683229" y="1193533"/>
            <a:ext cx="6366574" cy="5194220"/>
            <a:chOff x="4981604" y="1290212"/>
            <a:chExt cx="6212571" cy="5068665"/>
          </a:xfrm>
        </p:grpSpPr>
        <p:pic>
          <p:nvPicPr>
            <p:cNvPr id="340995"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981604" y="1290212"/>
              <a:ext cx="6212571" cy="5068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内容占位符 2"/>
            <p:cNvSpPr txBox="1"/>
            <p:nvPr/>
          </p:nvSpPr>
          <p:spPr>
            <a:xfrm>
              <a:off x="5457525" y="1334916"/>
              <a:ext cx="2348564" cy="4854128"/>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一</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、前言</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1</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、声明</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2</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、背景说明</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3</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、目的</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4</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、适用范围</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5</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、参考资料</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二、测试环境</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1</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、测试资源</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）硬件资源</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）软件资源</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2</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、测试环境拓扑</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三、测试范围</a:t>
              </a:r>
              <a:r>
                <a:rPr lang="zh-CN"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说明</a:t>
              </a:r>
              <a:endPar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四、测试</a:t>
              </a:r>
              <a:r>
                <a:rPr lang="zh-CN"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过程分析</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内容占位符 2"/>
            <p:cNvSpPr txBox="1"/>
            <p:nvPr/>
          </p:nvSpPr>
          <p:spPr>
            <a:xfrm>
              <a:off x="8353108" y="1319088"/>
              <a:ext cx="2648567" cy="4869956"/>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1</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、功能测试</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2</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、兼容性测试</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五、测试结果分析</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1</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、测试覆盖率分析</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2</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、缺陷分析</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）缺陷类型汇总</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）缺陷按功能分布</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）缺陷时间趋势</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六、测试汇总</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1</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、测试问题汇总</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2</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、差异分析</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七、测试总结和评价</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八、建议</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16" presetClass="entr" presetSubtype="37"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arn(outVertical)">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nvSpPr>
        <p:spPr>
          <a:xfrm>
            <a:off x="1922333" y="272228"/>
            <a:ext cx="9167913" cy="5331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rgbClr val="C00000"/>
                </a:solidFill>
                <a:latin typeface="微软雅黑" panose="020B0503020204020204" pitchFamily="34" charset="-122"/>
                <a:ea typeface="微软雅黑" panose="020B0503020204020204" pitchFamily="34" charset="-122"/>
                <a:cs typeface="+mj-cs"/>
              </a:defRPr>
            </a:lvl1pPr>
          </a:lstStyle>
          <a:p>
            <a:pPr marL="0" algn="l" defTabSz="914400" rtl="0" eaLnBrk="1" latinLnBrk="0" hangingPunct="1"/>
            <a:r>
              <a:rPr lang="zh-CN" altLang="en-US" dirty="0" smtClean="0">
                <a:solidFill>
                  <a:srgbClr val="FF0000"/>
                </a:solidFill>
                <a:sym typeface="+mn-ea"/>
              </a:rPr>
              <a:t>测试报告</a:t>
            </a:r>
            <a:endParaRPr lang="zh-CN" altLang="en-US" dirty="0" smtClean="0">
              <a:solidFill>
                <a:srgbClr val="FF0000"/>
              </a:solidFill>
              <a:sym typeface="+mn-ea"/>
            </a:endParaRPr>
          </a:p>
        </p:txBody>
      </p:sp>
      <p:sp>
        <p:nvSpPr>
          <p:cNvPr id="4" name="内容占位符 2"/>
          <p:cNvSpPr txBox="1"/>
          <p:nvPr/>
        </p:nvSpPr>
        <p:spPr>
          <a:xfrm>
            <a:off x="1655544" y="1440794"/>
            <a:ext cx="9827393" cy="415148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一、前言</a:t>
            </a:r>
            <a:endParaRPr lang="en-US" altLang="zh-CN" sz="24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4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24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、声明</a:t>
            </a:r>
            <a:endParaRPr lang="en-US" altLang="zh-CN" sz="24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本报告只适用于“在线考试系统”的系统功能测试和兼容性测试结果，在任何情况下若需要引用本文档中的任何内容，都应保证其本来意义，不得擅自进行增加、修改、伪造。</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当软件产品更新时，设计的任何新的功能模块都需要进行重新测试，本报告不再适用，更不能把本报告中的内容适用于其他同类软件。</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nvSpPr>
        <p:spPr>
          <a:xfrm>
            <a:off x="1922333" y="272228"/>
            <a:ext cx="9167913" cy="5331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rgbClr val="C00000"/>
                </a:solidFill>
                <a:latin typeface="微软雅黑" panose="020B0503020204020204" pitchFamily="34" charset="-122"/>
                <a:ea typeface="微软雅黑" panose="020B0503020204020204" pitchFamily="34" charset="-122"/>
                <a:cs typeface="+mj-cs"/>
              </a:defRPr>
            </a:lvl1pPr>
          </a:lstStyle>
          <a:p>
            <a:pPr marL="0" algn="l" defTabSz="914400" rtl="0" eaLnBrk="1" latinLnBrk="0" hangingPunct="1"/>
            <a:r>
              <a:rPr lang="zh-CN" altLang="en-US" dirty="0" smtClean="0">
                <a:solidFill>
                  <a:srgbClr val="FF0000"/>
                </a:solidFill>
                <a:sym typeface="+mn-ea"/>
              </a:rPr>
              <a:t>测试报告</a:t>
            </a:r>
            <a:endParaRPr lang="zh-CN" altLang="en-US" dirty="0" smtClean="0">
              <a:solidFill>
                <a:srgbClr val="FF0000"/>
              </a:solidFill>
              <a:sym typeface="+mn-ea"/>
            </a:endParaRPr>
          </a:p>
        </p:txBody>
      </p:sp>
      <p:sp>
        <p:nvSpPr>
          <p:cNvPr id="4" name="内容占位符 2"/>
          <p:cNvSpPr txBox="1"/>
          <p:nvPr/>
        </p:nvSpPr>
        <p:spPr>
          <a:xfrm>
            <a:off x="1674795" y="1411919"/>
            <a:ext cx="5804034" cy="460387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24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、背景说明</a:t>
            </a:r>
            <a:endParaRPr lang="en-US" altLang="zh-CN" sz="24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PHP</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教学过程中，为了让学生巩固所学的</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PHP</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知识，掌握</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Web</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网站的搭建过程，开发人员结合当前教学趋势开发了用于模拟考试练习的在线考试系统，该系统仅用于内部教学使用。本次测试是对“在线考试系统”进行系统的功能测试与兼容性测试，主要验证该系统是否符合教学需求</a:t>
            </a:r>
            <a:r>
              <a:rPr lang="zh-CN" altLang="zh-CN"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921592" y="1731650"/>
            <a:ext cx="2887078" cy="40050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1000"/>
                                        <p:tgtEl>
                                          <p:spTgt spid="5"/>
                                        </p:tgtEl>
                                      </p:cBhvr>
                                    </p:animEffect>
                                    <p:anim calcmode="lin" valueType="num">
                                      <p:cBhvr>
                                        <p:cTn id="12" dur="1000" fill="hold"/>
                                        <p:tgtEl>
                                          <p:spTgt spid="5"/>
                                        </p:tgtEl>
                                        <p:attrNameLst>
                                          <p:attrName>ppt_x</p:attrName>
                                        </p:attrNameLst>
                                      </p:cBhvr>
                                      <p:tavLst>
                                        <p:tav tm="0">
                                          <p:val>
                                            <p:strVal val="#ppt_x"/>
                                          </p:val>
                                        </p:tav>
                                        <p:tav tm="100000">
                                          <p:val>
                                            <p:strVal val="#ppt_x"/>
                                          </p:val>
                                        </p:tav>
                                      </p:tavLst>
                                    </p:anim>
                                    <p:anim calcmode="lin" valueType="num">
                                      <p:cBhvr>
                                        <p:cTn id="1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nvSpPr>
        <p:spPr>
          <a:xfrm>
            <a:off x="1922333" y="272228"/>
            <a:ext cx="9167913" cy="5331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rgbClr val="C00000"/>
                </a:solidFill>
                <a:latin typeface="微软雅黑" panose="020B0503020204020204" pitchFamily="34" charset="-122"/>
                <a:ea typeface="微软雅黑" panose="020B0503020204020204" pitchFamily="34" charset="-122"/>
                <a:cs typeface="+mj-cs"/>
              </a:defRPr>
            </a:lvl1pPr>
          </a:lstStyle>
          <a:p>
            <a:pPr marL="0" algn="l" defTabSz="914400" rtl="0" eaLnBrk="1" latinLnBrk="0" hangingPunct="1"/>
            <a:r>
              <a:rPr lang="zh-CN" altLang="en-US" dirty="0" smtClean="0">
                <a:solidFill>
                  <a:srgbClr val="FF0000"/>
                </a:solidFill>
                <a:sym typeface="+mn-ea"/>
              </a:rPr>
              <a:t>测试报告</a:t>
            </a:r>
            <a:endParaRPr lang="zh-CN" altLang="en-US" dirty="0" smtClean="0">
              <a:solidFill>
                <a:srgbClr val="FF0000"/>
              </a:solidFill>
              <a:sym typeface="+mn-ea"/>
            </a:endParaRPr>
          </a:p>
        </p:txBody>
      </p:sp>
      <p:sp>
        <p:nvSpPr>
          <p:cNvPr id="4" name="内容占位符 2"/>
          <p:cNvSpPr txBox="1"/>
          <p:nvPr/>
        </p:nvSpPr>
        <p:spPr>
          <a:xfrm>
            <a:off x="6169795" y="1642924"/>
            <a:ext cx="4928134" cy="3920477"/>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、目的</a:t>
            </a:r>
            <a:endPar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本报告旨在总结本次测试的测试内容和测试结果，对系统的功能和兼容性作出相应评估，并对系统中存在的缺陷进行分析总结，为项目改进提供建议，也给用户对产品的使用提供帮助。</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342019"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11398" y="1450974"/>
            <a:ext cx="3078749" cy="4708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342019"/>
                                        </p:tgtEl>
                                        <p:attrNameLst>
                                          <p:attrName>style.visibility</p:attrName>
                                        </p:attrNameLst>
                                      </p:cBhvr>
                                      <p:to>
                                        <p:strVal val="visible"/>
                                      </p:to>
                                    </p:set>
                                    <p:animEffect transition="in" filter="randombar(horizontal)">
                                      <p:cBhvr>
                                        <p:cTn id="7" dur="500"/>
                                        <p:tgtEl>
                                          <p:spTgt spid="342019"/>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up)">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nvSpPr>
        <p:spPr>
          <a:xfrm>
            <a:off x="1922333" y="272228"/>
            <a:ext cx="9167913" cy="5331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rgbClr val="C00000"/>
                </a:solidFill>
                <a:latin typeface="微软雅黑" panose="020B0503020204020204" pitchFamily="34" charset="-122"/>
                <a:ea typeface="微软雅黑" panose="020B0503020204020204" pitchFamily="34" charset="-122"/>
                <a:cs typeface="+mj-cs"/>
              </a:defRPr>
            </a:lvl1pPr>
          </a:lstStyle>
          <a:p>
            <a:pPr marL="0" algn="l" defTabSz="914400" rtl="0" eaLnBrk="1" latinLnBrk="0" hangingPunct="1"/>
            <a:r>
              <a:rPr lang="zh-CN" altLang="en-US" dirty="0" smtClean="0">
                <a:solidFill>
                  <a:srgbClr val="FF0000"/>
                </a:solidFill>
                <a:sym typeface="+mn-ea"/>
              </a:rPr>
              <a:t>测试报告</a:t>
            </a:r>
            <a:endParaRPr lang="zh-CN" altLang="en-US" dirty="0" smtClean="0">
              <a:solidFill>
                <a:srgbClr val="FF0000"/>
              </a:solidFill>
              <a:sym typeface="+mn-ea"/>
            </a:endParaRPr>
          </a:p>
        </p:txBody>
      </p:sp>
      <p:sp>
        <p:nvSpPr>
          <p:cNvPr id="4" name="内容占位符 2"/>
          <p:cNvSpPr txBox="1"/>
          <p:nvPr/>
        </p:nvSpPr>
        <p:spPr>
          <a:xfrm>
            <a:off x="2311399" y="1719926"/>
            <a:ext cx="4321742" cy="3602844"/>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4</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、适用范围</a:t>
            </a:r>
            <a:endPar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本报告为公司内部资料，读者范围为公司内部测试人员、研发人员和相关负责人。如有特殊情况需要对外出示，必须经过公司审批程序。</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342021"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444378" y="1446195"/>
            <a:ext cx="2939828" cy="44444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nvSpPr>
        <p:spPr>
          <a:xfrm>
            <a:off x="1922333" y="272228"/>
            <a:ext cx="9167913" cy="5331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rgbClr val="C00000"/>
                </a:solidFill>
                <a:latin typeface="微软雅黑" panose="020B0503020204020204" pitchFamily="34" charset="-122"/>
                <a:ea typeface="微软雅黑" panose="020B0503020204020204" pitchFamily="34" charset="-122"/>
                <a:cs typeface="+mj-cs"/>
              </a:defRPr>
            </a:lvl1pPr>
          </a:lstStyle>
          <a:p>
            <a:pPr marL="0" algn="l" defTabSz="914400" rtl="0" eaLnBrk="1" latinLnBrk="0" hangingPunct="1"/>
            <a:r>
              <a:rPr lang="zh-CN" altLang="en-US" dirty="0" smtClean="0">
                <a:solidFill>
                  <a:srgbClr val="FF0000"/>
                </a:solidFill>
                <a:sym typeface="+mn-ea"/>
              </a:rPr>
              <a:t>测试报告</a:t>
            </a:r>
            <a:endParaRPr lang="zh-CN" altLang="en-US" dirty="0" smtClean="0">
              <a:solidFill>
                <a:srgbClr val="FF0000"/>
              </a:solidFill>
              <a:sym typeface="+mn-ea"/>
            </a:endParaRPr>
          </a:p>
        </p:txBody>
      </p:sp>
      <p:sp>
        <p:nvSpPr>
          <p:cNvPr id="4" name="内容占位符 2"/>
          <p:cNvSpPr txBox="1"/>
          <p:nvPr/>
        </p:nvSpPr>
        <p:spPr>
          <a:xfrm>
            <a:off x="1753134" y="1190537"/>
            <a:ext cx="9277418" cy="753767"/>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5</a:t>
            </a:r>
            <a:r>
              <a:rPr lang="zh-CN" altLang="zh-CN" sz="24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4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参考资料</a:t>
            </a:r>
            <a:endPar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2" name="表格 1"/>
          <p:cNvGraphicFramePr>
            <a:graphicFrameLocks noGrp="1"/>
          </p:cNvGraphicFramePr>
          <p:nvPr>
            <p:custDataLst>
              <p:tags r:id="rId1"/>
            </p:custDataLst>
          </p:nvPr>
        </p:nvGraphicFramePr>
        <p:xfrm>
          <a:off x="1867970" y="1944304"/>
          <a:ext cx="9509758" cy="3947960"/>
        </p:xfrm>
        <a:graphic>
          <a:graphicData uri="http://schemas.openxmlformats.org/drawingml/2006/table">
            <a:tbl>
              <a:tblPr firstRow="1" firstCol="1" bandRow="1">
                <a:tableStyleId>{5C22544A-7EE6-4342-B048-85BDC9FD1C3A}</a:tableStyleId>
              </a:tblPr>
              <a:tblGrid>
                <a:gridCol w="4390664"/>
                <a:gridCol w="1580683"/>
                <a:gridCol w="1900837"/>
                <a:gridCol w="1637574"/>
              </a:tblGrid>
              <a:tr h="643288">
                <a:tc>
                  <a:txBody>
                    <a:bodyPr/>
                    <a:lstStyle/>
                    <a:p>
                      <a:pPr algn="ctr">
                        <a:spcAft>
                          <a:spcPts val="0"/>
                        </a:spcAft>
                      </a:pPr>
                      <a:r>
                        <a:rPr lang="zh-CN" sz="2400" kern="100" dirty="0">
                          <a:effectLst/>
                          <a:latin typeface="幼圆" panose="02010509060101010101" pitchFamily="49" charset="-122"/>
                          <a:ea typeface="幼圆" panose="02010509060101010101" pitchFamily="49" charset="-122"/>
                        </a:rPr>
                        <a:t>文档</a:t>
                      </a:r>
                      <a:endParaRPr lang="zh-CN" sz="2400" kern="100" dirty="0">
                        <a:effectLst/>
                        <a:latin typeface="幼圆" panose="02010509060101010101" pitchFamily="49" charset="-122"/>
                        <a:ea typeface="幼圆" panose="02010509060101010101" pitchFamily="49" charset="-122"/>
                      </a:endParaRPr>
                    </a:p>
                  </a:txBody>
                  <a:tcPr marL="68580" marR="68580" marT="0" marB="0" anchor="ctr" anchorCtr="1"/>
                </a:tc>
                <a:tc>
                  <a:txBody>
                    <a:bodyPr/>
                    <a:lstStyle/>
                    <a:p>
                      <a:pPr algn="ctr">
                        <a:spcAft>
                          <a:spcPts val="0"/>
                        </a:spcAft>
                      </a:pPr>
                      <a:r>
                        <a:rPr lang="zh-CN" sz="2400" kern="100" dirty="0">
                          <a:effectLst/>
                          <a:latin typeface="幼圆" panose="02010509060101010101" pitchFamily="49" charset="-122"/>
                          <a:ea typeface="幼圆" panose="02010509060101010101" pitchFamily="49" charset="-122"/>
                        </a:rPr>
                        <a:t>版本</a:t>
                      </a:r>
                      <a:r>
                        <a:rPr lang="en-US" sz="2400" kern="100" dirty="0">
                          <a:effectLst/>
                          <a:latin typeface="幼圆" panose="02010509060101010101" pitchFamily="49" charset="-122"/>
                          <a:ea typeface="幼圆" panose="02010509060101010101" pitchFamily="49" charset="-122"/>
                        </a:rPr>
                        <a:t>/</a:t>
                      </a:r>
                      <a:r>
                        <a:rPr lang="zh-CN" sz="2400" kern="100" dirty="0">
                          <a:effectLst/>
                          <a:latin typeface="幼圆" panose="02010509060101010101" pitchFamily="49" charset="-122"/>
                          <a:ea typeface="幼圆" panose="02010509060101010101" pitchFamily="49" charset="-122"/>
                        </a:rPr>
                        <a:t>日期</a:t>
                      </a:r>
                      <a:endParaRPr lang="zh-CN" sz="2400" kern="100" dirty="0">
                        <a:effectLst/>
                        <a:latin typeface="幼圆" panose="02010509060101010101" pitchFamily="49" charset="-122"/>
                        <a:ea typeface="幼圆" panose="02010509060101010101" pitchFamily="49" charset="-122"/>
                      </a:endParaRPr>
                    </a:p>
                  </a:txBody>
                  <a:tcPr marL="68580" marR="68580" marT="0" marB="0" anchor="ctr" anchorCtr="1"/>
                </a:tc>
                <a:tc>
                  <a:txBody>
                    <a:bodyPr/>
                    <a:lstStyle/>
                    <a:p>
                      <a:pPr algn="ctr">
                        <a:spcAft>
                          <a:spcPts val="0"/>
                        </a:spcAft>
                      </a:pPr>
                      <a:r>
                        <a:rPr lang="zh-CN" sz="2400" kern="100" dirty="0">
                          <a:effectLst/>
                          <a:latin typeface="幼圆" panose="02010509060101010101" pitchFamily="49" charset="-122"/>
                          <a:ea typeface="幼圆" panose="02010509060101010101" pitchFamily="49" charset="-122"/>
                        </a:rPr>
                        <a:t>作者或来源</a:t>
                      </a:r>
                      <a:endParaRPr lang="zh-CN" sz="2400" kern="100" dirty="0">
                        <a:effectLst/>
                        <a:latin typeface="幼圆" panose="02010509060101010101" pitchFamily="49" charset="-122"/>
                        <a:ea typeface="幼圆" panose="02010509060101010101" pitchFamily="49" charset="-122"/>
                      </a:endParaRPr>
                    </a:p>
                  </a:txBody>
                  <a:tcPr marL="68580" marR="68580" marT="0" marB="0" anchor="ctr" anchorCtr="1"/>
                </a:tc>
                <a:tc>
                  <a:txBody>
                    <a:bodyPr/>
                    <a:lstStyle/>
                    <a:p>
                      <a:pPr algn="ctr">
                        <a:spcAft>
                          <a:spcPts val="0"/>
                        </a:spcAft>
                      </a:pPr>
                      <a:r>
                        <a:rPr lang="zh-CN" sz="2400" kern="100" dirty="0">
                          <a:effectLst/>
                          <a:latin typeface="幼圆" panose="02010509060101010101" pitchFamily="49" charset="-122"/>
                          <a:ea typeface="幼圆" panose="02010509060101010101" pitchFamily="49" charset="-122"/>
                        </a:rPr>
                        <a:t>备注</a:t>
                      </a:r>
                      <a:endParaRPr lang="zh-CN" sz="2400" kern="100" dirty="0">
                        <a:effectLst/>
                        <a:latin typeface="幼圆" panose="02010509060101010101" pitchFamily="49" charset="-122"/>
                        <a:ea typeface="幼圆" panose="02010509060101010101" pitchFamily="49" charset="-122"/>
                      </a:endParaRPr>
                    </a:p>
                  </a:txBody>
                  <a:tcPr marL="68580" marR="68580" marT="0" marB="0" anchor="ctr" anchorCtr="1"/>
                </a:tc>
              </a:tr>
              <a:tr h="643288">
                <a:tc>
                  <a:txBody>
                    <a:bodyPr/>
                    <a:lstStyle/>
                    <a:p>
                      <a:pPr algn="just">
                        <a:spcAft>
                          <a:spcPts val="0"/>
                        </a:spcAft>
                      </a:pPr>
                      <a:r>
                        <a:rPr lang="zh-CN" sz="2400" kern="100">
                          <a:effectLst/>
                          <a:latin typeface="幼圆" panose="02010509060101010101" pitchFamily="49" charset="-122"/>
                          <a:ea typeface="幼圆" panose="02010509060101010101" pitchFamily="49" charset="-122"/>
                        </a:rPr>
                        <a:t>“在线考试系统”需求分析</a:t>
                      </a:r>
                      <a:endParaRPr lang="zh-CN" sz="2400" kern="100">
                        <a:effectLst/>
                        <a:latin typeface="幼圆" panose="02010509060101010101" pitchFamily="49" charset="-122"/>
                        <a:ea typeface="幼圆" panose="02010509060101010101" pitchFamily="49" charset="-122"/>
                      </a:endParaRPr>
                    </a:p>
                  </a:txBody>
                  <a:tcPr marL="68580" marR="68580" marT="0" marB="0"/>
                </a:tc>
                <a:tc>
                  <a:txBody>
                    <a:bodyPr/>
                    <a:lstStyle/>
                    <a:p>
                      <a:pPr algn="ctr">
                        <a:spcAft>
                          <a:spcPts val="0"/>
                        </a:spcAft>
                      </a:pPr>
                      <a:r>
                        <a:rPr lang="en-US" sz="2400" kern="100">
                          <a:effectLst/>
                          <a:latin typeface="幼圆" panose="02010509060101010101" pitchFamily="49" charset="-122"/>
                          <a:ea typeface="幼圆" panose="02010509060101010101" pitchFamily="49" charset="-122"/>
                        </a:rPr>
                        <a:t>V-1.0</a:t>
                      </a:r>
                      <a:endParaRPr lang="zh-CN" sz="24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ctr">
                        <a:spcAft>
                          <a:spcPts val="0"/>
                        </a:spcAft>
                      </a:pPr>
                      <a:r>
                        <a:rPr lang="zh-CN" sz="2400" kern="100">
                          <a:effectLst/>
                          <a:latin typeface="幼圆" panose="02010509060101010101" pitchFamily="49" charset="-122"/>
                          <a:ea typeface="幼圆" panose="02010509060101010101" pitchFamily="49" charset="-122"/>
                        </a:rPr>
                        <a:t>公司内部</a:t>
                      </a:r>
                      <a:endParaRPr lang="zh-CN" sz="24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en-US" sz="2400" kern="100">
                          <a:effectLst/>
                          <a:latin typeface="幼圆" panose="02010509060101010101" pitchFamily="49" charset="-122"/>
                          <a:ea typeface="幼圆" panose="02010509060101010101" pitchFamily="49" charset="-122"/>
                        </a:rPr>
                        <a:t> </a:t>
                      </a:r>
                      <a:endParaRPr lang="zh-CN" sz="2400" kern="100">
                        <a:effectLst/>
                        <a:latin typeface="幼圆" panose="02010509060101010101" pitchFamily="49" charset="-122"/>
                        <a:ea typeface="幼圆" panose="02010509060101010101" pitchFamily="49" charset="-122"/>
                      </a:endParaRPr>
                    </a:p>
                  </a:txBody>
                  <a:tcPr marL="68580" marR="68580" marT="0" marB="0"/>
                </a:tc>
              </a:tr>
              <a:tr h="643288">
                <a:tc>
                  <a:txBody>
                    <a:bodyPr/>
                    <a:lstStyle/>
                    <a:p>
                      <a:pPr algn="just">
                        <a:spcAft>
                          <a:spcPts val="0"/>
                        </a:spcAft>
                      </a:pPr>
                      <a:r>
                        <a:rPr lang="zh-CN" sz="2400" kern="100" dirty="0">
                          <a:effectLst/>
                          <a:latin typeface="幼圆" panose="02010509060101010101" pitchFamily="49" charset="-122"/>
                          <a:ea typeface="幼圆" panose="02010509060101010101" pitchFamily="49" charset="-122"/>
                        </a:rPr>
                        <a:t>“在线考试系统”系统分析</a:t>
                      </a:r>
                      <a:endParaRPr lang="zh-CN" sz="2400" kern="100" dirty="0">
                        <a:effectLst/>
                        <a:latin typeface="幼圆" panose="02010509060101010101" pitchFamily="49" charset="-122"/>
                        <a:ea typeface="幼圆" panose="02010509060101010101" pitchFamily="49" charset="-122"/>
                      </a:endParaRPr>
                    </a:p>
                  </a:txBody>
                  <a:tcPr marL="68580" marR="68580" marT="0" marB="0"/>
                </a:tc>
                <a:tc>
                  <a:txBody>
                    <a:bodyPr/>
                    <a:lstStyle/>
                    <a:p>
                      <a:pPr algn="ctr">
                        <a:spcAft>
                          <a:spcPts val="0"/>
                        </a:spcAft>
                      </a:pPr>
                      <a:r>
                        <a:rPr lang="en-US" sz="2400" kern="100">
                          <a:effectLst/>
                          <a:latin typeface="幼圆" panose="02010509060101010101" pitchFamily="49" charset="-122"/>
                          <a:ea typeface="幼圆" panose="02010509060101010101" pitchFamily="49" charset="-122"/>
                        </a:rPr>
                        <a:t>V-1.0</a:t>
                      </a:r>
                      <a:endParaRPr lang="zh-CN" sz="24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ctr">
                        <a:spcAft>
                          <a:spcPts val="0"/>
                        </a:spcAft>
                      </a:pPr>
                      <a:r>
                        <a:rPr lang="zh-CN" sz="2400" kern="100">
                          <a:effectLst/>
                          <a:latin typeface="幼圆" panose="02010509060101010101" pitchFamily="49" charset="-122"/>
                          <a:ea typeface="幼圆" panose="02010509060101010101" pitchFamily="49" charset="-122"/>
                        </a:rPr>
                        <a:t>公司内部</a:t>
                      </a:r>
                      <a:endParaRPr lang="zh-CN" sz="24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en-US" sz="2400" kern="100">
                          <a:effectLst/>
                          <a:latin typeface="幼圆" panose="02010509060101010101" pitchFamily="49" charset="-122"/>
                          <a:ea typeface="幼圆" panose="02010509060101010101" pitchFamily="49" charset="-122"/>
                        </a:rPr>
                        <a:t> </a:t>
                      </a:r>
                      <a:endParaRPr lang="zh-CN" sz="2400" kern="100">
                        <a:effectLst/>
                        <a:latin typeface="幼圆" panose="02010509060101010101" pitchFamily="49" charset="-122"/>
                        <a:ea typeface="幼圆" panose="02010509060101010101" pitchFamily="49" charset="-122"/>
                      </a:endParaRPr>
                    </a:p>
                  </a:txBody>
                  <a:tcPr marL="68580" marR="68580" marT="0" marB="0"/>
                </a:tc>
              </a:tr>
              <a:tr h="643288">
                <a:tc>
                  <a:txBody>
                    <a:bodyPr/>
                    <a:lstStyle/>
                    <a:p>
                      <a:pPr algn="just">
                        <a:spcAft>
                          <a:spcPts val="0"/>
                        </a:spcAft>
                      </a:pPr>
                      <a:r>
                        <a:rPr lang="zh-CN" sz="2400" kern="100">
                          <a:effectLst/>
                          <a:latin typeface="幼圆" panose="02010509060101010101" pitchFamily="49" charset="-122"/>
                          <a:ea typeface="幼圆" panose="02010509060101010101" pitchFamily="49" charset="-122"/>
                        </a:rPr>
                        <a:t>“在线考试系统”测试需求分析说明书</a:t>
                      </a:r>
                      <a:endParaRPr lang="zh-CN" sz="2400" kern="100">
                        <a:effectLst/>
                        <a:latin typeface="幼圆" panose="02010509060101010101" pitchFamily="49" charset="-122"/>
                        <a:ea typeface="幼圆" panose="02010509060101010101" pitchFamily="49" charset="-122"/>
                      </a:endParaRPr>
                    </a:p>
                  </a:txBody>
                  <a:tcPr marL="68580" marR="68580" marT="0" marB="0"/>
                </a:tc>
                <a:tc>
                  <a:txBody>
                    <a:bodyPr/>
                    <a:lstStyle/>
                    <a:p>
                      <a:pPr algn="ctr">
                        <a:spcAft>
                          <a:spcPts val="0"/>
                        </a:spcAft>
                      </a:pPr>
                      <a:r>
                        <a:rPr lang="en-US" sz="2400" kern="100">
                          <a:effectLst/>
                          <a:latin typeface="幼圆" panose="02010509060101010101" pitchFamily="49" charset="-122"/>
                          <a:ea typeface="幼圆" panose="02010509060101010101" pitchFamily="49" charset="-122"/>
                        </a:rPr>
                        <a:t>V-1.0</a:t>
                      </a:r>
                      <a:endParaRPr lang="zh-CN" sz="24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ctr">
                        <a:spcAft>
                          <a:spcPts val="0"/>
                        </a:spcAft>
                      </a:pPr>
                      <a:r>
                        <a:rPr lang="zh-CN" sz="2400" kern="100">
                          <a:effectLst/>
                          <a:latin typeface="幼圆" panose="02010509060101010101" pitchFamily="49" charset="-122"/>
                          <a:ea typeface="幼圆" panose="02010509060101010101" pitchFamily="49" charset="-122"/>
                        </a:rPr>
                        <a:t>公司内部</a:t>
                      </a:r>
                      <a:endParaRPr lang="zh-CN" sz="24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en-US" sz="2400" kern="100">
                          <a:effectLst/>
                          <a:latin typeface="幼圆" panose="02010509060101010101" pitchFamily="49" charset="-122"/>
                          <a:ea typeface="幼圆" panose="02010509060101010101" pitchFamily="49" charset="-122"/>
                        </a:rPr>
                        <a:t> </a:t>
                      </a:r>
                      <a:endParaRPr lang="zh-CN" sz="2400" kern="100">
                        <a:effectLst/>
                        <a:latin typeface="幼圆" panose="02010509060101010101" pitchFamily="49" charset="-122"/>
                        <a:ea typeface="幼圆" panose="02010509060101010101" pitchFamily="49" charset="-122"/>
                      </a:endParaRPr>
                    </a:p>
                  </a:txBody>
                  <a:tcPr marL="68580" marR="68580" marT="0" marB="0"/>
                </a:tc>
              </a:tr>
              <a:tr h="643288">
                <a:tc>
                  <a:txBody>
                    <a:bodyPr/>
                    <a:lstStyle/>
                    <a:p>
                      <a:pPr algn="just">
                        <a:spcAft>
                          <a:spcPts val="0"/>
                        </a:spcAft>
                      </a:pPr>
                      <a:r>
                        <a:rPr lang="zh-CN" sz="2400" kern="100">
                          <a:effectLst/>
                          <a:latin typeface="幼圆" panose="02010509060101010101" pitchFamily="49" charset="-122"/>
                          <a:ea typeface="幼圆" panose="02010509060101010101" pitchFamily="49" charset="-122"/>
                        </a:rPr>
                        <a:t>“在线考试系统”测试计划</a:t>
                      </a:r>
                      <a:endParaRPr lang="zh-CN" sz="2400" kern="100">
                        <a:effectLst/>
                        <a:latin typeface="幼圆" panose="02010509060101010101" pitchFamily="49" charset="-122"/>
                        <a:ea typeface="幼圆" panose="02010509060101010101" pitchFamily="49" charset="-122"/>
                      </a:endParaRPr>
                    </a:p>
                  </a:txBody>
                  <a:tcPr marL="68580" marR="68580" marT="0" marB="0"/>
                </a:tc>
                <a:tc>
                  <a:txBody>
                    <a:bodyPr/>
                    <a:lstStyle/>
                    <a:p>
                      <a:pPr algn="ctr">
                        <a:spcAft>
                          <a:spcPts val="0"/>
                        </a:spcAft>
                      </a:pPr>
                      <a:r>
                        <a:rPr lang="en-US" sz="2400" kern="100">
                          <a:effectLst/>
                          <a:latin typeface="幼圆" panose="02010509060101010101" pitchFamily="49" charset="-122"/>
                          <a:ea typeface="幼圆" panose="02010509060101010101" pitchFamily="49" charset="-122"/>
                        </a:rPr>
                        <a:t>V-1.0</a:t>
                      </a:r>
                      <a:endParaRPr lang="zh-CN" sz="24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ctr">
                        <a:spcAft>
                          <a:spcPts val="0"/>
                        </a:spcAft>
                      </a:pPr>
                      <a:r>
                        <a:rPr lang="zh-CN" sz="2400" kern="100">
                          <a:effectLst/>
                          <a:latin typeface="幼圆" panose="02010509060101010101" pitchFamily="49" charset="-122"/>
                          <a:ea typeface="幼圆" panose="02010509060101010101" pitchFamily="49" charset="-122"/>
                        </a:rPr>
                        <a:t>公司内部</a:t>
                      </a:r>
                      <a:endParaRPr lang="zh-CN" sz="24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en-US" sz="2400" kern="100">
                          <a:effectLst/>
                          <a:latin typeface="幼圆" panose="02010509060101010101" pitchFamily="49" charset="-122"/>
                          <a:ea typeface="幼圆" panose="02010509060101010101" pitchFamily="49" charset="-122"/>
                        </a:rPr>
                        <a:t> </a:t>
                      </a:r>
                      <a:endParaRPr lang="zh-CN" sz="2400" kern="100">
                        <a:effectLst/>
                        <a:latin typeface="幼圆" panose="02010509060101010101" pitchFamily="49" charset="-122"/>
                        <a:ea typeface="幼圆" panose="02010509060101010101" pitchFamily="49" charset="-122"/>
                      </a:endParaRPr>
                    </a:p>
                  </a:txBody>
                  <a:tcPr marL="68580" marR="68580" marT="0" marB="0"/>
                </a:tc>
              </a:tr>
              <a:tr h="643288">
                <a:tc>
                  <a:txBody>
                    <a:bodyPr/>
                    <a:lstStyle/>
                    <a:p>
                      <a:pPr algn="just">
                        <a:spcAft>
                          <a:spcPts val="0"/>
                        </a:spcAft>
                      </a:pPr>
                      <a:r>
                        <a:rPr lang="zh-CN" sz="2400" kern="100" dirty="0">
                          <a:effectLst/>
                          <a:latin typeface="幼圆" panose="02010509060101010101" pitchFamily="49" charset="-122"/>
                          <a:ea typeface="幼圆" panose="02010509060101010101" pitchFamily="49" charset="-122"/>
                        </a:rPr>
                        <a:t>“在线考试系统”测试方案</a:t>
                      </a:r>
                      <a:endParaRPr lang="zh-CN" sz="2400" kern="100" dirty="0">
                        <a:effectLst/>
                        <a:latin typeface="幼圆" panose="02010509060101010101" pitchFamily="49" charset="-122"/>
                        <a:ea typeface="幼圆" panose="02010509060101010101" pitchFamily="49" charset="-122"/>
                      </a:endParaRPr>
                    </a:p>
                  </a:txBody>
                  <a:tcPr marL="68580" marR="68580" marT="0" marB="0"/>
                </a:tc>
                <a:tc>
                  <a:txBody>
                    <a:bodyPr/>
                    <a:lstStyle/>
                    <a:p>
                      <a:pPr algn="ctr">
                        <a:spcAft>
                          <a:spcPts val="0"/>
                        </a:spcAft>
                      </a:pPr>
                      <a:r>
                        <a:rPr lang="en-US" sz="2400" kern="100">
                          <a:effectLst/>
                          <a:latin typeface="幼圆" panose="02010509060101010101" pitchFamily="49" charset="-122"/>
                          <a:ea typeface="幼圆" panose="02010509060101010101" pitchFamily="49" charset="-122"/>
                        </a:rPr>
                        <a:t>V-1.0</a:t>
                      </a:r>
                      <a:endParaRPr lang="zh-CN" sz="24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ctr">
                        <a:spcAft>
                          <a:spcPts val="0"/>
                        </a:spcAft>
                      </a:pPr>
                      <a:r>
                        <a:rPr lang="zh-CN" sz="2400" kern="100">
                          <a:effectLst/>
                          <a:latin typeface="幼圆" panose="02010509060101010101" pitchFamily="49" charset="-122"/>
                          <a:ea typeface="幼圆" panose="02010509060101010101" pitchFamily="49" charset="-122"/>
                        </a:rPr>
                        <a:t>公司内部</a:t>
                      </a:r>
                      <a:endParaRPr lang="zh-CN" sz="24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en-US" sz="2400" kern="100" dirty="0">
                          <a:effectLst/>
                          <a:latin typeface="幼圆" panose="02010509060101010101" pitchFamily="49" charset="-122"/>
                          <a:ea typeface="幼圆" panose="02010509060101010101" pitchFamily="49" charset="-122"/>
                        </a:rPr>
                        <a:t> </a:t>
                      </a:r>
                      <a:endParaRPr lang="zh-CN" sz="2400" kern="100" dirty="0">
                        <a:effectLst/>
                        <a:latin typeface="幼圆" panose="02010509060101010101" pitchFamily="49" charset="-122"/>
                        <a:ea typeface="幼圆" panose="02010509060101010101" pitchFamily="49" charset="-122"/>
                      </a:endParaRPr>
                    </a:p>
                  </a:txBody>
                  <a:tcPr marL="68580" marR="68580" marT="0" marB="0"/>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arn(inVertical)">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nvSpPr>
        <p:spPr>
          <a:xfrm>
            <a:off x="1922333" y="272228"/>
            <a:ext cx="9167913" cy="5331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rgbClr val="C00000"/>
                </a:solidFill>
                <a:latin typeface="微软雅黑" panose="020B0503020204020204" pitchFamily="34" charset="-122"/>
                <a:ea typeface="微软雅黑" panose="020B0503020204020204" pitchFamily="34" charset="-122"/>
                <a:cs typeface="+mj-cs"/>
              </a:defRPr>
            </a:lvl1pPr>
          </a:lstStyle>
          <a:p>
            <a:pPr marL="0" algn="l" defTabSz="914400" rtl="0" eaLnBrk="1" latinLnBrk="0" hangingPunct="1"/>
            <a:r>
              <a:rPr lang="zh-CN" altLang="en-US" dirty="0" smtClean="0">
                <a:solidFill>
                  <a:srgbClr val="FF0000"/>
                </a:solidFill>
                <a:sym typeface="+mn-ea"/>
              </a:rPr>
              <a:t>测试报告</a:t>
            </a:r>
            <a:endParaRPr lang="zh-CN" altLang="en-US" dirty="0" smtClean="0">
              <a:solidFill>
                <a:srgbClr val="FF0000"/>
              </a:solidFill>
              <a:sym typeface="+mn-ea"/>
            </a:endParaRPr>
          </a:p>
        </p:txBody>
      </p:sp>
      <p:sp>
        <p:nvSpPr>
          <p:cNvPr id="4" name="内容占位符 2"/>
          <p:cNvSpPr txBox="1"/>
          <p:nvPr/>
        </p:nvSpPr>
        <p:spPr>
          <a:xfrm>
            <a:off x="1753134" y="1190537"/>
            <a:ext cx="2404980" cy="753767"/>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二</a:t>
            </a:r>
            <a:r>
              <a:rPr lang="zh-CN" altLang="zh-CN" sz="24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4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测试环境</a:t>
            </a:r>
            <a:endPar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内容占位符 2"/>
          <p:cNvSpPr txBox="1"/>
          <p:nvPr/>
        </p:nvSpPr>
        <p:spPr>
          <a:xfrm>
            <a:off x="5524633" y="1190538"/>
            <a:ext cx="2945600" cy="619012"/>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测试所需硬件资源</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2" name="表格 1"/>
          <p:cNvGraphicFramePr>
            <a:graphicFrameLocks noGrp="1"/>
          </p:cNvGraphicFramePr>
          <p:nvPr/>
        </p:nvGraphicFramePr>
        <p:xfrm>
          <a:off x="1838423" y="1886552"/>
          <a:ext cx="9432761" cy="4445736"/>
        </p:xfrm>
        <a:graphic>
          <a:graphicData uri="http://schemas.openxmlformats.org/drawingml/2006/table">
            <a:tbl>
              <a:tblPr firstRow="1" firstCol="1" bandRow="1">
                <a:tableStyleId>{5C22544A-7EE6-4342-B048-85BDC9FD1C3A}</a:tableStyleId>
              </a:tblPr>
              <a:tblGrid>
                <a:gridCol w="712272"/>
                <a:gridCol w="1453414"/>
                <a:gridCol w="3442205"/>
                <a:gridCol w="1890191"/>
                <a:gridCol w="1095154"/>
                <a:gridCol w="839525"/>
              </a:tblGrid>
              <a:tr h="423511">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编号</a:t>
                      </a:r>
                      <a:endParaRPr lang="zh-CN" sz="1600" kern="100" dirty="0">
                        <a:effectLst/>
                        <a:latin typeface="幼圆" panose="02010509060101010101" pitchFamily="49" charset="-122"/>
                        <a:ea typeface="幼圆" panose="02010509060101010101" pitchFamily="49" charset="-122"/>
                      </a:endParaRPr>
                    </a:p>
                  </a:txBody>
                  <a:tcPr marL="68580" marR="68580" marT="0" marB="0" anchor="ctr" anchorCtr="1"/>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硬件设备</a:t>
                      </a:r>
                      <a:endParaRPr lang="zh-CN" sz="1600" kern="100" dirty="0">
                        <a:effectLst/>
                        <a:latin typeface="幼圆" panose="02010509060101010101" pitchFamily="49" charset="-122"/>
                        <a:ea typeface="幼圆" panose="02010509060101010101" pitchFamily="49" charset="-122"/>
                      </a:endParaRPr>
                    </a:p>
                  </a:txBody>
                  <a:tcPr marL="68580" marR="68580" marT="0" marB="0" anchor="ctr" anchorCtr="1"/>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处理器型号</a:t>
                      </a:r>
                      <a:endParaRPr lang="zh-CN" sz="1600" kern="100" dirty="0">
                        <a:effectLst/>
                        <a:latin typeface="幼圆" panose="02010509060101010101" pitchFamily="49" charset="-122"/>
                        <a:ea typeface="幼圆" panose="02010509060101010101" pitchFamily="49" charset="-122"/>
                      </a:endParaRPr>
                    </a:p>
                  </a:txBody>
                  <a:tcPr marL="68580" marR="68580" marT="0" marB="0" anchor="ctr" anchorCtr="1"/>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用途</a:t>
                      </a:r>
                      <a:endParaRPr lang="zh-CN" sz="1600" kern="100" dirty="0">
                        <a:effectLst/>
                        <a:latin typeface="幼圆" panose="02010509060101010101" pitchFamily="49" charset="-122"/>
                        <a:ea typeface="幼圆" panose="02010509060101010101" pitchFamily="49" charset="-122"/>
                      </a:endParaRPr>
                    </a:p>
                  </a:txBody>
                  <a:tcPr marL="68580" marR="68580" marT="0" marB="0" anchor="ctr" anchorCtr="1"/>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使用数量</a:t>
                      </a:r>
                      <a:endParaRPr lang="zh-CN" sz="1600" kern="100" dirty="0">
                        <a:effectLst/>
                        <a:latin typeface="幼圆" panose="02010509060101010101" pitchFamily="49" charset="-122"/>
                        <a:ea typeface="幼圆" panose="02010509060101010101" pitchFamily="49" charset="-122"/>
                      </a:endParaRPr>
                    </a:p>
                  </a:txBody>
                  <a:tcPr marL="68580" marR="68580" marT="0" marB="0" anchor="ctr" anchorCtr="1"/>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备注</a:t>
                      </a:r>
                      <a:endParaRPr lang="zh-CN" sz="1600" kern="100" dirty="0">
                        <a:effectLst/>
                        <a:latin typeface="幼圆" panose="02010509060101010101" pitchFamily="49" charset="-122"/>
                        <a:ea typeface="幼圆" panose="02010509060101010101" pitchFamily="49" charset="-122"/>
                      </a:endParaRPr>
                    </a:p>
                  </a:txBody>
                  <a:tcPr marL="68580" marR="68580" marT="0" marB="0" anchor="ctr" anchorCtr="1"/>
                </a:tc>
              </a:tr>
              <a:tr h="754167">
                <a:tc>
                  <a:txBody>
                    <a:bodyPr/>
                    <a:lstStyle/>
                    <a:p>
                      <a:pPr algn="ctr">
                        <a:spcAft>
                          <a:spcPts val="0"/>
                        </a:spcAft>
                      </a:pPr>
                      <a:r>
                        <a:rPr lang="en-US" sz="1600" kern="100">
                          <a:effectLst/>
                          <a:latin typeface="幼圆" panose="02010509060101010101" pitchFamily="49" charset="-122"/>
                          <a:ea typeface="幼圆" panose="02010509060101010101" pitchFamily="49" charset="-122"/>
                        </a:rPr>
                        <a:t>1</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ctr">
                        <a:spcAft>
                          <a:spcPts val="0"/>
                        </a:spcAft>
                      </a:pPr>
                      <a:r>
                        <a:rPr lang="zh-CN" sz="1600" kern="100">
                          <a:effectLst/>
                          <a:latin typeface="幼圆" panose="02010509060101010101" pitchFamily="49" charset="-122"/>
                          <a:ea typeface="幼圆" panose="02010509060101010101" pitchFamily="49" charset="-122"/>
                        </a:rPr>
                        <a:t>台式计算机</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en-US" sz="1600" kern="100" dirty="0">
                          <a:effectLst/>
                          <a:latin typeface="幼圆" panose="02010509060101010101" pitchFamily="49" charset="-122"/>
                          <a:ea typeface="幼圆" panose="02010509060101010101" pitchFamily="49" charset="-122"/>
                        </a:rPr>
                        <a:t>Intel(R) Core(TM) i3-4160 CPU @ 3.60GHz </a:t>
                      </a:r>
                      <a:r>
                        <a:rPr lang="en-US" sz="1600" kern="100" dirty="0" err="1">
                          <a:effectLst/>
                          <a:latin typeface="幼圆" panose="02010509060101010101" pitchFamily="49" charset="-122"/>
                          <a:ea typeface="幼圆" panose="02010509060101010101" pitchFamily="49" charset="-122"/>
                        </a:rPr>
                        <a:t>3.60GHz</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dirty="0" smtClean="0">
                          <a:effectLst/>
                          <a:latin typeface="幼圆" panose="02010509060101010101" pitchFamily="49" charset="-122"/>
                          <a:ea typeface="幼圆" panose="02010509060101010101" pitchFamily="49" charset="-122"/>
                        </a:rPr>
                        <a:t>登录“在线考试系统”进行答题测试</a:t>
                      </a:r>
                      <a:endParaRPr lang="zh-CN" sz="1600" kern="100" dirty="0">
                        <a:effectLst/>
                        <a:latin typeface="幼圆" panose="02010509060101010101" pitchFamily="49" charset="-122"/>
                        <a:ea typeface="幼圆" panose="02010509060101010101" pitchFamily="49" charset="-122"/>
                      </a:endParaRPr>
                    </a:p>
                  </a:txBody>
                  <a:tcPr marL="68580" marR="68580" marT="0" marB="0" anchor="ctr" anchorCtr="1"/>
                </a:tc>
                <a:tc>
                  <a:txBody>
                    <a:bodyPr/>
                    <a:lstStyle/>
                    <a:p>
                      <a:pPr algn="ctr">
                        <a:spcAft>
                          <a:spcPts val="0"/>
                        </a:spcAft>
                      </a:pPr>
                      <a:r>
                        <a:rPr lang="en-US" sz="1600" kern="100" dirty="0">
                          <a:effectLst/>
                          <a:latin typeface="幼圆" panose="02010509060101010101" pitchFamily="49" charset="-122"/>
                          <a:ea typeface="幼圆" panose="02010509060101010101" pitchFamily="49" charset="-122"/>
                        </a:rPr>
                        <a:t>2</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en-US" sz="1600" kern="100">
                          <a:effectLst/>
                          <a:latin typeface="幼圆" panose="02010509060101010101" pitchFamily="49" charset="-122"/>
                          <a:ea typeface="幼圆" panose="02010509060101010101" pitchFamily="49" charset="-122"/>
                        </a:rPr>
                        <a:t> </a:t>
                      </a:r>
                      <a:endParaRPr lang="zh-CN" sz="1600" kern="100">
                        <a:effectLst/>
                        <a:latin typeface="幼圆" panose="02010509060101010101" pitchFamily="49" charset="-122"/>
                        <a:ea typeface="幼圆" panose="02010509060101010101" pitchFamily="49" charset="-122"/>
                      </a:endParaRPr>
                    </a:p>
                  </a:txBody>
                  <a:tcPr marL="68580" marR="68580" marT="0" marB="0"/>
                </a:tc>
              </a:tr>
              <a:tr h="754167">
                <a:tc>
                  <a:txBody>
                    <a:bodyPr/>
                    <a:lstStyle/>
                    <a:p>
                      <a:pPr algn="ctr">
                        <a:spcAft>
                          <a:spcPts val="0"/>
                        </a:spcAft>
                      </a:pPr>
                      <a:r>
                        <a:rPr lang="en-US" sz="1600" kern="100">
                          <a:effectLst/>
                          <a:latin typeface="幼圆" panose="02010509060101010101" pitchFamily="49" charset="-122"/>
                          <a:ea typeface="幼圆" panose="02010509060101010101" pitchFamily="49" charset="-122"/>
                        </a:rPr>
                        <a:t>2</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ctr">
                        <a:spcAft>
                          <a:spcPts val="0"/>
                        </a:spcAft>
                      </a:pPr>
                      <a:r>
                        <a:rPr lang="zh-CN" sz="1600" kern="100">
                          <a:effectLst/>
                          <a:latin typeface="幼圆" panose="02010509060101010101" pitchFamily="49" charset="-122"/>
                          <a:ea typeface="幼圆" panose="02010509060101010101" pitchFamily="49" charset="-122"/>
                        </a:rPr>
                        <a:t>笔记本</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en-US" sz="1600" kern="100">
                          <a:effectLst/>
                          <a:latin typeface="幼圆" panose="02010509060101010101" pitchFamily="49" charset="-122"/>
                          <a:ea typeface="幼圆" panose="02010509060101010101" pitchFamily="49" charset="-122"/>
                        </a:rPr>
                        <a:t>Intel i5</a:t>
                      </a:r>
                      <a:r>
                        <a:rPr lang="zh-CN" sz="1600" kern="100">
                          <a:effectLst/>
                          <a:latin typeface="幼圆" panose="02010509060101010101" pitchFamily="49" charset="-122"/>
                          <a:ea typeface="幼圆" panose="02010509060101010101" pitchFamily="49" charset="-122"/>
                        </a:rPr>
                        <a:t>低功耗版</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登录“在线考试系统”进行答题测试</a:t>
                      </a:r>
                      <a:endParaRPr lang="zh-CN" sz="1600" kern="100" dirty="0">
                        <a:effectLst/>
                        <a:latin typeface="幼圆" panose="02010509060101010101" pitchFamily="49" charset="-122"/>
                        <a:ea typeface="幼圆" panose="02010509060101010101" pitchFamily="49" charset="-122"/>
                      </a:endParaRPr>
                    </a:p>
                  </a:txBody>
                  <a:tcPr marL="68580" marR="68580" marT="0" marB="0" anchor="ctr" anchorCtr="1"/>
                </a:tc>
                <a:tc>
                  <a:txBody>
                    <a:bodyPr/>
                    <a:lstStyle/>
                    <a:p>
                      <a:pPr algn="ctr">
                        <a:spcAft>
                          <a:spcPts val="0"/>
                        </a:spcAft>
                      </a:pPr>
                      <a:r>
                        <a:rPr lang="en-US" sz="1600" kern="100">
                          <a:effectLst/>
                          <a:latin typeface="幼圆" panose="02010509060101010101" pitchFamily="49" charset="-122"/>
                          <a:ea typeface="幼圆" panose="02010509060101010101" pitchFamily="49" charset="-122"/>
                        </a:rPr>
                        <a:t>2</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en-US" sz="1600" kern="100">
                          <a:effectLst/>
                          <a:latin typeface="幼圆" panose="02010509060101010101" pitchFamily="49" charset="-122"/>
                          <a:ea typeface="幼圆" panose="02010509060101010101" pitchFamily="49" charset="-122"/>
                        </a:rPr>
                        <a:t> </a:t>
                      </a:r>
                      <a:endParaRPr lang="zh-CN" sz="1600" kern="100">
                        <a:effectLst/>
                        <a:latin typeface="幼圆" panose="02010509060101010101" pitchFamily="49" charset="-122"/>
                        <a:ea typeface="幼圆" panose="02010509060101010101" pitchFamily="49" charset="-122"/>
                      </a:endParaRPr>
                    </a:p>
                  </a:txBody>
                  <a:tcPr marL="68580" marR="68580" marT="0" marB="0"/>
                </a:tc>
              </a:tr>
              <a:tr h="754167">
                <a:tc>
                  <a:txBody>
                    <a:bodyPr/>
                    <a:lstStyle/>
                    <a:p>
                      <a:pPr algn="ctr">
                        <a:spcAft>
                          <a:spcPts val="0"/>
                        </a:spcAft>
                      </a:pPr>
                      <a:r>
                        <a:rPr lang="en-US" sz="1600" kern="100">
                          <a:effectLst/>
                          <a:latin typeface="幼圆" panose="02010509060101010101" pitchFamily="49" charset="-122"/>
                          <a:ea typeface="幼圆" panose="02010509060101010101" pitchFamily="49" charset="-122"/>
                        </a:rPr>
                        <a:t>3</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ctr">
                        <a:spcAft>
                          <a:spcPts val="0"/>
                        </a:spcAft>
                      </a:pPr>
                      <a:r>
                        <a:rPr lang="zh-CN" sz="1600" kern="100">
                          <a:effectLst/>
                          <a:latin typeface="幼圆" panose="02010509060101010101" pitchFamily="49" charset="-122"/>
                          <a:ea typeface="幼圆" panose="02010509060101010101" pitchFamily="49" charset="-122"/>
                        </a:rPr>
                        <a:t>平板电脑</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en-US" sz="1600" kern="100">
                          <a:effectLst/>
                          <a:latin typeface="幼圆" panose="02010509060101010101" pitchFamily="49" charset="-122"/>
                          <a:ea typeface="幼圆" panose="02010509060101010101" pitchFamily="49" charset="-122"/>
                        </a:rPr>
                        <a:t>iPad MR7K2CH/A</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登录“在线考试系统”进行答题测试</a:t>
                      </a:r>
                      <a:endParaRPr lang="zh-CN" sz="1600" kern="100" dirty="0">
                        <a:effectLst/>
                        <a:latin typeface="幼圆" panose="02010509060101010101" pitchFamily="49" charset="-122"/>
                        <a:ea typeface="幼圆" panose="02010509060101010101" pitchFamily="49" charset="-122"/>
                      </a:endParaRPr>
                    </a:p>
                  </a:txBody>
                  <a:tcPr marL="68580" marR="68580" marT="0" marB="0" anchor="ctr" anchorCtr="1"/>
                </a:tc>
                <a:tc>
                  <a:txBody>
                    <a:bodyPr/>
                    <a:lstStyle/>
                    <a:p>
                      <a:pPr algn="ctr">
                        <a:spcAft>
                          <a:spcPts val="0"/>
                        </a:spcAft>
                      </a:pPr>
                      <a:r>
                        <a:rPr lang="en-US" sz="1600" kern="100">
                          <a:effectLst/>
                          <a:latin typeface="幼圆" panose="02010509060101010101" pitchFamily="49" charset="-122"/>
                          <a:ea typeface="幼圆" panose="02010509060101010101" pitchFamily="49" charset="-122"/>
                        </a:rPr>
                        <a:t>1</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en-US" sz="1600" kern="100">
                          <a:effectLst/>
                          <a:latin typeface="幼圆" panose="02010509060101010101" pitchFamily="49" charset="-122"/>
                          <a:ea typeface="幼圆" panose="02010509060101010101" pitchFamily="49" charset="-122"/>
                        </a:rPr>
                        <a:t> </a:t>
                      </a:r>
                      <a:endParaRPr lang="zh-CN" sz="1600" kern="100">
                        <a:effectLst/>
                        <a:latin typeface="幼圆" panose="02010509060101010101" pitchFamily="49" charset="-122"/>
                        <a:ea typeface="幼圆" panose="02010509060101010101" pitchFamily="49" charset="-122"/>
                      </a:endParaRPr>
                    </a:p>
                  </a:txBody>
                  <a:tcPr marL="68580" marR="68580" marT="0" marB="0"/>
                </a:tc>
              </a:tr>
              <a:tr h="754167">
                <a:tc>
                  <a:txBody>
                    <a:bodyPr/>
                    <a:lstStyle/>
                    <a:p>
                      <a:pPr algn="ctr">
                        <a:spcAft>
                          <a:spcPts val="0"/>
                        </a:spcAft>
                      </a:pPr>
                      <a:r>
                        <a:rPr lang="en-US" sz="1600" kern="100">
                          <a:effectLst/>
                          <a:latin typeface="幼圆" panose="02010509060101010101" pitchFamily="49" charset="-122"/>
                          <a:ea typeface="幼圆" panose="02010509060101010101" pitchFamily="49" charset="-122"/>
                        </a:rPr>
                        <a:t>4</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ctr">
                        <a:spcAft>
                          <a:spcPts val="0"/>
                        </a:spcAft>
                      </a:pPr>
                      <a:r>
                        <a:rPr lang="zh-CN" sz="1600" kern="100">
                          <a:effectLst/>
                          <a:latin typeface="幼圆" panose="02010509060101010101" pitchFamily="49" charset="-122"/>
                          <a:ea typeface="幼圆" panose="02010509060101010101" pitchFamily="49" charset="-122"/>
                        </a:rPr>
                        <a:t>手机</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华为</a:t>
                      </a:r>
                      <a:r>
                        <a:rPr lang="en-US" sz="1600" kern="100" dirty="0">
                          <a:effectLst/>
                          <a:latin typeface="幼圆" panose="02010509060101010101" pitchFamily="49" charset="-122"/>
                          <a:ea typeface="幼圆" panose="02010509060101010101" pitchFamily="49" charset="-122"/>
                        </a:rPr>
                        <a:t> honor AAL-AL20</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dirty="0" smtClean="0">
                          <a:effectLst/>
                          <a:latin typeface="幼圆" panose="02010509060101010101" pitchFamily="49" charset="-122"/>
                          <a:ea typeface="幼圆" panose="02010509060101010101" pitchFamily="49" charset="-122"/>
                        </a:rPr>
                        <a:t>登录“在线考试系统”进行答题测试</a:t>
                      </a:r>
                      <a:endParaRPr lang="zh-CN" sz="1600" kern="100" dirty="0">
                        <a:effectLst/>
                        <a:latin typeface="幼圆" panose="02010509060101010101" pitchFamily="49" charset="-122"/>
                        <a:ea typeface="幼圆" panose="02010509060101010101" pitchFamily="49" charset="-122"/>
                      </a:endParaRPr>
                    </a:p>
                  </a:txBody>
                  <a:tcPr marL="68580" marR="68580" marT="0" marB="0" anchor="ctr" anchorCtr="1"/>
                </a:tc>
                <a:tc>
                  <a:txBody>
                    <a:bodyPr/>
                    <a:lstStyle/>
                    <a:p>
                      <a:pPr algn="ctr">
                        <a:spcAft>
                          <a:spcPts val="0"/>
                        </a:spcAft>
                      </a:pPr>
                      <a:r>
                        <a:rPr lang="en-US" sz="1600" kern="100">
                          <a:effectLst/>
                          <a:latin typeface="幼圆" panose="02010509060101010101" pitchFamily="49" charset="-122"/>
                          <a:ea typeface="幼圆" panose="02010509060101010101" pitchFamily="49" charset="-122"/>
                        </a:rPr>
                        <a:t>2</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en-US" sz="1600" kern="100">
                          <a:effectLst/>
                          <a:latin typeface="幼圆" panose="02010509060101010101" pitchFamily="49" charset="-122"/>
                          <a:ea typeface="幼圆" panose="02010509060101010101" pitchFamily="49" charset="-122"/>
                        </a:rPr>
                        <a:t> </a:t>
                      </a:r>
                      <a:endParaRPr lang="zh-CN" sz="1600" kern="100">
                        <a:effectLst/>
                        <a:latin typeface="幼圆" panose="02010509060101010101" pitchFamily="49" charset="-122"/>
                        <a:ea typeface="幼圆" panose="02010509060101010101" pitchFamily="49" charset="-122"/>
                      </a:endParaRPr>
                    </a:p>
                  </a:txBody>
                  <a:tcPr marL="68580" marR="68580" marT="0" marB="0"/>
                </a:tc>
              </a:tr>
              <a:tr h="1005557">
                <a:tc>
                  <a:txBody>
                    <a:bodyPr/>
                    <a:lstStyle/>
                    <a:p>
                      <a:pPr algn="ctr">
                        <a:spcAft>
                          <a:spcPts val="0"/>
                        </a:spcAft>
                      </a:pPr>
                      <a:r>
                        <a:rPr lang="en-US" sz="1600" kern="100">
                          <a:effectLst/>
                          <a:latin typeface="幼圆" panose="02010509060101010101" pitchFamily="49" charset="-122"/>
                          <a:ea typeface="幼圆" panose="02010509060101010101" pitchFamily="49" charset="-122"/>
                        </a:rPr>
                        <a:t>5</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ctr">
                        <a:spcAft>
                          <a:spcPts val="0"/>
                        </a:spcAft>
                      </a:pPr>
                      <a:r>
                        <a:rPr lang="zh-CN" sz="1600" kern="100" dirty="0">
                          <a:effectLst/>
                          <a:latin typeface="幼圆" panose="02010509060101010101" pitchFamily="49" charset="-122"/>
                          <a:ea typeface="幼圆" panose="02010509060101010101" pitchFamily="49" charset="-122"/>
                        </a:rPr>
                        <a:t>服务器</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en-US" sz="1600" kern="100">
                          <a:effectLst/>
                          <a:latin typeface="幼圆" panose="02010509060101010101" pitchFamily="49" charset="-122"/>
                          <a:ea typeface="幼圆" panose="02010509060101010101" pitchFamily="49" charset="-122"/>
                        </a:rPr>
                        <a:t>Intel(R)Core(TM)i5-6600KCPU @ 3.50GHz 3.50GHz</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作为服务器使用，在上面搭建</a:t>
                      </a:r>
                      <a:r>
                        <a:rPr lang="en-US" sz="1600" kern="100" dirty="0">
                          <a:effectLst/>
                          <a:latin typeface="幼圆" panose="02010509060101010101" pitchFamily="49" charset="-122"/>
                          <a:ea typeface="幼圆" panose="02010509060101010101" pitchFamily="49" charset="-122"/>
                        </a:rPr>
                        <a:t>Apache</a:t>
                      </a:r>
                      <a:r>
                        <a:rPr lang="zh-CN" sz="1600" kern="100" dirty="0">
                          <a:effectLst/>
                          <a:latin typeface="幼圆" panose="02010509060101010101" pitchFamily="49" charset="-122"/>
                          <a:ea typeface="幼圆" panose="02010509060101010101" pitchFamily="49" charset="-122"/>
                        </a:rPr>
                        <a:t>服务器</a:t>
                      </a:r>
                      <a:endParaRPr lang="zh-CN" sz="1600" kern="100" dirty="0">
                        <a:effectLst/>
                        <a:latin typeface="幼圆" panose="02010509060101010101" pitchFamily="49" charset="-122"/>
                        <a:ea typeface="幼圆" panose="02010509060101010101" pitchFamily="49" charset="-122"/>
                      </a:endParaRPr>
                    </a:p>
                  </a:txBody>
                  <a:tcPr marL="68580" marR="68580" marT="0" marB="0" anchor="ctr" anchorCtr="1"/>
                </a:tc>
                <a:tc>
                  <a:txBody>
                    <a:bodyPr/>
                    <a:lstStyle/>
                    <a:p>
                      <a:pPr algn="ctr">
                        <a:spcAft>
                          <a:spcPts val="0"/>
                        </a:spcAft>
                      </a:pPr>
                      <a:r>
                        <a:rPr lang="en-US" sz="1600" kern="100">
                          <a:effectLst/>
                          <a:latin typeface="幼圆" panose="02010509060101010101" pitchFamily="49" charset="-122"/>
                          <a:ea typeface="幼圆" panose="02010509060101010101" pitchFamily="49" charset="-122"/>
                        </a:rPr>
                        <a:t>1</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en-US" sz="1600" kern="100" dirty="0">
                          <a:effectLst/>
                          <a:latin typeface="幼圆" panose="02010509060101010101" pitchFamily="49" charset="-122"/>
                          <a:ea typeface="幼圆" panose="02010509060101010101" pitchFamily="49" charset="-122"/>
                        </a:rPr>
                        <a:t> </a:t>
                      </a:r>
                      <a:endParaRPr lang="zh-CN" sz="1600" kern="100" dirty="0">
                        <a:effectLst/>
                        <a:latin typeface="幼圆" panose="02010509060101010101" pitchFamily="49" charset="-122"/>
                        <a:ea typeface="幼圆" panose="02010509060101010101" pitchFamily="49" charset="-122"/>
                      </a:endParaRPr>
                    </a:p>
                  </a:txBody>
                  <a:tcPr marL="68580" marR="68580" marT="0" marB="0"/>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500"/>
                                        <p:tgtEl>
                                          <p:spTgt spid="5"/>
                                        </p:tgtEl>
                                      </p:cBhvr>
                                    </p:animEffect>
                                  </p:childTnLst>
                                </p:cTn>
                              </p:par>
                            </p:childTnLst>
                          </p:cTn>
                        </p:par>
                        <p:par>
                          <p:cTn id="12" fill="hold">
                            <p:stCondLst>
                              <p:cond delay="1000"/>
                            </p:stCondLst>
                            <p:childTnLst>
                              <p:par>
                                <p:cTn id="13" presetID="16" presetClass="entr" presetSubtype="21"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barn(inVertical)">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nvSpPr>
        <p:spPr>
          <a:xfrm>
            <a:off x="1922333" y="272228"/>
            <a:ext cx="9167913" cy="5331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rgbClr val="C00000"/>
                </a:solidFill>
                <a:latin typeface="微软雅黑" panose="020B0503020204020204" pitchFamily="34" charset="-122"/>
                <a:ea typeface="微软雅黑" panose="020B0503020204020204" pitchFamily="34" charset="-122"/>
                <a:cs typeface="+mj-cs"/>
              </a:defRPr>
            </a:lvl1pPr>
          </a:lstStyle>
          <a:p>
            <a:pPr marL="0" algn="l" defTabSz="914400" rtl="0" eaLnBrk="1" latinLnBrk="0" hangingPunct="1"/>
            <a:r>
              <a:rPr lang="zh-CN" altLang="en-US" dirty="0" smtClean="0">
                <a:solidFill>
                  <a:srgbClr val="FF0000"/>
                </a:solidFill>
                <a:sym typeface="+mn-ea"/>
              </a:rPr>
              <a:t>测试报告</a:t>
            </a:r>
            <a:endParaRPr lang="zh-CN" altLang="en-US" dirty="0" smtClean="0">
              <a:solidFill>
                <a:srgbClr val="FF0000"/>
              </a:solidFill>
              <a:sym typeface="+mn-ea"/>
            </a:endParaRPr>
          </a:p>
        </p:txBody>
      </p:sp>
      <p:sp>
        <p:nvSpPr>
          <p:cNvPr id="5" name="内容占位符 2"/>
          <p:cNvSpPr txBox="1"/>
          <p:nvPr/>
        </p:nvSpPr>
        <p:spPr>
          <a:xfrm>
            <a:off x="5120641" y="1200164"/>
            <a:ext cx="2945600" cy="619012"/>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测试所需软件资源</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2" name="表格 1"/>
          <p:cNvGraphicFramePr>
            <a:graphicFrameLocks noGrp="1"/>
          </p:cNvGraphicFramePr>
          <p:nvPr/>
        </p:nvGraphicFramePr>
        <p:xfrm>
          <a:off x="1799924" y="1905799"/>
          <a:ext cx="9423134" cy="4167746"/>
        </p:xfrm>
        <a:graphic>
          <a:graphicData uri="http://schemas.openxmlformats.org/drawingml/2006/table">
            <a:tbl>
              <a:tblPr firstRow="1" firstCol="1" bandRow="1">
                <a:tableStyleId>{5C22544A-7EE6-4342-B048-85BDC9FD1C3A}</a:tableStyleId>
              </a:tblPr>
              <a:tblGrid>
                <a:gridCol w="2791327"/>
                <a:gridCol w="6631807"/>
              </a:tblGrid>
              <a:tr h="378886">
                <a:tc>
                  <a:txBody>
                    <a:bodyPr/>
                    <a:lstStyle/>
                    <a:p>
                      <a:pPr algn="ctr">
                        <a:spcAft>
                          <a:spcPts val="0"/>
                        </a:spcAft>
                      </a:pPr>
                      <a:r>
                        <a:rPr lang="zh-CN" sz="1800" kern="100" dirty="0">
                          <a:effectLst/>
                          <a:latin typeface="幼圆" panose="02010509060101010101" pitchFamily="49" charset="-122"/>
                          <a:ea typeface="幼圆" panose="02010509060101010101" pitchFamily="49" charset="-122"/>
                        </a:rPr>
                        <a:t>软件名称</a:t>
                      </a:r>
                      <a:endParaRPr lang="zh-CN" sz="1800" kern="100" dirty="0">
                        <a:effectLst/>
                        <a:latin typeface="幼圆" panose="02010509060101010101" pitchFamily="49" charset="-122"/>
                        <a:ea typeface="幼圆" panose="02010509060101010101" pitchFamily="49" charset="-122"/>
                      </a:endParaRPr>
                    </a:p>
                  </a:txBody>
                  <a:tcPr marL="68580" marR="68580" marT="0" marB="0" anchor="ctr" anchorCtr="1"/>
                </a:tc>
                <a:tc>
                  <a:txBody>
                    <a:bodyPr/>
                    <a:lstStyle/>
                    <a:p>
                      <a:pPr algn="ctr">
                        <a:spcAft>
                          <a:spcPts val="0"/>
                        </a:spcAft>
                      </a:pPr>
                      <a:r>
                        <a:rPr lang="zh-CN" sz="1800" kern="100" dirty="0">
                          <a:effectLst/>
                          <a:latin typeface="幼圆" panose="02010509060101010101" pitchFamily="49" charset="-122"/>
                          <a:ea typeface="幼圆" panose="02010509060101010101" pitchFamily="49" charset="-122"/>
                        </a:rPr>
                        <a:t>版本</a:t>
                      </a:r>
                      <a:endParaRPr lang="zh-CN" sz="1800" kern="100" dirty="0">
                        <a:effectLst/>
                        <a:latin typeface="幼圆" panose="02010509060101010101" pitchFamily="49" charset="-122"/>
                        <a:ea typeface="幼圆" panose="02010509060101010101" pitchFamily="49" charset="-122"/>
                      </a:endParaRPr>
                    </a:p>
                  </a:txBody>
                  <a:tcPr marL="68580" marR="68580" marT="0" marB="0" anchor="ctr" anchorCtr="1"/>
                </a:tc>
              </a:tr>
              <a:tr h="378886">
                <a:tc>
                  <a:txBody>
                    <a:bodyPr/>
                    <a:lstStyle/>
                    <a:p>
                      <a:pPr algn="l">
                        <a:spcAft>
                          <a:spcPts val="0"/>
                        </a:spcAft>
                      </a:pPr>
                      <a:r>
                        <a:rPr lang="en-US" sz="1800" kern="100">
                          <a:effectLst/>
                          <a:latin typeface="幼圆" panose="02010509060101010101" pitchFamily="49" charset="-122"/>
                          <a:ea typeface="幼圆" panose="02010509060101010101" pitchFamily="49" charset="-122"/>
                        </a:rPr>
                        <a:t>Windows</a:t>
                      </a:r>
                      <a:r>
                        <a:rPr lang="zh-CN" sz="1800" kern="100">
                          <a:effectLst/>
                          <a:latin typeface="幼圆" panose="02010509060101010101" pitchFamily="49" charset="-122"/>
                          <a:ea typeface="幼圆" panose="02010509060101010101" pitchFamily="49" charset="-122"/>
                        </a:rPr>
                        <a:t>操作系统</a:t>
                      </a:r>
                      <a:endParaRPr lang="zh-CN" sz="1800" kern="100">
                        <a:effectLst/>
                        <a:latin typeface="幼圆" panose="02010509060101010101" pitchFamily="49" charset="-122"/>
                        <a:ea typeface="幼圆" panose="02010509060101010101" pitchFamily="49" charset="-122"/>
                      </a:endParaRPr>
                    </a:p>
                  </a:txBody>
                  <a:tcPr marL="68580" marR="68580" marT="0" marB="0"/>
                </a:tc>
                <a:tc>
                  <a:txBody>
                    <a:bodyPr/>
                    <a:lstStyle/>
                    <a:p>
                      <a:pPr algn="just">
                        <a:spcAft>
                          <a:spcPts val="0"/>
                        </a:spcAft>
                      </a:pPr>
                      <a:r>
                        <a:rPr lang="en-US" sz="1800" kern="100">
                          <a:effectLst/>
                          <a:latin typeface="幼圆" panose="02010509060101010101" pitchFamily="49" charset="-122"/>
                          <a:ea typeface="幼圆" panose="02010509060101010101" pitchFamily="49" charset="-122"/>
                        </a:rPr>
                        <a:t>Windows7 </a:t>
                      </a:r>
                      <a:r>
                        <a:rPr lang="zh-CN" sz="1800" kern="100">
                          <a:effectLst/>
                          <a:latin typeface="幼圆" panose="02010509060101010101" pitchFamily="49" charset="-122"/>
                          <a:ea typeface="幼圆" panose="02010509060101010101" pitchFamily="49" charset="-122"/>
                        </a:rPr>
                        <a:t>旗舰版、</a:t>
                      </a:r>
                      <a:r>
                        <a:rPr lang="en-US" sz="1800" kern="100">
                          <a:effectLst/>
                          <a:latin typeface="幼圆" panose="02010509060101010101" pitchFamily="49" charset="-122"/>
                          <a:ea typeface="幼圆" panose="02010509060101010101" pitchFamily="49" charset="-122"/>
                        </a:rPr>
                        <a:t>Windows10</a:t>
                      </a:r>
                      <a:endParaRPr lang="zh-CN" sz="1800" kern="100">
                        <a:effectLst/>
                        <a:latin typeface="幼圆" panose="02010509060101010101" pitchFamily="49" charset="-122"/>
                        <a:ea typeface="幼圆" panose="02010509060101010101" pitchFamily="49" charset="-122"/>
                      </a:endParaRPr>
                    </a:p>
                  </a:txBody>
                  <a:tcPr marL="68580" marR="68580" marT="0" marB="0"/>
                </a:tc>
              </a:tr>
              <a:tr h="378886">
                <a:tc>
                  <a:txBody>
                    <a:bodyPr/>
                    <a:lstStyle/>
                    <a:p>
                      <a:pPr algn="just">
                        <a:spcAft>
                          <a:spcPts val="0"/>
                        </a:spcAft>
                      </a:pPr>
                      <a:r>
                        <a:rPr lang="en-US" sz="1800" kern="100">
                          <a:effectLst/>
                          <a:latin typeface="幼圆" panose="02010509060101010101" pitchFamily="49" charset="-122"/>
                          <a:ea typeface="幼圆" panose="02010509060101010101" pitchFamily="49" charset="-122"/>
                        </a:rPr>
                        <a:t>Android</a:t>
                      </a:r>
                      <a:r>
                        <a:rPr lang="zh-CN" sz="1800" kern="100">
                          <a:effectLst/>
                          <a:latin typeface="幼圆" panose="02010509060101010101" pitchFamily="49" charset="-122"/>
                          <a:ea typeface="幼圆" panose="02010509060101010101" pitchFamily="49" charset="-122"/>
                        </a:rPr>
                        <a:t>操作系统</a:t>
                      </a:r>
                      <a:endParaRPr lang="zh-CN" sz="1800" kern="100">
                        <a:effectLst/>
                        <a:latin typeface="幼圆" panose="02010509060101010101" pitchFamily="49" charset="-122"/>
                        <a:ea typeface="幼圆" panose="02010509060101010101" pitchFamily="49" charset="-122"/>
                      </a:endParaRPr>
                    </a:p>
                  </a:txBody>
                  <a:tcPr marL="68580" marR="68580" marT="0" marB="0"/>
                </a:tc>
                <a:tc>
                  <a:txBody>
                    <a:bodyPr/>
                    <a:lstStyle/>
                    <a:p>
                      <a:pPr algn="just">
                        <a:spcAft>
                          <a:spcPts val="0"/>
                        </a:spcAft>
                      </a:pPr>
                      <a:r>
                        <a:rPr lang="en-US" sz="1800" kern="100">
                          <a:effectLst/>
                          <a:latin typeface="幼圆" panose="02010509060101010101" pitchFamily="49" charset="-122"/>
                          <a:ea typeface="幼圆" panose="02010509060101010101" pitchFamily="49" charset="-122"/>
                        </a:rPr>
                        <a:t>Android 8.0.0</a:t>
                      </a:r>
                      <a:endParaRPr lang="zh-CN" sz="1800" kern="100">
                        <a:effectLst/>
                        <a:latin typeface="幼圆" panose="02010509060101010101" pitchFamily="49" charset="-122"/>
                        <a:ea typeface="幼圆" panose="02010509060101010101" pitchFamily="49" charset="-122"/>
                      </a:endParaRPr>
                    </a:p>
                  </a:txBody>
                  <a:tcPr marL="68580" marR="68580" marT="0" marB="0"/>
                </a:tc>
              </a:tr>
              <a:tr h="378886">
                <a:tc>
                  <a:txBody>
                    <a:bodyPr/>
                    <a:lstStyle/>
                    <a:p>
                      <a:pPr algn="just">
                        <a:spcAft>
                          <a:spcPts val="0"/>
                        </a:spcAft>
                      </a:pPr>
                      <a:r>
                        <a:rPr lang="en-US" sz="1800" kern="100">
                          <a:effectLst/>
                          <a:latin typeface="幼圆" panose="02010509060101010101" pitchFamily="49" charset="-122"/>
                          <a:ea typeface="幼圆" panose="02010509060101010101" pitchFamily="49" charset="-122"/>
                        </a:rPr>
                        <a:t>iOS</a:t>
                      </a:r>
                      <a:r>
                        <a:rPr lang="zh-CN" sz="1800" kern="100">
                          <a:effectLst/>
                          <a:latin typeface="幼圆" panose="02010509060101010101" pitchFamily="49" charset="-122"/>
                          <a:ea typeface="幼圆" panose="02010509060101010101" pitchFamily="49" charset="-122"/>
                        </a:rPr>
                        <a:t>操作系统</a:t>
                      </a:r>
                      <a:endParaRPr lang="zh-CN" sz="1800" kern="100">
                        <a:effectLst/>
                        <a:latin typeface="幼圆" panose="02010509060101010101" pitchFamily="49" charset="-122"/>
                        <a:ea typeface="幼圆" panose="02010509060101010101" pitchFamily="49" charset="-122"/>
                      </a:endParaRPr>
                    </a:p>
                  </a:txBody>
                  <a:tcPr marL="68580" marR="68580" marT="0" marB="0"/>
                </a:tc>
                <a:tc>
                  <a:txBody>
                    <a:bodyPr/>
                    <a:lstStyle/>
                    <a:p>
                      <a:pPr algn="just">
                        <a:spcAft>
                          <a:spcPts val="0"/>
                        </a:spcAft>
                      </a:pPr>
                      <a:r>
                        <a:rPr lang="en-US" sz="1800" kern="100">
                          <a:effectLst/>
                          <a:latin typeface="幼圆" panose="02010509060101010101" pitchFamily="49" charset="-122"/>
                          <a:ea typeface="幼圆" panose="02010509060101010101" pitchFamily="49" charset="-122"/>
                        </a:rPr>
                        <a:t>iOS 11</a:t>
                      </a:r>
                      <a:endParaRPr lang="zh-CN" sz="1800" kern="100">
                        <a:effectLst/>
                        <a:latin typeface="幼圆" panose="02010509060101010101" pitchFamily="49" charset="-122"/>
                        <a:ea typeface="幼圆" panose="02010509060101010101" pitchFamily="49" charset="-122"/>
                      </a:endParaRPr>
                    </a:p>
                  </a:txBody>
                  <a:tcPr marL="68580" marR="68580" marT="0" marB="0"/>
                </a:tc>
              </a:tr>
              <a:tr h="378886">
                <a:tc>
                  <a:txBody>
                    <a:bodyPr/>
                    <a:lstStyle/>
                    <a:p>
                      <a:pPr algn="just">
                        <a:spcAft>
                          <a:spcPts val="0"/>
                        </a:spcAft>
                      </a:pPr>
                      <a:r>
                        <a:rPr lang="en-US" sz="1800" kern="100">
                          <a:effectLst/>
                          <a:latin typeface="幼圆" panose="02010509060101010101" pitchFamily="49" charset="-122"/>
                          <a:ea typeface="幼圆" panose="02010509060101010101" pitchFamily="49" charset="-122"/>
                        </a:rPr>
                        <a:t>Google</a:t>
                      </a:r>
                      <a:r>
                        <a:rPr lang="zh-CN" sz="1800" kern="100">
                          <a:effectLst/>
                          <a:latin typeface="幼圆" panose="02010509060101010101" pitchFamily="49" charset="-122"/>
                          <a:ea typeface="幼圆" panose="02010509060101010101" pitchFamily="49" charset="-122"/>
                        </a:rPr>
                        <a:t>浏览器</a:t>
                      </a:r>
                      <a:endParaRPr lang="zh-CN" sz="1800" kern="100">
                        <a:effectLst/>
                        <a:latin typeface="幼圆" panose="02010509060101010101" pitchFamily="49" charset="-122"/>
                        <a:ea typeface="幼圆" panose="02010509060101010101" pitchFamily="49" charset="-122"/>
                      </a:endParaRPr>
                    </a:p>
                  </a:txBody>
                  <a:tcPr marL="68580" marR="68580" marT="0" marB="0"/>
                </a:tc>
                <a:tc>
                  <a:txBody>
                    <a:bodyPr/>
                    <a:lstStyle/>
                    <a:p>
                      <a:pPr algn="just">
                        <a:spcAft>
                          <a:spcPts val="0"/>
                        </a:spcAft>
                      </a:pPr>
                      <a:r>
                        <a:rPr lang="en-US" sz="1800" kern="100">
                          <a:effectLst/>
                          <a:latin typeface="幼圆" panose="02010509060101010101" pitchFamily="49" charset="-122"/>
                          <a:ea typeface="幼圆" panose="02010509060101010101" pitchFamily="49" charset="-122"/>
                        </a:rPr>
                        <a:t>71.0.3578.98</a:t>
                      </a:r>
                      <a:r>
                        <a:rPr lang="zh-CN" sz="1800" kern="100">
                          <a:effectLst/>
                          <a:latin typeface="幼圆" panose="02010509060101010101" pitchFamily="49" charset="-122"/>
                          <a:ea typeface="幼圆" panose="02010509060101010101" pitchFamily="49" charset="-122"/>
                        </a:rPr>
                        <a:t>（</a:t>
                      </a:r>
                      <a:r>
                        <a:rPr lang="en-US" sz="1800" kern="100">
                          <a:effectLst/>
                          <a:latin typeface="幼圆" panose="02010509060101010101" pitchFamily="49" charset="-122"/>
                          <a:ea typeface="幼圆" panose="02010509060101010101" pitchFamily="49" charset="-122"/>
                        </a:rPr>
                        <a:t>64</a:t>
                      </a:r>
                      <a:r>
                        <a:rPr lang="zh-CN" sz="1800" kern="100">
                          <a:effectLst/>
                          <a:latin typeface="幼圆" panose="02010509060101010101" pitchFamily="49" charset="-122"/>
                          <a:ea typeface="幼圆" panose="02010509060101010101" pitchFamily="49" charset="-122"/>
                        </a:rPr>
                        <a:t>位正式版本）</a:t>
                      </a:r>
                      <a:endParaRPr lang="zh-CN" sz="1800" kern="100">
                        <a:effectLst/>
                        <a:latin typeface="幼圆" panose="02010509060101010101" pitchFamily="49" charset="-122"/>
                        <a:ea typeface="幼圆" panose="02010509060101010101" pitchFamily="49" charset="-122"/>
                      </a:endParaRPr>
                    </a:p>
                  </a:txBody>
                  <a:tcPr marL="68580" marR="68580" marT="0" marB="0"/>
                </a:tc>
              </a:tr>
              <a:tr h="378886">
                <a:tc>
                  <a:txBody>
                    <a:bodyPr/>
                    <a:lstStyle/>
                    <a:p>
                      <a:pPr algn="just">
                        <a:spcAft>
                          <a:spcPts val="0"/>
                        </a:spcAft>
                      </a:pPr>
                      <a:r>
                        <a:rPr lang="en-US" sz="1800" kern="100">
                          <a:effectLst/>
                          <a:latin typeface="幼圆" panose="02010509060101010101" pitchFamily="49" charset="-122"/>
                          <a:ea typeface="幼圆" panose="02010509060101010101" pitchFamily="49" charset="-122"/>
                        </a:rPr>
                        <a:t>Firefox</a:t>
                      </a:r>
                      <a:endParaRPr lang="zh-CN" sz="1800" kern="100">
                        <a:effectLst/>
                        <a:latin typeface="幼圆" panose="02010509060101010101" pitchFamily="49" charset="-122"/>
                        <a:ea typeface="幼圆" panose="02010509060101010101" pitchFamily="49" charset="-122"/>
                      </a:endParaRPr>
                    </a:p>
                  </a:txBody>
                  <a:tcPr marL="68580" marR="68580" marT="0" marB="0"/>
                </a:tc>
                <a:tc>
                  <a:txBody>
                    <a:bodyPr/>
                    <a:lstStyle/>
                    <a:p>
                      <a:pPr algn="just">
                        <a:spcAft>
                          <a:spcPts val="0"/>
                        </a:spcAft>
                      </a:pPr>
                      <a:r>
                        <a:rPr lang="en-US" sz="1800" kern="100">
                          <a:effectLst/>
                          <a:latin typeface="幼圆" panose="02010509060101010101" pitchFamily="49" charset="-122"/>
                          <a:ea typeface="幼圆" panose="02010509060101010101" pitchFamily="49" charset="-122"/>
                        </a:rPr>
                        <a:t>66.0.2</a:t>
                      </a:r>
                      <a:r>
                        <a:rPr lang="zh-CN" sz="1800" kern="100">
                          <a:effectLst/>
                          <a:latin typeface="幼圆" panose="02010509060101010101" pitchFamily="49" charset="-122"/>
                          <a:ea typeface="幼圆" panose="02010509060101010101" pitchFamily="49" charset="-122"/>
                        </a:rPr>
                        <a:t>（</a:t>
                      </a:r>
                      <a:r>
                        <a:rPr lang="en-US" sz="1800" kern="100">
                          <a:effectLst/>
                          <a:latin typeface="幼圆" panose="02010509060101010101" pitchFamily="49" charset="-122"/>
                          <a:ea typeface="幼圆" panose="02010509060101010101" pitchFamily="49" charset="-122"/>
                        </a:rPr>
                        <a:t>64</a:t>
                      </a:r>
                      <a:r>
                        <a:rPr lang="zh-CN" sz="1800" kern="100">
                          <a:effectLst/>
                          <a:latin typeface="幼圆" panose="02010509060101010101" pitchFamily="49" charset="-122"/>
                          <a:ea typeface="幼圆" panose="02010509060101010101" pitchFamily="49" charset="-122"/>
                        </a:rPr>
                        <a:t>位</a:t>
                      </a:r>
                      <a:r>
                        <a:rPr lang="en-US" sz="1800" kern="100">
                          <a:effectLst/>
                          <a:latin typeface="幼圆" panose="02010509060101010101" pitchFamily="49" charset="-122"/>
                          <a:ea typeface="幼圆" panose="02010509060101010101" pitchFamily="49" charset="-122"/>
                        </a:rPr>
                        <a:t>0</a:t>
                      </a:r>
                      <a:endParaRPr lang="zh-CN" sz="1800" kern="100">
                        <a:effectLst/>
                        <a:latin typeface="幼圆" panose="02010509060101010101" pitchFamily="49" charset="-122"/>
                        <a:ea typeface="幼圆" panose="02010509060101010101" pitchFamily="49" charset="-122"/>
                      </a:endParaRPr>
                    </a:p>
                  </a:txBody>
                  <a:tcPr marL="68580" marR="68580" marT="0" marB="0"/>
                </a:tc>
              </a:tr>
              <a:tr h="378886">
                <a:tc>
                  <a:txBody>
                    <a:bodyPr/>
                    <a:lstStyle/>
                    <a:p>
                      <a:pPr algn="just">
                        <a:spcAft>
                          <a:spcPts val="0"/>
                        </a:spcAft>
                      </a:pPr>
                      <a:r>
                        <a:rPr lang="en-US" sz="1800" kern="100">
                          <a:effectLst/>
                          <a:latin typeface="幼圆" panose="02010509060101010101" pitchFamily="49" charset="-122"/>
                          <a:ea typeface="幼圆" panose="02010509060101010101" pitchFamily="49" charset="-122"/>
                        </a:rPr>
                        <a:t>IE</a:t>
                      </a:r>
                      <a:endParaRPr lang="zh-CN" sz="1800" kern="100">
                        <a:effectLst/>
                        <a:latin typeface="幼圆" panose="02010509060101010101" pitchFamily="49" charset="-122"/>
                        <a:ea typeface="幼圆" panose="02010509060101010101" pitchFamily="49" charset="-122"/>
                      </a:endParaRPr>
                    </a:p>
                  </a:txBody>
                  <a:tcPr marL="68580" marR="68580" marT="0" marB="0"/>
                </a:tc>
                <a:tc>
                  <a:txBody>
                    <a:bodyPr/>
                    <a:lstStyle/>
                    <a:p>
                      <a:pPr algn="just">
                        <a:spcAft>
                          <a:spcPts val="0"/>
                        </a:spcAft>
                      </a:pPr>
                      <a:r>
                        <a:rPr lang="en-US" sz="1800" kern="100">
                          <a:effectLst/>
                          <a:latin typeface="幼圆" panose="02010509060101010101" pitchFamily="49" charset="-122"/>
                          <a:ea typeface="幼圆" panose="02010509060101010101" pitchFamily="49" charset="-122"/>
                        </a:rPr>
                        <a:t>IE9</a:t>
                      </a:r>
                      <a:endParaRPr lang="zh-CN" sz="1800" kern="100">
                        <a:effectLst/>
                        <a:latin typeface="幼圆" panose="02010509060101010101" pitchFamily="49" charset="-122"/>
                        <a:ea typeface="幼圆" panose="02010509060101010101" pitchFamily="49" charset="-122"/>
                      </a:endParaRPr>
                    </a:p>
                  </a:txBody>
                  <a:tcPr marL="68580" marR="68580" marT="0" marB="0"/>
                </a:tc>
              </a:tr>
              <a:tr h="378886">
                <a:tc>
                  <a:txBody>
                    <a:bodyPr/>
                    <a:lstStyle/>
                    <a:p>
                      <a:pPr algn="just">
                        <a:spcAft>
                          <a:spcPts val="0"/>
                        </a:spcAft>
                      </a:pPr>
                      <a:r>
                        <a:rPr lang="en-US" sz="1800" kern="100">
                          <a:effectLst/>
                          <a:latin typeface="幼圆" panose="02010509060101010101" pitchFamily="49" charset="-122"/>
                          <a:ea typeface="幼圆" panose="02010509060101010101" pitchFamily="49" charset="-122"/>
                        </a:rPr>
                        <a:t>Safari</a:t>
                      </a:r>
                      <a:endParaRPr lang="zh-CN" sz="1800" kern="100">
                        <a:effectLst/>
                        <a:latin typeface="幼圆" panose="02010509060101010101" pitchFamily="49" charset="-122"/>
                        <a:ea typeface="幼圆" panose="02010509060101010101" pitchFamily="49" charset="-122"/>
                      </a:endParaRPr>
                    </a:p>
                  </a:txBody>
                  <a:tcPr marL="68580" marR="68580" marT="0" marB="0"/>
                </a:tc>
                <a:tc>
                  <a:txBody>
                    <a:bodyPr/>
                    <a:lstStyle/>
                    <a:p>
                      <a:pPr algn="just">
                        <a:spcAft>
                          <a:spcPts val="0"/>
                        </a:spcAft>
                      </a:pPr>
                      <a:r>
                        <a:rPr lang="en-US" sz="1800" kern="100">
                          <a:effectLst/>
                          <a:latin typeface="幼圆" panose="02010509060101010101" pitchFamily="49" charset="-122"/>
                          <a:ea typeface="幼圆" panose="02010509060101010101" pitchFamily="49" charset="-122"/>
                        </a:rPr>
                        <a:t>12.1.1</a:t>
                      </a:r>
                      <a:endParaRPr lang="zh-CN" sz="1800" kern="100">
                        <a:effectLst/>
                        <a:latin typeface="幼圆" panose="02010509060101010101" pitchFamily="49" charset="-122"/>
                        <a:ea typeface="幼圆" panose="02010509060101010101" pitchFamily="49" charset="-122"/>
                      </a:endParaRPr>
                    </a:p>
                  </a:txBody>
                  <a:tcPr marL="68580" marR="68580" marT="0" marB="0"/>
                </a:tc>
              </a:tr>
              <a:tr h="378886">
                <a:tc>
                  <a:txBody>
                    <a:bodyPr/>
                    <a:lstStyle/>
                    <a:p>
                      <a:pPr algn="just">
                        <a:spcAft>
                          <a:spcPts val="0"/>
                        </a:spcAft>
                      </a:pPr>
                      <a:r>
                        <a:rPr lang="en-US" sz="1800" kern="100">
                          <a:effectLst/>
                          <a:latin typeface="幼圆" panose="02010509060101010101" pitchFamily="49" charset="-122"/>
                          <a:ea typeface="幼圆" panose="02010509060101010101" pitchFamily="49" charset="-122"/>
                        </a:rPr>
                        <a:t>Opera</a:t>
                      </a:r>
                      <a:endParaRPr lang="zh-CN" sz="1800" kern="100">
                        <a:effectLst/>
                        <a:latin typeface="幼圆" panose="02010509060101010101" pitchFamily="49" charset="-122"/>
                        <a:ea typeface="幼圆" panose="02010509060101010101" pitchFamily="49" charset="-122"/>
                      </a:endParaRPr>
                    </a:p>
                  </a:txBody>
                  <a:tcPr marL="68580" marR="68580" marT="0" marB="0"/>
                </a:tc>
                <a:tc>
                  <a:txBody>
                    <a:bodyPr/>
                    <a:lstStyle/>
                    <a:p>
                      <a:pPr algn="just">
                        <a:spcAft>
                          <a:spcPts val="0"/>
                        </a:spcAft>
                      </a:pPr>
                      <a:r>
                        <a:rPr lang="en-US" sz="1800" kern="100">
                          <a:effectLst/>
                          <a:latin typeface="幼圆" panose="02010509060101010101" pitchFamily="49" charset="-122"/>
                          <a:ea typeface="幼圆" panose="02010509060101010101" pitchFamily="49" charset="-122"/>
                        </a:rPr>
                        <a:t>58.0</a:t>
                      </a:r>
                      <a:endParaRPr lang="zh-CN" sz="1800" kern="100">
                        <a:effectLst/>
                        <a:latin typeface="幼圆" panose="02010509060101010101" pitchFamily="49" charset="-122"/>
                        <a:ea typeface="幼圆" panose="02010509060101010101" pitchFamily="49" charset="-122"/>
                      </a:endParaRPr>
                    </a:p>
                  </a:txBody>
                  <a:tcPr marL="68580" marR="68580" marT="0" marB="0"/>
                </a:tc>
              </a:tr>
              <a:tr h="378886">
                <a:tc>
                  <a:txBody>
                    <a:bodyPr/>
                    <a:lstStyle/>
                    <a:p>
                      <a:pPr algn="just">
                        <a:spcAft>
                          <a:spcPts val="0"/>
                        </a:spcAft>
                      </a:pPr>
                      <a:r>
                        <a:rPr lang="zh-CN" sz="1800" kern="100">
                          <a:effectLst/>
                          <a:latin typeface="幼圆" panose="02010509060101010101" pitchFamily="49" charset="-122"/>
                          <a:ea typeface="幼圆" panose="02010509060101010101" pitchFamily="49" charset="-122"/>
                        </a:rPr>
                        <a:t>测试工具</a:t>
                      </a:r>
                      <a:endParaRPr lang="zh-CN" sz="1800" kern="100">
                        <a:effectLst/>
                        <a:latin typeface="幼圆" panose="02010509060101010101" pitchFamily="49" charset="-122"/>
                        <a:ea typeface="幼圆" panose="02010509060101010101" pitchFamily="49" charset="-122"/>
                      </a:endParaRPr>
                    </a:p>
                  </a:txBody>
                  <a:tcPr marL="68580" marR="68580" marT="0" marB="0"/>
                </a:tc>
                <a:tc>
                  <a:txBody>
                    <a:bodyPr/>
                    <a:lstStyle/>
                    <a:p>
                      <a:pPr algn="just">
                        <a:spcAft>
                          <a:spcPts val="0"/>
                        </a:spcAft>
                      </a:pPr>
                      <a:r>
                        <a:rPr lang="en-US" sz="1800" kern="100">
                          <a:effectLst/>
                          <a:latin typeface="幼圆" panose="02010509060101010101" pitchFamily="49" charset="-122"/>
                          <a:ea typeface="幼圆" panose="02010509060101010101" pitchFamily="49" charset="-122"/>
                        </a:rPr>
                        <a:t>Selenium+Python</a:t>
                      </a:r>
                      <a:r>
                        <a:rPr lang="zh-CN" sz="1800" kern="100">
                          <a:effectLst/>
                          <a:latin typeface="幼圆" panose="02010509060101010101" pitchFamily="49" charset="-122"/>
                          <a:ea typeface="幼圆" panose="02010509060101010101" pitchFamily="49" charset="-122"/>
                        </a:rPr>
                        <a:t>自动化测试、</a:t>
                      </a:r>
                      <a:r>
                        <a:rPr lang="en-US" sz="1800" kern="100">
                          <a:effectLst/>
                          <a:latin typeface="幼圆" panose="02010509060101010101" pitchFamily="49" charset="-122"/>
                          <a:ea typeface="幼圆" panose="02010509060101010101" pitchFamily="49" charset="-122"/>
                        </a:rPr>
                        <a:t>Katalon Recorder</a:t>
                      </a:r>
                      <a:endParaRPr lang="zh-CN" sz="1800" kern="100">
                        <a:effectLst/>
                        <a:latin typeface="幼圆" panose="02010509060101010101" pitchFamily="49" charset="-122"/>
                        <a:ea typeface="幼圆" panose="02010509060101010101" pitchFamily="49" charset="-122"/>
                      </a:endParaRPr>
                    </a:p>
                  </a:txBody>
                  <a:tcPr marL="68580" marR="68580" marT="0" marB="0"/>
                </a:tc>
              </a:tr>
              <a:tr h="378886">
                <a:tc>
                  <a:txBody>
                    <a:bodyPr/>
                    <a:lstStyle/>
                    <a:p>
                      <a:pPr algn="just">
                        <a:spcAft>
                          <a:spcPts val="0"/>
                        </a:spcAft>
                      </a:pPr>
                      <a:r>
                        <a:rPr lang="zh-CN" sz="1800" kern="100" dirty="0">
                          <a:effectLst/>
                          <a:latin typeface="幼圆" panose="02010509060101010101" pitchFamily="49" charset="-122"/>
                          <a:ea typeface="幼圆" panose="02010509060101010101" pitchFamily="49" charset="-122"/>
                        </a:rPr>
                        <a:t>测试管理工具</a:t>
                      </a:r>
                      <a:endParaRPr lang="zh-CN" sz="1800" kern="100" dirty="0">
                        <a:effectLst/>
                        <a:latin typeface="幼圆" panose="02010509060101010101" pitchFamily="49" charset="-122"/>
                        <a:ea typeface="幼圆" panose="02010509060101010101" pitchFamily="49" charset="-122"/>
                      </a:endParaRPr>
                    </a:p>
                  </a:txBody>
                  <a:tcPr marL="68580" marR="68580" marT="0" marB="0"/>
                </a:tc>
                <a:tc>
                  <a:txBody>
                    <a:bodyPr/>
                    <a:lstStyle/>
                    <a:p>
                      <a:pPr algn="just">
                        <a:spcAft>
                          <a:spcPts val="0"/>
                        </a:spcAft>
                      </a:pPr>
                      <a:r>
                        <a:rPr lang="zh-CN" sz="1800" kern="100" dirty="0">
                          <a:effectLst/>
                          <a:latin typeface="幼圆" panose="02010509060101010101" pitchFamily="49" charset="-122"/>
                          <a:ea typeface="幼圆" panose="02010509060101010101" pitchFamily="49" charset="-122"/>
                        </a:rPr>
                        <a:t>禅道</a:t>
                      </a:r>
                      <a:endParaRPr lang="zh-CN" sz="1800" kern="100" dirty="0">
                        <a:effectLst/>
                        <a:latin typeface="幼圆" panose="02010509060101010101" pitchFamily="49" charset="-122"/>
                        <a:ea typeface="幼圆" panose="02010509060101010101" pitchFamily="49" charset="-122"/>
                      </a:endParaRPr>
                    </a:p>
                  </a:txBody>
                  <a:tcPr marL="68580" marR="68580" marT="0" marB="0"/>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arn(inVertical)">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nvSpPr>
        <p:spPr>
          <a:xfrm>
            <a:off x="1922333" y="272228"/>
            <a:ext cx="9167913" cy="5331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rgbClr val="C00000"/>
                </a:solidFill>
                <a:latin typeface="微软雅黑" panose="020B0503020204020204" pitchFamily="34" charset="-122"/>
                <a:ea typeface="微软雅黑" panose="020B0503020204020204" pitchFamily="34" charset="-122"/>
                <a:cs typeface="+mj-cs"/>
              </a:defRPr>
            </a:lvl1pPr>
          </a:lstStyle>
          <a:p>
            <a:pPr marL="0" algn="l" defTabSz="914400" rtl="0" eaLnBrk="1" latinLnBrk="0" hangingPunct="1"/>
            <a:r>
              <a:rPr lang="zh-CN" altLang="en-US" dirty="0" smtClean="0">
                <a:solidFill>
                  <a:srgbClr val="FF0000"/>
                </a:solidFill>
                <a:sym typeface="+mn-ea"/>
              </a:rPr>
              <a:t>测试报告</a:t>
            </a:r>
            <a:endParaRPr lang="zh-CN" altLang="en-US" dirty="0" smtClean="0">
              <a:solidFill>
                <a:srgbClr val="FF0000"/>
              </a:solidFill>
              <a:sym typeface="+mn-ea"/>
            </a:endParaRPr>
          </a:p>
        </p:txBody>
      </p:sp>
      <p:sp>
        <p:nvSpPr>
          <p:cNvPr id="5" name="内容占位符 2"/>
          <p:cNvSpPr txBox="1"/>
          <p:nvPr/>
        </p:nvSpPr>
        <p:spPr>
          <a:xfrm>
            <a:off x="2512194" y="1392669"/>
            <a:ext cx="2752824" cy="619012"/>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测试环境拓扑图</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4" name="对象 3"/>
          <p:cNvGraphicFramePr>
            <a:graphicFrameLocks noChangeAspect="1"/>
          </p:cNvGraphicFramePr>
          <p:nvPr/>
        </p:nvGraphicFramePr>
        <p:xfrm>
          <a:off x="5544152" y="1402294"/>
          <a:ext cx="4661622" cy="4661622"/>
        </p:xfrm>
        <a:graphic>
          <a:graphicData uri="http://schemas.openxmlformats.org/presentationml/2006/ole">
            <mc:AlternateContent xmlns:mc="http://schemas.openxmlformats.org/markup-compatibility/2006">
              <mc:Choice xmlns:v="urn:schemas-microsoft-com:vml" Requires="v">
                <p:oleObj spid="_x0000_s350221" name="Visio" r:id="rId1" imgW="5283200" imgH="5295900" progId="Visio.Drawing.11">
                  <p:embed/>
                </p:oleObj>
              </mc:Choice>
              <mc:Fallback>
                <p:oleObj name="Visio" r:id="rId1" imgW="5283200" imgH="5295900" progId="Visio.Drawing.11">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44152" y="1402294"/>
                        <a:ext cx="4661622" cy="4661622"/>
                      </a:xfrm>
                      <a:prstGeom prst="rect">
                        <a:avLst/>
                      </a:prstGeom>
                      <a:noFill/>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up)">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nvSpPr>
        <p:spPr>
          <a:xfrm>
            <a:off x="1922333" y="272228"/>
            <a:ext cx="9167913" cy="5331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rgbClr val="C00000"/>
                </a:solidFill>
                <a:latin typeface="微软雅黑" panose="020B0503020204020204" pitchFamily="34" charset="-122"/>
                <a:ea typeface="微软雅黑" panose="020B0503020204020204" pitchFamily="34" charset="-122"/>
                <a:cs typeface="+mj-cs"/>
              </a:defRPr>
            </a:lvl1pPr>
          </a:lstStyle>
          <a:p>
            <a:pPr marL="0" algn="l" defTabSz="914400" rtl="0" eaLnBrk="1" latinLnBrk="0" hangingPunct="1"/>
            <a:r>
              <a:rPr lang="zh-CN" altLang="en-US" dirty="0" smtClean="0">
                <a:solidFill>
                  <a:srgbClr val="FF0000"/>
                </a:solidFill>
                <a:sym typeface="+mn-ea"/>
              </a:rPr>
              <a:t>测试报告</a:t>
            </a:r>
            <a:endParaRPr lang="zh-CN" altLang="en-US" dirty="0" smtClean="0">
              <a:solidFill>
                <a:srgbClr val="FF0000"/>
              </a:solidFill>
              <a:sym typeface="+mn-ea"/>
            </a:endParaRPr>
          </a:p>
        </p:txBody>
      </p:sp>
      <p:sp>
        <p:nvSpPr>
          <p:cNvPr id="5" name="内容占位符 2"/>
          <p:cNvSpPr txBox="1"/>
          <p:nvPr/>
        </p:nvSpPr>
        <p:spPr>
          <a:xfrm>
            <a:off x="1491921" y="1373418"/>
            <a:ext cx="2820202" cy="75376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三、测试范围说明</a:t>
            </a:r>
            <a:endPar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2" name="表格 1"/>
          <p:cNvGraphicFramePr>
            <a:graphicFrameLocks noGrp="1"/>
          </p:cNvGraphicFramePr>
          <p:nvPr/>
        </p:nvGraphicFramePr>
        <p:xfrm>
          <a:off x="4504623" y="1373407"/>
          <a:ext cx="6628700" cy="4815443"/>
        </p:xfrm>
        <a:graphic>
          <a:graphicData uri="http://schemas.openxmlformats.org/drawingml/2006/table">
            <a:tbl>
              <a:tblPr firstRow="1" firstCol="1" bandRow="1">
                <a:tableStyleId>{5C22544A-7EE6-4342-B048-85BDC9FD1C3A}</a:tableStyleId>
              </a:tblPr>
              <a:tblGrid>
                <a:gridCol w="981777"/>
                <a:gridCol w="1905802"/>
                <a:gridCol w="2175310"/>
                <a:gridCol w="1565811"/>
              </a:tblGrid>
              <a:tr h="301389">
                <a:tc>
                  <a:txBody>
                    <a:bodyPr/>
                    <a:lstStyle/>
                    <a:p>
                      <a:pPr algn="ctr">
                        <a:spcAft>
                          <a:spcPts val="0"/>
                        </a:spcAft>
                      </a:pPr>
                      <a:r>
                        <a:rPr lang="zh-CN" sz="1400" kern="100" dirty="0">
                          <a:effectLst/>
                          <a:latin typeface="幼圆" panose="02010509060101010101" pitchFamily="49" charset="-122"/>
                          <a:ea typeface="幼圆" panose="02010509060101010101" pitchFamily="49" charset="-122"/>
                        </a:rPr>
                        <a:t>序号</a:t>
                      </a:r>
                      <a:endParaRPr lang="zh-CN" sz="1400" kern="100" dirty="0">
                        <a:effectLst/>
                        <a:latin typeface="幼圆" panose="02010509060101010101" pitchFamily="49" charset="-122"/>
                        <a:ea typeface="幼圆" panose="02010509060101010101" pitchFamily="49" charset="-122"/>
                      </a:endParaRPr>
                    </a:p>
                  </a:txBody>
                  <a:tcPr marL="68580" marR="68580" marT="0" marB="0" anchor="ctr" anchorCtr="1"/>
                </a:tc>
                <a:tc>
                  <a:txBody>
                    <a:bodyPr/>
                    <a:lstStyle/>
                    <a:p>
                      <a:pPr algn="ctr">
                        <a:spcAft>
                          <a:spcPts val="0"/>
                        </a:spcAft>
                      </a:pPr>
                      <a:r>
                        <a:rPr lang="zh-CN" sz="1400" kern="100" dirty="0">
                          <a:effectLst/>
                          <a:latin typeface="幼圆" panose="02010509060101010101" pitchFamily="49" charset="-122"/>
                          <a:ea typeface="幼圆" panose="02010509060101010101" pitchFamily="49" charset="-122"/>
                        </a:rPr>
                        <a:t>产品描述</a:t>
                      </a:r>
                      <a:endParaRPr lang="zh-CN" sz="1400" kern="100" dirty="0">
                        <a:effectLst/>
                        <a:latin typeface="幼圆" panose="02010509060101010101" pitchFamily="49" charset="-122"/>
                        <a:ea typeface="幼圆" panose="02010509060101010101" pitchFamily="49" charset="-122"/>
                      </a:endParaRPr>
                    </a:p>
                  </a:txBody>
                  <a:tcPr marL="68580" marR="68580" marT="0" marB="0" anchor="ctr" anchorCtr="1"/>
                </a:tc>
                <a:tc>
                  <a:txBody>
                    <a:bodyPr/>
                    <a:lstStyle/>
                    <a:p>
                      <a:pPr algn="ctr">
                        <a:spcAft>
                          <a:spcPts val="0"/>
                        </a:spcAft>
                      </a:pPr>
                      <a:r>
                        <a:rPr lang="zh-CN" sz="1400" kern="100" dirty="0">
                          <a:effectLst/>
                          <a:latin typeface="幼圆" panose="02010509060101010101" pitchFamily="49" charset="-122"/>
                          <a:ea typeface="幼圆" panose="02010509060101010101" pitchFamily="49" charset="-122"/>
                        </a:rPr>
                        <a:t>测试要点</a:t>
                      </a:r>
                      <a:endParaRPr lang="zh-CN" sz="1400" kern="100" dirty="0">
                        <a:effectLst/>
                        <a:latin typeface="幼圆" panose="02010509060101010101" pitchFamily="49" charset="-122"/>
                        <a:ea typeface="幼圆" panose="02010509060101010101" pitchFamily="49" charset="-122"/>
                      </a:endParaRPr>
                    </a:p>
                  </a:txBody>
                  <a:tcPr marL="68580" marR="68580" marT="0" marB="0" anchor="ctr" anchorCtr="1"/>
                </a:tc>
                <a:tc>
                  <a:txBody>
                    <a:bodyPr/>
                    <a:lstStyle/>
                    <a:p>
                      <a:pPr algn="ctr">
                        <a:spcAft>
                          <a:spcPts val="0"/>
                        </a:spcAft>
                      </a:pPr>
                      <a:r>
                        <a:rPr lang="zh-CN" sz="1400" kern="100" dirty="0">
                          <a:effectLst/>
                          <a:latin typeface="幼圆" panose="02010509060101010101" pitchFamily="49" charset="-122"/>
                          <a:ea typeface="幼圆" panose="02010509060101010101" pitchFamily="49" charset="-122"/>
                        </a:rPr>
                        <a:t>备注</a:t>
                      </a:r>
                      <a:endParaRPr lang="zh-CN" sz="1400" kern="100" dirty="0">
                        <a:effectLst/>
                        <a:latin typeface="幼圆" panose="02010509060101010101" pitchFamily="49" charset="-122"/>
                        <a:ea typeface="幼圆" panose="02010509060101010101" pitchFamily="49" charset="-122"/>
                      </a:endParaRPr>
                    </a:p>
                  </a:txBody>
                  <a:tcPr marL="68580" marR="68580" marT="0" marB="0" anchor="ctr" anchorCtr="1"/>
                </a:tc>
              </a:tr>
              <a:tr h="214955">
                <a:tc rowSpan="5">
                  <a:txBody>
                    <a:bodyPr/>
                    <a:lstStyle/>
                    <a:p>
                      <a:pPr algn="ctr">
                        <a:spcAft>
                          <a:spcPts val="0"/>
                        </a:spcAft>
                      </a:pPr>
                      <a:r>
                        <a:rPr lang="en-US" sz="1400" kern="100">
                          <a:effectLst/>
                          <a:latin typeface="幼圆" panose="02010509060101010101" pitchFamily="49" charset="-122"/>
                          <a:ea typeface="幼圆" panose="02010509060101010101" pitchFamily="49" charset="-122"/>
                        </a:rPr>
                        <a:t>1</a:t>
                      </a:r>
                      <a:endParaRPr lang="zh-CN" sz="1400" kern="100">
                        <a:effectLst/>
                        <a:latin typeface="幼圆" panose="02010509060101010101" pitchFamily="49" charset="-122"/>
                        <a:ea typeface="幼圆" panose="02010509060101010101" pitchFamily="49" charset="-122"/>
                      </a:endParaRPr>
                    </a:p>
                  </a:txBody>
                  <a:tcPr marL="68580" marR="68580" marT="0" marB="0" anchor="ctr"/>
                </a:tc>
                <a:tc rowSpan="5">
                  <a:txBody>
                    <a:bodyPr/>
                    <a:lstStyle/>
                    <a:p>
                      <a:pPr algn="ctr">
                        <a:spcAft>
                          <a:spcPts val="0"/>
                        </a:spcAft>
                      </a:pPr>
                      <a:r>
                        <a:rPr lang="zh-CN" sz="1400" kern="100">
                          <a:effectLst/>
                          <a:latin typeface="幼圆" panose="02010509060101010101" pitchFamily="49" charset="-122"/>
                          <a:ea typeface="幼圆" panose="02010509060101010101" pitchFamily="49" charset="-122"/>
                        </a:rPr>
                        <a:t>发布试卷功能</a:t>
                      </a:r>
                      <a:endParaRPr lang="zh-CN" sz="14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400" kern="100">
                          <a:effectLst/>
                          <a:latin typeface="幼圆" panose="02010509060101010101" pitchFamily="49" charset="-122"/>
                          <a:ea typeface="幼圆" panose="02010509060101010101" pitchFamily="49" charset="-122"/>
                        </a:rPr>
                        <a:t>录入试卷标题测试</a:t>
                      </a:r>
                      <a:endParaRPr lang="zh-CN" sz="1400" kern="100">
                        <a:effectLst/>
                        <a:latin typeface="幼圆" panose="02010509060101010101" pitchFamily="49" charset="-122"/>
                        <a:ea typeface="幼圆" panose="02010509060101010101" pitchFamily="49" charset="-122"/>
                      </a:endParaRPr>
                    </a:p>
                  </a:txBody>
                  <a:tcPr marL="68580" marR="68580" marT="0" marB="0"/>
                </a:tc>
                <a:tc rowSpan="5">
                  <a:txBody>
                    <a:bodyPr/>
                    <a:lstStyle/>
                    <a:p>
                      <a:pPr algn="just">
                        <a:spcAft>
                          <a:spcPts val="0"/>
                        </a:spcAft>
                      </a:pPr>
                      <a:r>
                        <a:rPr lang="zh-CN" sz="1400" kern="100">
                          <a:effectLst/>
                          <a:latin typeface="幼圆" panose="02010509060101010101" pitchFamily="49" charset="-122"/>
                          <a:ea typeface="幼圆" panose="02010509060101010101" pitchFamily="49" charset="-122"/>
                        </a:rPr>
                        <a:t>该部分功能未实现。</a:t>
                      </a:r>
                      <a:endParaRPr lang="zh-CN" sz="1400" kern="100">
                        <a:effectLst/>
                        <a:latin typeface="幼圆" panose="02010509060101010101" pitchFamily="49" charset="-122"/>
                        <a:ea typeface="幼圆" panose="02010509060101010101" pitchFamily="49" charset="-122"/>
                      </a:endParaRPr>
                    </a:p>
                  </a:txBody>
                  <a:tcPr marL="68580" marR="68580" marT="0" marB="0" anchor="ctr"/>
                </a:tc>
              </a:tr>
              <a:tr h="214955">
                <a:tc vMerge="1">
                  <a:tcPr/>
                </a:tc>
                <a:tc vMerge="1">
                  <a:tcPr/>
                </a:tc>
                <a:tc>
                  <a:txBody>
                    <a:bodyPr/>
                    <a:lstStyle/>
                    <a:p>
                      <a:pPr algn="just">
                        <a:spcAft>
                          <a:spcPts val="0"/>
                        </a:spcAft>
                      </a:pPr>
                      <a:r>
                        <a:rPr lang="zh-CN" sz="1400" kern="100">
                          <a:effectLst/>
                          <a:latin typeface="幼圆" panose="02010509060101010101" pitchFamily="49" charset="-122"/>
                          <a:ea typeface="幼圆" panose="02010509060101010101" pitchFamily="49" charset="-122"/>
                        </a:rPr>
                        <a:t>录入题型测试</a:t>
                      </a:r>
                      <a:endParaRPr lang="zh-CN" sz="1400" kern="100">
                        <a:effectLst/>
                        <a:latin typeface="幼圆" panose="02010509060101010101" pitchFamily="49" charset="-122"/>
                        <a:ea typeface="幼圆" panose="02010509060101010101" pitchFamily="49" charset="-122"/>
                      </a:endParaRPr>
                    </a:p>
                  </a:txBody>
                  <a:tcPr marL="68580" marR="68580" marT="0" marB="0"/>
                </a:tc>
                <a:tc vMerge="1">
                  <a:tcPr/>
                </a:tc>
              </a:tr>
              <a:tr h="214955">
                <a:tc vMerge="1">
                  <a:tcPr/>
                </a:tc>
                <a:tc vMerge="1">
                  <a:tcPr/>
                </a:tc>
                <a:tc>
                  <a:txBody>
                    <a:bodyPr/>
                    <a:lstStyle/>
                    <a:p>
                      <a:pPr algn="just">
                        <a:spcAft>
                          <a:spcPts val="0"/>
                        </a:spcAft>
                      </a:pPr>
                      <a:r>
                        <a:rPr lang="zh-CN" sz="1400" kern="100">
                          <a:effectLst/>
                          <a:latin typeface="幼圆" panose="02010509060101010101" pitchFamily="49" charset="-122"/>
                          <a:ea typeface="幼圆" panose="02010509060101010101" pitchFamily="49" charset="-122"/>
                        </a:rPr>
                        <a:t>录入题目测试</a:t>
                      </a:r>
                      <a:endParaRPr lang="zh-CN" sz="1400" kern="100">
                        <a:effectLst/>
                        <a:latin typeface="幼圆" panose="02010509060101010101" pitchFamily="49" charset="-122"/>
                        <a:ea typeface="幼圆" panose="02010509060101010101" pitchFamily="49" charset="-122"/>
                      </a:endParaRPr>
                    </a:p>
                  </a:txBody>
                  <a:tcPr marL="68580" marR="68580" marT="0" marB="0"/>
                </a:tc>
                <a:tc vMerge="1">
                  <a:tcPr/>
                </a:tc>
              </a:tr>
              <a:tr h="214955">
                <a:tc vMerge="1">
                  <a:tcPr/>
                </a:tc>
                <a:tc vMerge="1">
                  <a:tcPr/>
                </a:tc>
                <a:tc>
                  <a:txBody>
                    <a:bodyPr/>
                    <a:lstStyle/>
                    <a:p>
                      <a:pPr algn="just">
                        <a:spcAft>
                          <a:spcPts val="0"/>
                        </a:spcAft>
                      </a:pPr>
                      <a:r>
                        <a:rPr lang="zh-CN" sz="1400" kern="100">
                          <a:effectLst/>
                          <a:latin typeface="幼圆" panose="02010509060101010101" pitchFamily="49" charset="-122"/>
                          <a:ea typeface="幼圆" panose="02010509060101010101" pitchFamily="49" charset="-122"/>
                        </a:rPr>
                        <a:t>录入考试时间测试</a:t>
                      </a:r>
                      <a:endParaRPr lang="zh-CN" sz="1400" kern="100">
                        <a:effectLst/>
                        <a:latin typeface="幼圆" panose="02010509060101010101" pitchFamily="49" charset="-122"/>
                        <a:ea typeface="幼圆" panose="02010509060101010101" pitchFamily="49" charset="-122"/>
                      </a:endParaRPr>
                    </a:p>
                  </a:txBody>
                  <a:tcPr marL="68580" marR="68580" marT="0" marB="0"/>
                </a:tc>
                <a:tc vMerge="1">
                  <a:tcPr/>
                </a:tc>
              </a:tr>
              <a:tr h="214955">
                <a:tc vMerge="1">
                  <a:tcPr/>
                </a:tc>
                <a:tc vMerge="1">
                  <a:tcPr/>
                </a:tc>
                <a:tc>
                  <a:txBody>
                    <a:bodyPr/>
                    <a:lstStyle/>
                    <a:p>
                      <a:pPr algn="just">
                        <a:spcAft>
                          <a:spcPts val="0"/>
                        </a:spcAft>
                      </a:pPr>
                      <a:r>
                        <a:rPr lang="zh-CN" sz="1400" kern="100">
                          <a:effectLst/>
                          <a:latin typeface="幼圆" panose="02010509060101010101" pitchFamily="49" charset="-122"/>
                          <a:ea typeface="幼圆" panose="02010509060101010101" pitchFamily="49" charset="-122"/>
                        </a:rPr>
                        <a:t>录入答案测试</a:t>
                      </a:r>
                      <a:endParaRPr lang="zh-CN" sz="1400" kern="100">
                        <a:effectLst/>
                        <a:latin typeface="幼圆" panose="02010509060101010101" pitchFamily="49" charset="-122"/>
                        <a:ea typeface="幼圆" panose="02010509060101010101" pitchFamily="49" charset="-122"/>
                      </a:endParaRPr>
                    </a:p>
                  </a:txBody>
                  <a:tcPr marL="68580" marR="68580" marT="0" marB="0"/>
                </a:tc>
                <a:tc vMerge="1">
                  <a:tcPr/>
                </a:tc>
              </a:tr>
              <a:tr h="214955">
                <a:tc rowSpan="4">
                  <a:txBody>
                    <a:bodyPr/>
                    <a:lstStyle/>
                    <a:p>
                      <a:pPr algn="ctr">
                        <a:spcAft>
                          <a:spcPts val="0"/>
                        </a:spcAft>
                      </a:pPr>
                      <a:r>
                        <a:rPr lang="en-US" sz="1400" kern="100" dirty="0">
                          <a:effectLst/>
                          <a:latin typeface="幼圆" panose="02010509060101010101" pitchFamily="49" charset="-122"/>
                          <a:ea typeface="幼圆" panose="02010509060101010101" pitchFamily="49" charset="-122"/>
                        </a:rPr>
                        <a:t>2</a:t>
                      </a:r>
                      <a:endParaRPr lang="zh-CN" sz="1400" kern="100" dirty="0">
                        <a:effectLst/>
                        <a:latin typeface="幼圆" panose="02010509060101010101" pitchFamily="49" charset="-122"/>
                        <a:ea typeface="幼圆" panose="02010509060101010101" pitchFamily="49" charset="-122"/>
                      </a:endParaRPr>
                    </a:p>
                  </a:txBody>
                  <a:tcPr marL="68580" marR="68580" marT="0" marB="0" anchor="ctr"/>
                </a:tc>
                <a:tc rowSpan="4">
                  <a:txBody>
                    <a:bodyPr/>
                    <a:lstStyle/>
                    <a:p>
                      <a:pPr algn="ctr">
                        <a:spcAft>
                          <a:spcPts val="0"/>
                        </a:spcAft>
                      </a:pPr>
                      <a:r>
                        <a:rPr lang="zh-CN" sz="1400" kern="100" dirty="0">
                          <a:effectLst/>
                          <a:latin typeface="幼圆" panose="02010509060101010101" pitchFamily="49" charset="-122"/>
                          <a:ea typeface="幼圆" panose="02010509060101010101" pitchFamily="49" charset="-122"/>
                        </a:rPr>
                        <a:t>答题功能</a:t>
                      </a:r>
                      <a:endParaRPr lang="zh-CN" sz="14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400" kern="100">
                          <a:effectLst/>
                          <a:latin typeface="幼圆" panose="02010509060101010101" pitchFamily="49" charset="-122"/>
                          <a:ea typeface="幼圆" panose="02010509060101010101" pitchFamily="49" charset="-122"/>
                        </a:rPr>
                        <a:t>选择试卷测试</a:t>
                      </a:r>
                      <a:endParaRPr lang="zh-CN" sz="1400" kern="100">
                        <a:effectLst/>
                        <a:latin typeface="幼圆" panose="02010509060101010101" pitchFamily="49" charset="-122"/>
                        <a:ea typeface="幼圆" panose="02010509060101010101" pitchFamily="49" charset="-122"/>
                      </a:endParaRPr>
                    </a:p>
                  </a:txBody>
                  <a:tcPr marL="68580" marR="68580" marT="0" marB="0"/>
                </a:tc>
                <a:tc rowSpan="4">
                  <a:txBody>
                    <a:bodyPr/>
                    <a:lstStyle/>
                    <a:p>
                      <a:pPr algn="just">
                        <a:spcAft>
                          <a:spcPts val="0"/>
                        </a:spcAft>
                      </a:pPr>
                      <a:r>
                        <a:rPr lang="zh-CN" sz="1400" kern="100">
                          <a:effectLst/>
                          <a:latin typeface="幼圆" panose="02010509060101010101" pitchFamily="49" charset="-122"/>
                          <a:ea typeface="幼圆" panose="02010509060101010101" pitchFamily="49" charset="-122"/>
                        </a:rPr>
                        <a:t>功能准确实现。</a:t>
                      </a:r>
                      <a:endParaRPr lang="zh-CN" sz="1400" kern="100">
                        <a:effectLst/>
                        <a:latin typeface="幼圆" panose="02010509060101010101" pitchFamily="49" charset="-122"/>
                        <a:ea typeface="幼圆" panose="02010509060101010101" pitchFamily="49" charset="-122"/>
                      </a:endParaRPr>
                    </a:p>
                  </a:txBody>
                  <a:tcPr marL="68580" marR="68580" marT="0" marB="0" anchor="ctr"/>
                </a:tc>
              </a:tr>
              <a:tr h="214955">
                <a:tc vMerge="1">
                  <a:tcPr/>
                </a:tc>
                <a:tc vMerge="1">
                  <a:tcPr/>
                </a:tc>
                <a:tc>
                  <a:txBody>
                    <a:bodyPr/>
                    <a:lstStyle/>
                    <a:p>
                      <a:pPr algn="just">
                        <a:spcAft>
                          <a:spcPts val="0"/>
                        </a:spcAft>
                      </a:pPr>
                      <a:r>
                        <a:rPr lang="zh-CN" sz="1400" kern="100">
                          <a:effectLst/>
                          <a:latin typeface="幼圆" panose="02010509060101010101" pitchFamily="49" charset="-122"/>
                          <a:ea typeface="幼圆" panose="02010509060101010101" pitchFamily="49" charset="-122"/>
                        </a:rPr>
                        <a:t>答题测试</a:t>
                      </a:r>
                      <a:endParaRPr lang="zh-CN" sz="1400" kern="100">
                        <a:effectLst/>
                        <a:latin typeface="幼圆" panose="02010509060101010101" pitchFamily="49" charset="-122"/>
                        <a:ea typeface="幼圆" panose="02010509060101010101" pitchFamily="49" charset="-122"/>
                      </a:endParaRPr>
                    </a:p>
                  </a:txBody>
                  <a:tcPr marL="68580" marR="68580" marT="0" marB="0"/>
                </a:tc>
                <a:tc vMerge="1">
                  <a:tcPr/>
                </a:tc>
              </a:tr>
              <a:tr h="214955">
                <a:tc vMerge="1">
                  <a:tcPr/>
                </a:tc>
                <a:tc vMerge="1">
                  <a:tcPr/>
                </a:tc>
                <a:tc>
                  <a:txBody>
                    <a:bodyPr/>
                    <a:lstStyle/>
                    <a:p>
                      <a:pPr algn="just">
                        <a:spcAft>
                          <a:spcPts val="0"/>
                        </a:spcAft>
                      </a:pPr>
                      <a:r>
                        <a:rPr lang="zh-CN" sz="1400" kern="100">
                          <a:effectLst/>
                          <a:latin typeface="幼圆" panose="02010509060101010101" pitchFamily="49" charset="-122"/>
                          <a:ea typeface="幼圆" panose="02010509060101010101" pitchFamily="49" charset="-122"/>
                        </a:rPr>
                        <a:t>交卷测试</a:t>
                      </a:r>
                      <a:endParaRPr lang="zh-CN" sz="1400" kern="100">
                        <a:effectLst/>
                        <a:latin typeface="幼圆" panose="02010509060101010101" pitchFamily="49" charset="-122"/>
                        <a:ea typeface="幼圆" panose="02010509060101010101" pitchFamily="49" charset="-122"/>
                      </a:endParaRPr>
                    </a:p>
                  </a:txBody>
                  <a:tcPr marL="68580" marR="68580" marT="0" marB="0"/>
                </a:tc>
                <a:tc vMerge="1">
                  <a:tcPr/>
                </a:tc>
              </a:tr>
              <a:tr h="214955">
                <a:tc vMerge="1">
                  <a:tcPr/>
                </a:tc>
                <a:tc vMerge="1">
                  <a:tcPr/>
                </a:tc>
                <a:tc>
                  <a:txBody>
                    <a:bodyPr/>
                    <a:lstStyle/>
                    <a:p>
                      <a:pPr algn="just">
                        <a:spcAft>
                          <a:spcPts val="0"/>
                        </a:spcAft>
                      </a:pPr>
                      <a:r>
                        <a:rPr lang="zh-CN" sz="1400" kern="100">
                          <a:effectLst/>
                          <a:latin typeface="幼圆" panose="02010509060101010101" pitchFamily="49" charset="-122"/>
                          <a:ea typeface="幼圆" panose="02010509060101010101" pitchFamily="49" charset="-122"/>
                        </a:rPr>
                        <a:t>查看分数测试</a:t>
                      </a:r>
                      <a:endParaRPr lang="zh-CN" sz="1400" kern="100">
                        <a:effectLst/>
                        <a:latin typeface="幼圆" panose="02010509060101010101" pitchFamily="49" charset="-122"/>
                        <a:ea typeface="幼圆" panose="02010509060101010101" pitchFamily="49" charset="-122"/>
                      </a:endParaRPr>
                    </a:p>
                  </a:txBody>
                  <a:tcPr marL="68580" marR="68580" marT="0" marB="0"/>
                </a:tc>
                <a:tc vMerge="1">
                  <a:tcPr/>
                </a:tc>
              </a:tr>
              <a:tr h="214955">
                <a:tc rowSpan="2">
                  <a:txBody>
                    <a:bodyPr/>
                    <a:lstStyle/>
                    <a:p>
                      <a:pPr algn="ctr">
                        <a:spcAft>
                          <a:spcPts val="0"/>
                        </a:spcAft>
                      </a:pPr>
                      <a:r>
                        <a:rPr lang="en-US" sz="1400" kern="100">
                          <a:effectLst/>
                          <a:latin typeface="幼圆" panose="02010509060101010101" pitchFamily="49" charset="-122"/>
                          <a:ea typeface="幼圆" panose="02010509060101010101" pitchFamily="49" charset="-122"/>
                        </a:rPr>
                        <a:t>3</a:t>
                      </a:r>
                      <a:endParaRPr lang="zh-CN" sz="1400" kern="100">
                        <a:effectLst/>
                        <a:latin typeface="幼圆" panose="02010509060101010101" pitchFamily="49" charset="-122"/>
                        <a:ea typeface="幼圆" panose="02010509060101010101" pitchFamily="49" charset="-122"/>
                      </a:endParaRPr>
                    </a:p>
                  </a:txBody>
                  <a:tcPr marL="68580" marR="68580" marT="0" marB="0" anchor="ctr"/>
                </a:tc>
                <a:tc rowSpan="2">
                  <a:txBody>
                    <a:bodyPr/>
                    <a:lstStyle/>
                    <a:p>
                      <a:pPr algn="ctr">
                        <a:spcAft>
                          <a:spcPts val="0"/>
                        </a:spcAft>
                      </a:pPr>
                      <a:r>
                        <a:rPr lang="zh-CN" sz="1400" kern="100">
                          <a:effectLst/>
                          <a:latin typeface="幼圆" panose="02010509060101010101" pitchFamily="49" charset="-122"/>
                          <a:ea typeface="幼圆" panose="02010509060101010101" pitchFamily="49" charset="-122"/>
                        </a:rPr>
                        <a:t>电脑阅卷功能</a:t>
                      </a:r>
                      <a:endParaRPr lang="zh-CN" sz="14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400" kern="100">
                          <a:effectLst/>
                          <a:latin typeface="幼圆" panose="02010509060101010101" pitchFamily="49" charset="-122"/>
                          <a:ea typeface="幼圆" panose="02010509060101010101" pitchFamily="49" charset="-122"/>
                        </a:rPr>
                        <a:t>核对答案测试</a:t>
                      </a:r>
                      <a:endParaRPr lang="zh-CN" sz="1400" kern="100">
                        <a:effectLst/>
                        <a:latin typeface="幼圆" panose="02010509060101010101" pitchFamily="49" charset="-122"/>
                        <a:ea typeface="幼圆" panose="02010509060101010101" pitchFamily="49" charset="-122"/>
                      </a:endParaRPr>
                    </a:p>
                  </a:txBody>
                  <a:tcPr marL="68580" marR="68580" marT="0" marB="0"/>
                </a:tc>
                <a:tc rowSpan="2">
                  <a:txBody>
                    <a:bodyPr/>
                    <a:lstStyle/>
                    <a:p>
                      <a:pPr algn="just">
                        <a:spcAft>
                          <a:spcPts val="0"/>
                        </a:spcAft>
                      </a:pPr>
                      <a:r>
                        <a:rPr lang="zh-CN" sz="1400" kern="100">
                          <a:effectLst/>
                          <a:latin typeface="幼圆" panose="02010509060101010101" pitchFamily="49" charset="-122"/>
                          <a:ea typeface="幼圆" panose="02010509060101010101" pitchFamily="49" charset="-122"/>
                        </a:rPr>
                        <a:t>功能准确实现。</a:t>
                      </a:r>
                      <a:endParaRPr lang="zh-CN" sz="1400" kern="100">
                        <a:effectLst/>
                        <a:latin typeface="幼圆" panose="02010509060101010101" pitchFamily="49" charset="-122"/>
                        <a:ea typeface="幼圆" panose="02010509060101010101" pitchFamily="49" charset="-122"/>
                      </a:endParaRPr>
                    </a:p>
                  </a:txBody>
                  <a:tcPr marL="68580" marR="68580" marT="0" marB="0" anchor="ctr"/>
                </a:tc>
              </a:tr>
              <a:tr h="214955">
                <a:tc vMerge="1">
                  <a:tcPr/>
                </a:tc>
                <a:tc vMerge="1">
                  <a:tcPr/>
                </a:tc>
                <a:tc>
                  <a:txBody>
                    <a:bodyPr/>
                    <a:lstStyle/>
                    <a:p>
                      <a:pPr algn="just">
                        <a:spcAft>
                          <a:spcPts val="0"/>
                        </a:spcAft>
                      </a:pPr>
                      <a:r>
                        <a:rPr lang="zh-CN" sz="1400" kern="100">
                          <a:effectLst/>
                          <a:latin typeface="幼圆" panose="02010509060101010101" pitchFamily="49" charset="-122"/>
                          <a:ea typeface="幼圆" panose="02010509060101010101" pitchFamily="49" charset="-122"/>
                        </a:rPr>
                        <a:t>计算分数测试</a:t>
                      </a:r>
                      <a:endParaRPr lang="zh-CN" sz="1400" kern="100">
                        <a:effectLst/>
                        <a:latin typeface="幼圆" panose="02010509060101010101" pitchFamily="49" charset="-122"/>
                        <a:ea typeface="幼圆" panose="02010509060101010101" pitchFamily="49" charset="-122"/>
                      </a:endParaRPr>
                    </a:p>
                  </a:txBody>
                  <a:tcPr marL="68580" marR="68580" marT="0" marB="0"/>
                </a:tc>
                <a:tc vMerge="1">
                  <a:tcPr/>
                </a:tc>
              </a:tr>
              <a:tr h="214955">
                <a:tc rowSpan="4">
                  <a:txBody>
                    <a:bodyPr/>
                    <a:lstStyle/>
                    <a:p>
                      <a:pPr algn="ctr">
                        <a:spcAft>
                          <a:spcPts val="0"/>
                        </a:spcAft>
                      </a:pPr>
                      <a:r>
                        <a:rPr lang="en-US" sz="1400" kern="100" dirty="0">
                          <a:effectLst/>
                          <a:latin typeface="幼圆" panose="02010509060101010101" pitchFamily="49" charset="-122"/>
                          <a:ea typeface="幼圆" panose="02010509060101010101" pitchFamily="49" charset="-122"/>
                        </a:rPr>
                        <a:t>4</a:t>
                      </a:r>
                      <a:endParaRPr lang="zh-CN" sz="1400" kern="100" dirty="0">
                        <a:effectLst/>
                        <a:latin typeface="幼圆" panose="02010509060101010101" pitchFamily="49" charset="-122"/>
                        <a:ea typeface="幼圆" panose="02010509060101010101" pitchFamily="49" charset="-122"/>
                      </a:endParaRPr>
                    </a:p>
                  </a:txBody>
                  <a:tcPr marL="68580" marR="68580" marT="0" marB="0" anchor="ctr"/>
                </a:tc>
                <a:tc rowSpan="4">
                  <a:txBody>
                    <a:bodyPr/>
                    <a:lstStyle/>
                    <a:p>
                      <a:pPr algn="ctr">
                        <a:spcAft>
                          <a:spcPts val="0"/>
                        </a:spcAft>
                      </a:pPr>
                      <a:r>
                        <a:rPr lang="zh-CN" sz="1400" kern="100" dirty="0">
                          <a:effectLst/>
                          <a:latin typeface="幼圆" panose="02010509060101010101" pitchFamily="49" charset="-122"/>
                          <a:ea typeface="幼圆" panose="02010509060101010101" pitchFamily="49" charset="-122"/>
                        </a:rPr>
                        <a:t>兼容性测试（智能终端）</a:t>
                      </a:r>
                      <a:endParaRPr lang="zh-CN" sz="14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400" kern="100" dirty="0">
                          <a:effectLst/>
                          <a:latin typeface="幼圆" panose="02010509060101010101" pitchFamily="49" charset="-122"/>
                          <a:ea typeface="幼圆" panose="02010509060101010101" pitchFamily="49" charset="-122"/>
                        </a:rPr>
                        <a:t>计算机（台式）端测试</a:t>
                      </a:r>
                      <a:endParaRPr lang="zh-CN" sz="1400" kern="100" dirty="0">
                        <a:effectLst/>
                        <a:latin typeface="幼圆" panose="02010509060101010101" pitchFamily="49" charset="-122"/>
                        <a:ea typeface="幼圆" panose="02010509060101010101" pitchFamily="49" charset="-122"/>
                      </a:endParaRPr>
                    </a:p>
                  </a:txBody>
                  <a:tcPr marL="68580" marR="68580" marT="0" marB="0"/>
                </a:tc>
                <a:tc rowSpan="4">
                  <a:txBody>
                    <a:bodyPr/>
                    <a:lstStyle/>
                    <a:p>
                      <a:pPr algn="just">
                        <a:spcAft>
                          <a:spcPts val="0"/>
                        </a:spcAft>
                      </a:pPr>
                      <a:r>
                        <a:rPr lang="zh-CN" sz="1400" kern="100">
                          <a:effectLst/>
                          <a:latin typeface="幼圆" panose="02010509060101010101" pitchFamily="49" charset="-122"/>
                          <a:ea typeface="幼圆" panose="02010509060101010101" pitchFamily="49" charset="-122"/>
                        </a:rPr>
                        <a:t>台式机、笔记本、可以正常登录网站系统进行考试练习。平板与手机无法登录网站。</a:t>
                      </a:r>
                      <a:endParaRPr lang="zh-CN" sz="1400" kern="100">
                        <a:effectLst/>
                        <a:latin typeface="幼圆" panose="02010509060101010101" pitchFamily="49" charset="-122"/>
                        <a:ea typeface="幼圆" panose="02010509060101010101" pitchFamily="49" charset="-122"/>
                      </a:endParaRPr>
                    </a:p>
                  </a:txBody>
                  <a:tcPr marL="68580" marR="68580" marT="0" marB="0" anchor="ctr"/>
                </a:tc>
              </a:tr>
              <a:tr h="214955">
                <a:tc vMerge="1">
                  <a:tcPr/>
                </a:tc>
                <a:tc vMerge="1">
                  <a:tcPr/>
                </a:tc>
                <a:tc>
                  <a:txBody>
                    <a:bodyPr/>
                    <a:lstStyle/>
                    <a:p>
                      <a:pPr algn="just">
                        <a:spcAft>
                          <a:spcPts val="0"/>
                        </a:spcAft>
                      </a:pPr>
                      <a:r>
                        <a:rPr lang="zh-CN" sz="1400" kern="100">
                          <a:effectLst/>
                          <a:latin typeface="幼圆" panose="02010509060101010101" pitchFamily="49" charset="-122"/>
                          <a:ea typeface="幼圆" panose="02010509060101010101" pitchFamily="49" charset="-122"/>
                        </a:rPr>
                        <a:t>平板测试</a:t>
                      </a:r>
                      <a:endParaRPr lang="zh-CN" sz="1400" kern="100">
                        <a:effectLst/>
                        <a:latin typeface="幼圆" panose="02010509060101010101" pitchFamily="49" charset="-122"/>
                        <a:ea typeface="幼圆" panose="02010509060101010101" pitchFamily="49" charset="-122"/>
                      </a:endParaRPr>
                    </a:p>
                  </a:txBody>
                  <a:tcPr marL="68580" marR="68580" marT="0" marB="0"/>
                </a:tc>
                <a:tc vMerge="1">
                  <a:tcPr/>
                </a:tc>
              </a:tr>
              <a:tr h="214955">
                <a:tc vMerge="1">
                  <a:tcPr/>
                </a:tc>
                <a:tc vMerge="1">
                  <a:tcPr/>
                </a:tc>
                <a:tc>
                  <a:txBody>
                    <a:bodyPr/>
                    <a:lstStyle/>
                    <a:p>
                      <a:pPr algn="just">
                        <a:spcAft>
                          <a:spcPts val="0"/>
                        </a:spcAft>
                      </a:pPr>
                      <a:r>
                        <a:rPr lang="zh-CN" sz="1400" kern="100">
                          <a:effectLst/>
                          <a:latin typeface="幼圆" panose="02010509060101010101" pitchFamily="49" charset="-122"/>
                          <a:ea typeface="幼圆" panose="02010509060101010101" pitchFamily="49" charset="-122"/>
                        </a:rPr>
                        <a:t>笔记本端测试</a:t>
                      </a:r>
                      <a:endParaRPr lang="zh-CN" sz="1400" kern="100">
                        <a:effectLst/>
                        <a:latin typeface="幼圆" panose="02010509060101010101" pitchFamily="49" charset="-122"/>
                        <a:ea typeface="幼圆" panose="02010509060101010101" pitchFamily="49" charset="-122"/>
                      </a:endParaRPr>
                    </a:p>
                  </a:txBody>
                  <a:tcPr marL="68580" marR="68580" marT="0" marB="0"/>
                </a:tc>
                <a:tc vMerge="1">
                  <a:tcPr/>
                </a:tc>
              </a:tr>
              <a:tr h="429909">
                <a:tc vMerge="1">
                  <a:tcPr/>
                </a:tc>
                <a:tc vMerge="1">
                  <a:tcPr/>
                </a:tc>
                <a:tc>
                  <a:txBody>
                    <a:bodyPr/>
                    <a:lstStyle/>
                    <a:p>
                      <a:pPr algn="just">
                        <a:spcAft>
                          <a:spcPts val="0"/>
                        </a:spcAft>
                      </a:pPr>
                      <a:r>
                        <a:rPr lang="zh-CN" sz="1400" kern="100">
                          <a:effectLst/>
                          <a:latin typeface="幼圆" panose="02010509060101010101" pitchFamily="49" charset="-122"/>
                          <a:ea typeface="幼圆" panose="02010509060101010101" pitchFamily="49" charset="-122"/>
                        </a:rPr>
                        <a:t>手机端测试</a:t>
                      </a:r>
                      <a:endParaRPr lang="zh-CN" sz="1400" kern="100">
                        <a:effectLst/>
                        <a:latin typeface="幼圆" panose="02010509060101010101" pitchFamily="49" charset="-122"/>
                        <a:ea typeface="幼圆" panose="02010509060101010101" pitchFamily="49" charset="-122"/>
                      </a:endParaRPr>
                    </a:p>
                  </a:txBody>
                  <a:tcPr marL="68580" marR="68580" marT="0" marB="0"/>
                </a:tc>
                <a:tc vMerge="1">
                  <a:tcPr/>
                </a:tc>
              </a:tr>
              <a:tr h="214955">
                <a:tc rowSpan="5">
                  <a:txBody>
                    <a:bodyPr/>
                    <a:lstStyle/>
                    <a:p>
                      <a:pPr algn="ctr">
                        <a:spcAft>
                          <a:spcPts val="0"/>
                        </a:spcAft>
                      </a:pPr>
                      <a:r>
                        <a:rPr lang="en-US" sz="1400" kern="100" dirty="0">
                          <a:effectLst/>
                          <a:latin typeface="幼圆" panose="02010509060101010101" pitchFamily="49" charset="-122"/>
                          <a:ea typeface="幼圆" panose="02010509060101010101" pitchFamily="49" charset="-122"/>
                        </a:rPr>
                        <a:t>5</a:t>
                      </a:r>
                      <a:endParaRPr lang="zh-CN" sz="1400" kern="100" dirty="0">
                        <a:effectLst/>
                        <a:latin typeface="幼圆" panose="02010509060101010101" pitchFamily="49" charset="-122"/>
                        <a:ea typeface="幼圆" panose="02010509060101010101" pitchFamily="49" charset="-122"/>
                      </a:endParaRPr>
                    </a:p>
                  </a:txBody>
                  <a:tcPr marL="68580" marR="68580" marT="0" marB="0" anchor="ctr"/>
                </a:tc>
                <a:tc rowSpan="5">
                  <a:txBody>
                    <a:bodyPr/>
                    <a:lstStyle/>
                    <a:p>
                      <a:pPr algn="ctr">
                        <a:spcAft>
                          <a:spcPts val="0"/>
                        </a:spcAft>
                      </a:pPr>
                      <a:r>
                        <a:rPr lang="zh-CN" sz="1400" kern="100" dirty="0">
                          <a:effectLst/>
                          <a:latin typeface="幼圆" panose="02010509060101010101" pitchFamily="49" charset="-122"/>
                          <a:ea typeface="幼圆" panose="02010509060101010101" pitchFamily="49" charset="-122"/>
                        </a:rPr>
                        <a:t>兼容性测试（浏览器）</a:t>
                      </a:r>
                      <a:endParaRPr lang="zh-CN" sz="14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en-US" sz="1400" kern="100">
                          <a:effectLst/>
                          <a:latin typeface="幼圆" panose="02010509060101010101" pitchFamily="49" charset="-122"/>
                          <a:ea typeface="幼圆" panose="02010509060101010101" pitchFamily="49" charset="-122"/>
                        </a:rPr>
                        <a:t>Google</a:t>
                      </a:r>
                      <a:r>
                        <a:rPr lang="zh-CN" sz="1400" kern="100">
                          <a:effectLst/>
                          <a:latin typeface="幼圆" panose="02010509060101010101" pitchFamily="49" charset="-122"/>
                          <a:ea typeface="幼圆" panose="02010509060101010101" pitchFamily="49" charset="-122"/>
                        </a:rPr>
                        <a:t>浏览器</a:t>
                      </a:r>
                      <a:endParaRPr lang="zh-CN" sz="1400" kern="100">
                        <a:effectLst/>
                        <a:latin typeface="幼圆" panose="02010509060101010101" pitchFamily="49" charset="-122"/>
                        <a:ea typeface="幼圆" panose="02010509060101010101" pitchFamily="49" charset="-122"/>
                      </a:endParaRPr>
                    </a:p>
                  </a:txBody>
                  <a:tcPr marL="68580" marR="68580" marT="0" marB="0"/>
                </a:tc>
                <a:tc rowSpan="5">
                  <a:txBody>
                    <a:bodyPr/>
                    <a:lstStyle/>
                    <a:p>
                      <a:pPr algn="just">
                        <a:spcAft>
                          <a:spcPts val="0"/>
                        </a:spcAft>
                      </a:pPr>
                      <a:r>
                        <a:rPr lang="zh-CN" sz="1400" kern="100">
                          <a:effectLst/>
                          <a:latin typeface="幼圆" panose="02010509060101010101" pitchFamily="49" charset="-122"/>
                          <a:ea typeface="幼圆" panose="02010509060101010101" pitchFamily="49" charset="-122"/>
                        </a:rPr>
                        <a:t>支持</a:t>
                      </a:r>
                      <a:r>
                        <a:rPr lang="en-US" sz="1400" kern="100">
                          <a:effectLst/>
                          <a:latin typeface="幼圆" panose="02010509060101010101" pitchFamily="49" charset="-122"/>
                          <a:ea typeface="幼圆" panose="02010509060101010101" pitchFamily="49" charset="-122"/>
                        </a:rPr>
                        <a:t>Google</a:t>
                      </a:r>
                      <a:r>
                        <a:rPr lang="zh-CN" sz="1400" kern="100">
                          <a:effectLst/>
                          <a:latin typeface="幼圆" panose="02010509060101010101" pitchFamily="49" charset="-122"/>
                          <a:ea typeface="幼圆" panose="02010509060101010101" pitchFamily="49" charset="-122"/>
                        </a:rPr>
                        <a:t>、</a:t>
                      </a:r>
                      <a:r>
                        <a:rPr lang="en-US" sz="1400" kern="100">
                          <a:effectLst/>
                          <a:latin typeface="幼圆" panose="02010509060101010101" pitchFamily="49" charset="-122"/>
                          <a:ea typeface="幼圆" panose="02010509060101010101" pitchFamily="49" charset="-122"/>
                        </a:rPr>
                        <a:t>Firefox</a:t>
                      </a:r>
                      <a:r>
                        <a:rPr lang="zh-CN" sz="1400" kern="100">
                          <a:effectLst/>
                          <a:latin typeface="幼圆" panose="02010509060101010101" pitchFamily="49" charset="-122"/>
                          <a:ea typeface="幼圆" panose="02010509060101010101" pitchFamily="49" charset="-122"/>
                        </a:rPr>
                        <a:t>、</a:t>
                      </a:r>
                      <a:r>
                        <a:rPr lang="en-US" sz="1400" kern="100">
                          <a:effectLst/>
                          <a:latin typeface="幼圆" panose="02010509060101010101" pitchFamily="49" charset="-122"/>
                          <a:ea typeface="幼圆" panose="02010509060101010101" pitchFamily="49" charset="-122"/>
                        </a:rPr>
                        <a:t>IE</a:t>
                      </a:r>
                      <a:r>
                        <a:rPr lang="zh-CN" sz="1400" kern="100">
                          <a:effectLst/>
                          <a:latin typeface="幼圆" panose="02010509060101010101" pitchFamily="49" charset="-122"/>
                          <a:ea typeface="幼圆" panose="02010509060101010101" pitchFamily="49" charset="-122"/>
                        </a:rPr>
                        <a:t>、</a:t>
                      </a:r>
                      <a:r>
                        <a:rPr lang="en-US" sz="1400" kern="100">
                          <a:effectLst/>
                          <a:latin typeface="幼圆" panose="02010509060101010101" pitchFamily="49" charset="-122"/>
                          <a:ea typeface="幼圆" panose="02010509060101010101" pitchFamily="49" charset="-122"/>
                        </a:rPr>
                        <a:t>Opera</a:t>
                      </a:r>
                      <a:r>
                        <a:rPr lang="zh-CN" sz="1400" kern="100">
                          <a:effectLst/>
                          <a:latin typeface="幼圆" panose="02010509060101010101" pitchFamily="49" charset="-122"/>
                          <a:ea typeface="幼圆" panose="02010509060101010101" pitchFamily="49" charset="-122"/>
                        </a:rPr>
                        <a:t>、</a:t>
                      </a:r>
                      <a:r>
                        <a:rPr lang="en-US" sz="1400" kern="100">
                          <a:effectLst/>
                          <a:latin typeface="幼圆" panose="02010509060101010101" pitchFamily="49" charset="-122"/>
                          <a:ea typeface="幼圆" panose="02010509060101010101" pitchFamily="49" charset="-122"/>
                        </a:rPr>
                        <a:t>Safari</a:t>
                      </a:r>
                      <a:r>
                        <a:rPr lang="zh-CN" sz="1400" kern="100">
                          <a:effectLst/>
                          <a:latin typeface="幼圆" panose="02010509060101010101" pitchFamily="49" charset="-122"/>
                          <a:ea typeface="幼圆" panose="02010509060101010101" pitchFamily="49" charset="-122"/>
                        </a:rPr>
                        <a:t>浏览器。</a:t>
                      </a:r>
                      <a:endParaRPr lang="zh-CN" sz="1400" kern="100">
                        <a:effectLst/>
                        <a:latin typeface="幼圆" panose="02010509060101010101" pitchFamily="49" charset="-122"/>
                        <a:ea typeface="幼圆" panose="02010509060101010101" pitchFamily="49" charset="-122"/>
                      </a:endParaRPr>
                    </a:p>
                  </a:txBody>
                  <a:tcPr marL="68580" marR="68580" marT="0" marB="0" anchor="ctr"/>
                </a:tc>
              </a:tr>
              <a:tr h="214955">
                <a:tc vMerge="1">
                  <a:tcPr/>
                </a:tc>
                <a:tc vMerge="1">
                  <a:tcPr/>
                </a:tc>
                <a:tc>
                  <a:txBody>
                    <a:bodyPr/>
                    <a:lstStyle/>
                    <a:p>
                      <a:pPr algn="just">
                        <a:spcAft>
                          <a:spcPts val="0"/>
                        </a:spcAft>
                      </a:pPr>
                      <a:r>
                        <a:rPr lang="en-US" sz="1400" kern="100">
                          <a:effectLst/>
                          <a:latin typeface="幼圆" panose="02010509060101010101" pitchFamily="49" charset="-122"/>
                          <a:ea typeface="幼圆" panose="02010509060101010101" pitchFamily="49" charset="-122"/>
                        </a:rPr>
                        <a:t>Firefox</a:t>
                      </a:r>
                      <a:r>
                        <a:rPr lang="zh-CN" sz="1400" kern="100">
                          <a:effectLst/>
                          <a:latin typeface="幼圆" panose="02010509060101010101" pitchFamily="49" charset="-122"/>
                          <a:ea typeface="幼圆" panose="02010509060101010101" pitchFamily="49" charset="-122"/>
                        </a:rPr>
                        <a:t>浏览器</a:t>
                      </a:r>
                      <a:endParaRPr lang="zh-CN" sz="1400" kern="100">
                        <a:effectLst/>
                        <a:latin typeface="幼圆" panose="02010509060101010101" pitchFamily="49" charset="-122"/>
                        <a:ea typeface="幼圆" panose="02010509060101010101" pitchFamily="49" charset="-122"/>
                      </a:endParaRPr>
                    </a:p>
                  </a:txBody>
                  <a:tcPr marL="68580" marR="68580" marT="0" marB="0"/>
                </a:tc>
                <a:tc vMerge="1">
                  <a:tcPr/>
                </a:tc>
              </a:tr>
              <a:tr h="214955">
                <a:tc vMerge="1">
                  <a:tcPr/>
                </a:tc>
                <a:tc vMerge="1">
                  <a:tcPr/>
                </a:tc>
                <a:tc>
                  <a:txBody>
                    <a:bodyPr/>
                    <a:lstStyle/>
                    <a:p>
                      <a:pPr algn="just">
                        <a:spcAft>
                          <a:spcPts val="0"/>
                        </a:spcAft>
                      </a:pPr>
                      <a:r>
                        <a:rPr lang="en-US" sz="1400" kern="100">
                          <a:effectLst/>
                          <a:latin typeface="幼圆" panose="02010509060101010101" pitchFamily="49" charset="-122"/>
                          <a:ea typeface="幼圆" panose="02010509060101010101" pitchFamily="49" charset="-122"/>
                        </a:rPr>
                        <a:t>IE</a:t>
                      </a:r>
                      <a:r>
                        <a:rPr lang="zh-CN" sz="1400" kern="100">
                          <a:effectLst/>
                          <a:latin typeface="幼圆" panose="02010509060101010101" pitchFamily="49" charset="-122"/>
                          <a:ea typeface="幼圆" panose="02010509060101010101" pitchFamily="49" charset="-122"/>
                        </a:rPr>
                        <a:t>浏览器</a:t>
                      </a:r>
                      <a:endParaRPr lang="zh-CN" sz="1400" kern="100">
                        <a:effectLst/>
                        <a:latin typeface="幼圆" panose="02010509060101010101" pitchFamily="49" charset="-122"/>
                        <a:ea typeface="幼圆" panose="02010509060101010101" pitchFamily="49" charset="-122"/>
                      </a:endParaRPr>
                    </a:p>
                  </a:txBody>
                  <a:tcPr marL="68580" marR="68580" marT="0" marB="0"/>
                </a:tc>
                <a:tc vMerge="1">
                  <a:tcPr/>
                </a:tc>
              </a:tr>
              <a:tr h="214955">
                <a:tc vMerge="1">
                  <a:tcPr/>
                </a:tc>
                <a:tc vMerge="1">
                  <a:tcPr/>
                </a:tc>
                <a:tc>
                  <a:txBody>
                    <a:bodyPr/>
                    <a:lstStyle/>
                    <a:p>
                      <a:pPr algn="just">
                        <a:spcAft>
                          <a:spcPts val="0"/>
                        </a:spcAft>
                      </a:pPr>
                      <a:r>
                        <a:rPr lang="en-US" sz="1400" kern="100">
                          <a:effectLst/>
                          <a:latin typeface="幼圆" panose="02010509060101010101" pitchFamily="49" charset="-122"/>
                          <a:ea typeface="幼圆" panose="02010509060101010101" pitchFamily="49" charset="-122"/>
                        </a:rPr>
                        <a:t>Opera</a:t>
                      </a:r>
                      <a:r>
                        <a:rPr lang="zh-CN" sz="1400" kern="100">
                          <a:effectLst/>
                          <a:latin typeface="幼圆" panose="02010509060101010101" pitchFamily="49" charset="-122"/>
                          <a:ea typeface="幼圆" panose="02010509060101010101" pitchFamily="49" charset="-122"/>
                        </a:rPr>
                        <a:t>浏览器</a:t>
                      </a:r>
                      <a:endParaRPr lang="zh-CN" sz="1400" kern="100">
                        <a:effectLst/>
                        <a:latin typeface="幼圆" panose="02010509060101010101" pitchFamily="49" charset="-122"/>
                        <a:ea typeface="幼圆" panose="02010509060101010101" pitchFamily="49" charset="-122"/>
                      </a:endParaRPr>
                    </a:p>
                  </a:txBody>
                  <a:tcPr marL="68580" marR="68580" marT="0" marB="0"/>
                </a:tc>
                <a:tc vMerge="1">
                  <a:tcPr/>
                </a:tc>
              </a:tr>
              <a:tr h="214955">
                <a:tc vMerge="1">
                  <a:tcPr/>
                </a:tc>
                <a:tc vMerge="1">
                  <a:tcPr/>
                </a:tc>
                <a:tc>
                  <a:txBody>
                    <a:bodyPr/>
                    <a:lstStyle/>
                    <a:p>
                      <a:pPr algn="just">
                        <a:spcAft>
                          <a:spcPts val="0"/>
                        </a:spcAft>
                      </a:pPr>
                      <a:r>
                        <a:rPr lang="en-US" sz="1400" kern="100" dirty="0">
                          <a:effectLst/>
                          <a:latin typeface="幼圆" panose="02010509060101010101" pitchFamily="49" charset="-122"/>
                          <a:ea typeface="幼圆" panose="02010509060101010101" pitchFamily="49" charset="-122"/>
                        </a:rPr>
                        <a:t>Safari</a:t>
                      </a:r>
                      <a:r>
                        <a:rPr lang="zh-CN" sz="1400" kern="100" dirty="0">
                          <a:effectLst/>
                          <a:latin typeface="幼圆" panose="02010509060101010101" pitchFamily="49" charset="-122"/>
                          <a:ea typeface="幼圆" panose="02010509060101010101" pitchFamily="49" charset="-122"/>
                        </a:rPr>
                        <a:t>浏览器</a:t>
                      </a:r>
                      <a:endParaRPr lang="zh-CN" sz="1400" kern="100" dirty="0">
                        <a:effectLst/>
                        <a:latin typeface="幼圆" panose="02010509060101010101" pitchFamily="49" charset="-122"/>
                        <a:ea typeface="幼圆" panose="02010509060101010101" pitchFamily="49" charset="-122"/>
                      </a:endParaRPr>
                    </a:p>
                  </a:txBody>
                  <a:tcPr marL="68580" marR="68580" marT="0" marB="0"/>
                </a:tc>
                <a:tc vMerge="1">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arn(inVertical)">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nvSpPr>
        <p:spPr>
          <a:xfrm>
            <a:off x="1922333" y="272228"/>
            <a:ext cx="9167913" cy="5331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rgbClr val="C00000"/>
                </a:solidFill>
                <a:latin typeface="微软雅黑" panose="020B0503020204020204" pitchFamily="34" charset="-122"/>
                <a:ea typeface="微软雅黑" panose="020B0503020204020204" pitchFamily="34" charset="-122"/>
                <a:cs typeface="+mj-cs"/>
              </a:defRPr>
            </a:lvl1pPr>
          </a:lstStyle>
          <a:p>
            <a:pPr marL="0" algn="l" defTabSz="914400" rtl="0" eaLnBrk="1" latinLnBrk="0" hangingPunct="1"/>
            <a:r>
              <a:rPr lang="zh-CN" altLang="en-US" dirty="0" smtClean="0">
                <a:solidFill>
                  <a:srgbClr val="FF0000"/>
                </a:solidFill>
                <a:sym typeface="+mn-ea"/>
              </a:rPr>
              <a:t>测试报告</a:t>
            </a:r>
            <a:endParaRPr lang="zh-CN" altLang="en-US" dirty="0" smtClean="0">
              <a:solidFill>
                <a:srgbClr val="FF0000"/>
              </a:solidFill>
              <a:sym typeface="+mn-ea"/>
            </a:endParaRPr>
          </a:p>
        </p:txBody>
      </p:sp>
      <p:sp>
        <p:nvSpPr>
          <p:cNvPr id="5" name="内容占位符 2"/>
          <p:cNvSpPr txBox="1"/>
          <p:nvPr/>
        </p:nvSpPr>
        <p:spPr>
          <a:xfrm>
            <a:off x="1491921" y="1373418"/>
            <a:ext cx="2820202" cy="75376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四、测试过程分析</a:t>
            </a:r>
            <a:endPar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内容占位符 2"/>
          <p:cNvSpPr txBox="1"/>
          <p:nvPr/>
        </p:nvSpPr>
        <p:spPr>
          <a:xfrm>
            <a:off x="5869806" y="1679817"/>
            <a:ext cx="1551267" cy="668742"/>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功能测试</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4" name="表格 3"/>
          <p:cNvGraphicFramePr>
            <a:graphicFrameLocks noGrp="1"/>
          </p:cNvGraphicFramePr>
          <p:nvPr/>
        </p:nvGraphicFramePr>
        <p:xfrm>
          <a:off x="2728765" y="2404706"/>
          <a:ext cx="8032277" cy="3379316"/>
        </p:xfrm>
        <a:graphic>
          <a:graphicData uri="http://schemas.openxmlformats.org/drawingml/2006/table">
            <a:tbl>
              <a:tblPr firstRow="1" firstCol="1" bandRow="1">
                <a:tableStyleId>{5C22544A-7EE6-4342-B048-85BDC9FD1C3A}</a:tableStyleId>
              </a:tblPr>
              <a:tblGrid>
                <a:gridCol w="1010113"/>
                <a:gridCol w="649555"/>
                <a:gridCol w="979580"/>
                <a:gridCol w="1124415"/>
                <a:gridCol w="858452"/>
                <a:gridCol w="703684"/>
                <a:gridCol w="702767"/>
                <a:gridCol w="703684"/>
                <a:gridCol w="1300027"/>
              </a:tblGrid>
              <a:tr h="683695">
                <a:tc>
                  <a:txBody>
                    <a:bodyPr/>
                    <a:lstStyle/>
                    <a:p>
                      <a:pPr algn="just">
                        <a:spcAft>
                          <a:spcPts val="0"/>
                        </a:spcAft>
                      </a:pPr>
                      <a:r>
                        <a:rPr lang="zh-CN" sz="1400" kern="100" dirty="0">
                          <a:effectLst/>
                          <a:latin typeface="幼圆" panose="02010509060101010101" pitchFamily="49" charset="-122"/>
                          <a:ea typeface="幼圆" panose="02010509060101010101" pitchFamily="49" charset="-122"/>
                        </a:rPr>
                        <a:t>功能模块</a:t>
                      </a:r>
                      <a:endParaRPr lang="zh-CN" sz="1400" kern="100" dirty="0">
                        <a:effectLst/>
                        <a:latin typeface="幼圆" panose="02010509060101010101" pitchFamily="49" charset="-122"/>
                        <a:ea typeface="幼圆" panose="02010509060101010101" pitchFamily="49" charset="-122"/>
                      </a:endParaRPr>
                    </a:p>
                  </a:txBody>
                  <a:tcPr marL="64305" marR="64305" marT="0" marB="0" anchor="ctr" anchorCtr="1"/>
                </a:tc>
                <a:tc>
                  <a:txBody>
                    <a:bodyPr/>
                    <a:lstStyle/>
                    <a:p>
                      <a:pPr algn="just">
                        <a:spcAft>
                          <a:spcPts val="0"/>
                        </a:spcAft>
                      </a:pPr>
                      <a:r>
                        <a:rPr lang="zh-CN" sz="1400" kern="100" dirty="0">
                          <a:effectLst/>
                          <a:latin typeface="幼圆" panose="02010509060101010101" pitchFamily="49" charset="-122"/>
                          <a:ea typeface="幼圆" panose="02010509060101010101" pitchFamily="49" charset="-122"/>
                        </a:rPr>
                        <a:t>测试</a:t>
                      </a:r>
                      <a:endParaRPr lang="zh-CN" sz="1400" kern="100" dirty="0">
                        <a:effectLst/>
                        <a:latin typeface="幼圆" panose="02010509060101010101" pitchFamily="49" charset="-122"/>
                        <a:ea typeface="幼圆" panose="02010509060101010101" pitchFamily="49" charset="-122"/>
                      </a:endParaRPr>
                    </a:p>
                    <a:p>
                      <a:pPr algn="just">
                        <a:spcAft>
                          <a:spcPts val="0"/>
                        </a:spcAft>
                      </a:pPr>
                      <a:r>
                        <a:rPr lang="zh-CN" sz="1400" kern="100" dirty="0">
                          <a:effectLst/>
                          <a:latin typeface="幼圆" panose="02010509060101010101" pitchFamily="49" charset="-122"/>
                          <a:ea typeface="幼圆" panose="02010509060101010101" pitchFamily="49" charset="-122"/>
                        </a:rPr>
                        <a:t>轮数</a:t>
                      </a:r>
                      <a:endParaRPr lang="zh-CN" sz="1400" kern="100" dirty="0">
                        <a:effectLst/>
                        <a:latin typeface="幼圆" panose="02010509060101010101" pitchFamily="49" charset="-122"/>
                        <a:ea typeface="幼圆" panose="02010509060101010101" pitchFamily="49" charset="-122"/>
                      </a:endParaRPr>
                    </a:p>
                  </a:txBody>
                  <a:tcPr marL="64305" marR="64305" marT="0" marB="0" anchor="ctr" anchorCtr="1"/>
                </a:tc>
                <a:tc>
                  <a:txBody>
                    <a:bodyPr/>
                    <a:lstStyle/>
                    <a:p>
                      <a:pPr algn="just">
                        <a:spcAft>
                          <a:spcPts val="0"/>
                        </a:spcAft>
                      </a:pPr>
                      <a:r>
                        <a:rPr lang="zh-CN" sz="1400" kern="100" dirty="0">
                          <a:effectLst/>
                          <a:latin typeface="幼圆" panose="02010509060101010101" pitchFamily="49" charset="-122"/>
                          <a:ea typeface="幼圆" panose="02010509060101010101" pitchFamily="49" charset="-122"/>
                        </a:rPr>
                        <a:t>开始时间</a:t>
                      </a:r>
                      <a:endParaRPr lang="zh-CN" sz="1400" kern="100" dirty="0">
                        <a:effectLst/>
                        <a:latin typeface="幼圆" panose="02010509060101010101" pitchFamily="49" charset="-122"/>
                        <a:ea typeface="幼圆" panose="02010509060101010101" pitchFamily="49" charset="-122"/>
                      </a:endParaRPr>
                    </a:p>
                  </a:txBody>
                  <a:tcPr marL="64305" marR="64305" marT="0" marB="0" anchor="ctr" anchorCtr="1"/>
                </a:tc>
                <a:tc>
                  <a:txBody>
                    <a:bodyPr/>
                    <a:lstStyle/>
                    <a:p>
                      <a:pPr algn="just">
                        <a:spcAft>
                          <a:spcPts val="0"/>
                        </a:spcAft>
                      </a:pPr>
                      <a:r>
                        <a:rPr lang="zh-CN" sz="1400" kern="100" dirty="0">
                          <a:effectLst/>
                          <a:latin typeface="幼圆" panose="02010509060101010101" pitchFamily="49" charset="-122"/>
                          <a:ea typeface="幼圆" panose="02010509060101010101" pitchFamily="49" charset="-122"/>
                        </a:rPr>
                        <a:t>结束时间</a:t>
                      </a:r>
                      <a:endParaRPr lang="zh-CN" sz="1400" kern="100" dirty="0">
                        <a:effectLst/>
                        <a:latin typeface="幼圆" panose="02010509060101010101" pitchFamily="49" charset="-122"/>
                        <a:ea typeface="幼圆" panose="02010509060101010101" pitchFamily="49" charset="-122"/>
                      </a:endParaRPr>
                    </a:p>
                  </a:txBody>
                  <a:tcPr marL="64305" marR="64305" marT="0" marB="0" anchor="ctr" anchorCtr="1"/>
                </a:tc>
                <a:tc>
                  <a:txBody>
                    <a:bodyPr/>
                    <a:lstStyle/>
                    <a:p>
                      <a:pPr algn="just">
                        <a:spcAft>
                          <a:spcPts val="0"/>
                        </a:spcAft>
                      </a:pPr>
                      <a:r>
                        <a:rPr lang="zh-CN" sz="1400" kern="100" dirty="0">
                          <a:effectLst/>
                          <a:latin typeface="幼圆" panose="02010509060101010101" pitchFamily="49" charset="-122"/>
                          <a:ea typeface="幼圆" panose="02010509060101010101" pitchFamily="49" charset="-122"/>
                        </a:rPr>
                        <a:t>执行用例数</a:t>
                      </a:r>
                      <a:endParaRPr lang="zh-CN" sz="1400" kern="100" dirty="0">
                        <a:effectLst/>
                        <a:latin typeface="幼圆" panose="02010509060101010101" pitchFamily="49" charset="-122"/>
                        <a:ea typeface="幼圆" panose="02010509060101010101" pitchFamily="49" charset="-122"/>
                      </a:endParaRPr>
                    </a:p>
                  </a:txBody>
                  <a:tcPr marL="64305" marR="64305" marT="0" marB="0" anchor="ctr" anchorCtr="1"/>
                </a:tc>
                <a:tc>
                  <a:txBody>
                    <a:bodyPr/>
                    <a:lstStyle/>
                    <a:p>
                      <a:pPr algn="just">
                        <a:spcAft>
                          <a:spcPts val="0"/>
                        </a:spcAft>
                      </a:pPr>
                      <a:r>
                        <a:rPr lang="zh-CN" sz="1400" kern="100" dirty="0">
                          <a:effectLst/>
                          <a:latin typeface="幼圆" panose="02010509060101010101" pitchFamily="49" charset="-122"/>
                          <a:ea typeface="幼圆" panose="02010509060101010101" pitchFamily="49" charset="-122"/>
                        </a:rPr>
                        <a:t>用例通过数</a:t>
                      </a:r>
                      <a:endParaRPr lang="zh-CN" sz="1400" kern="100" dirty="0">
                        <a:effectLst/>
                        <a:latin typeface="幼圆" panose="02010509060101010101" pitchFamily="49" charset="-122"/>
                        <a:ea typeface="幼圆" panose="02010509060101010101" pitchFamily="49" charset="-122"/>
                      </a:endParaRPr>
                    </a:p>
                  </a:txBody>
                  <a:tcPr marL="64305" marR="64305" marT="0" marB="0" anchor="ctr" anchorCtr="1"/>
                </a:tc>
                <a:tc>
                  <a:txBody>
                    <a:bodyPr/>
                    <a:lstStyle/>
                    <a:p>
                      <a:pPr algn="just">
                        <a:spcAft>
                          <a:spcPts val="0"/>
                        </a:spcAft>
                      </a:pPr>
                      <a:r>
                        <a:rPr lang="zh-CN" sz="1400" kern="100" dirty="0">
                          <a:effectLst/>
                          <a:latin typeface="幼圆" panose="02010509060101010101" pitchFamily="49" charset="-122"/>
                          <a:ea typeface="幼圆" panose="02010509060101010101" pitchFamily="49" charset="-122"/>
                        </a:rPr>
                        <a:t>用例未通过数</a:t>
                      </a:r>
                      <a:endParaRPr lang="zh-CN" sz="1400" kern="100" dirty="0">
                        <a:effectLst/>
                        <a:latin typeface="幼圆" panose="02010509060101010101" pitchFamily="49" charset="-122"/>
                        <a:ea typeface="幼圆" panose="02010509060101010101" pitchFamily="49" charset="-122"/>
                      </a:endParaRPr>
                    </a:p>
                  </a:txBody>
                  <a:tcPr marL="64305" marR="64305" marT="0" marB="0" anchor="ctr" anchorCtr="1"/>
                </a:tc>
                <a:tc>
                  <a:txBody>
                    <a:bodyPr/>
                    <a:lstStyle/>
                    <a:p>
                      <a:pPr algn="just">
                        <a:spcAft>
                          <a:spcPts val="0"/>
                        </a:spcAft>
                      </a:pPr>
                      <a:r>
                        <a:rPr lang="zh-CN" sz="1400" kern="100" dirty="0">
                          <a:effectLst/>
                          <a:latin typeface="幼圆" panose="02010509060101010101" pitchFamily="49" charset="-122"/>
                          <a:ea typeface="幼圆" panose="02010509060101010101" pitchFamily="49" charset="-122"/>
                        </a:rPr>
                        <a:t>用例通过率</a:t>
                      </a:r>
                      <a:endParaRPr lang="zh-CN" sz="1400" kern="100" dirty="0">
                        <a:effectLst/>
                        <a:latin typeface="幼圆" panose="02010509060101010101" pitchFamily="49" charset="-122"/>
                        <a:ea typeface="幼圆" panose="02010509060101010101" pitchFamily="49" charset="-122"/>
                      </a:endParaRPr>
                    </a:p>
                  </a:txBody>
                  <a:tcPr marL="64305" marR="64305" marT="0" marB="0" anchor="ctr" anchorCtr="1"/>
                </a:tc>
                <a:tc>
                  <a:txBody>
                    <a:bodyPr/>
                    <a:lstStyle/>
                    <a:p>
                      <a:pPr algn="just">
                        <a:spcAft>
                          <a:spcPts val="0"/>
                        </a:spcAft>
                      </a:pPr>
                      <a:r>
                        <a:rPr lang="zh-CN" sz="1400" kern="100" dirty="0">
                          <a:effectLst/>
                          <a:latin typeface="幼圆" panose="02010509060101010101" pitchFamily="49" charset="-122"/>
                          <a:ea typeface="幼圆" panose="02010509060101010101" pitchFamily="49" charset="-122"/>
                        </a:rPr>
                        <a:t>备注</a:t>
                      </a:r>
                      <a:endParaRPr lang="zh-CN" sz="1400" kern="100" dirty="0">
                        <a:effectLst/>
                        <a:latin typeface="幼圆" panose="02010509060101010101" pitchFamily="49" charset="-122"/>
                        <a:ea typeface="幼圆" panose="02010509060101010101" pitchFamily="49" charset="-122"/>
                      </a:endParaRPr>
                    </a:p>
                  </a:txBody>
                  <a:tcPr marL="64305" marR="64305" marT="0" marB="0" anchor="ctr" anchorCtr="1"/>
                </a:tc>
              </a:tr>
              <a:tr h="2695621">
                <a:tc>
                  <a:txBody>
                    <a:bodyPr/>
                    <a:lstStyle/>
                    <a:p>
                      <a:pPr algn="ctr">
                        <a:spcAft>
                          <a:spcPts val="0"/>
                        </a:spcAft>
                      </a:pPr>
                      <a:r>
                        <a:rPr lang="zh-CN" sz="1400" kern="100" dirty="0">
                          <a:effectLst/>
                          <a:latin typeface="幼圆" panose="02010509060101010101" pitchFamily="49" charset="-122"/>
                          <a:ea typeface="幼圆" panose="02010509060101010101" pitchFamily="49" charset="-122"/>
                        </a:rPr>
                        <a:t>发布试卷功能</a:t>
                      </a:r>
                      <a:endParaRPr lang="zh-CN" sz="1400" kern="100" dirty="0">
                        <a:effectLst/>
                        <a:latin typeface="幼圆" panose="02010509060101010101" pitchFamily="49" charset="-122"/>
                        <a:ea typeface="幼圆" panose="02010509060101010101" pitchFamily="49" charset="-122"/>
                      </a:endParaRPr>
                    </a:p>
                  </a:txBody>
                  <a:tcPr marL="64305" marR="64305" marT="0" marB="0" anchor="ctr"/>
                </a:tc>
                <a:tc>
                  <a:txBody>
                    <a:bodyPr/>
                    <a:lstStyle/>
                    <a:p>
                      <a:pPr algn="ctr">
                        <a:spcAft>
                          <a:spcPts val="0"/>
                        </a:spcAft>
                      </a:pPr>
                      <a:r>
                        <a:rPr lang="en-US" sz="1400" kern="100" dirty="0">
                          <a:effectLst/>
                          <a:latin typeface="幼圆" panose="02010509060101010101" pitchFamily="49" charset="-122"/>
                          <a:ea typeface="幼圆" panose="02010509060101010101" pitchFamily="49" charset="-122"/>
                        </a:rPr>
                        <a:t>1</a:t>
                      </a:r>
                      <a:endParaRPr lang="zh-CN" sz="1400" kern="100" dirty="0">
                        <a:effectLst/>
                        <a:latin typeface="幼圆" panose="02010509060101010101" pitchFamily="49" charset="-122"/>
                        <a:ea typeface="幼圆" panose="02010509060101010101" pitchFamily="49" charset="-122"/>
                      </a:endParaRPr>
                    </a:p>
                  </a:txBody>
                  <a:tcPr marL="64305" marR="64305" marT="0" marB="0" anchor="ctr"/>
                </a:tc>
                <a:tc>
                  <a:txBody>
                    <a:bodyPr/>
                    <a:lstStyle/>
                    <a:p>
                      <a:pPr algn="ctr">
                        <a:spcAft>
                          <a:spcPts val="0"/>
                        </a:spcAft>
                      </a:pPr>
                      <a:r>
                        <a:rPr lang="en-US" sz="1400" kern="100">
                          <a:effectLst/>
                          <a:latin typeface="幼圆" panose="02010509060101010101" pitchFamily="49" charset="-122"/>
                          <a:ea typeface="幼圆" panose="02010509060101010101" pitchFamily="49" charset="-122"/>
                        </a:rPr>
                        <a:t>2019.05.06</a:t>
                      </a:r>
                      <a:endParaRPr lang="zh-CN" sz="1400" kern="100">
                        <a:effectLst/>
                        <a:latin typeface="幼圆" panose="02010509060101010101" pitchFamily="49" charset="-122"/>
                        <a:ea typeface="幼圆" panose="02010509060101010101" pitchFamily="49" charset="-122"/>
                      </a:endParaRPr>
                    </a:p>
                  </a:txBody>
                  <a:tcPr marL="64305" marR="64305" marT="0" marB="0" anchor="ctr"/>
                </a:tc>
                <a:tc>
                  <a:txBody>
                    <a:bodyPr/>
                    <a:lstStyle/>
                    <a:p>
                      <a:pPr algn="ctr">
                        <a:spcAft>
                          <a:spcPts val="0"/>
                        </a:spcAft>
                      </a:pPr>
                      <a:r>
                        <a:rPr lang="en-US" sz="1400" kern="100">
                          <a:effectLst/>
                          <a:latin typeface="幼圆" panose="02010509060101010101" pitchFamily="49" charset="-122"/>
                          <a:ea typeface="幼圆" panose="02010509060101010101" pitchFamily="49" charset="-122"/>
                        </a:rPr>
                        <a:t>2019.05.06</a:t>
                      </a:r>
                      <a:endParaRPr lang="zh-CN" sz="1400" kern="100">
                        <a:effectLst/>
                        <a:latin typeface="幼圆" panose="02010509060101010101" pitchFamily="49" charset="-122"/>
                        <a:ea typeface="幼圆" panose="02010509060101010101" pitchFamily="49" charset="-122"/>
                      </a:endParaRPr>
                    </a:p>
                  </a:txBody>
                  <a:tcPr marL="64305" marR="64305" marT="0" marB="0" anchor="ctr"/>
                </a:tc>
                <a:tc>
                  <a:txBody>
                    <a:bodyPr/>
                    <a:lstStyle/>
                    <a:p>
                      <a:pPr algn="ctr">
                        <a:spcAft>
                          <a:spcPts val="0"/>
                        </a:spcAft>
                      </a:pPr>
                      <a:r>
                        <a:rPr lang="en-US" sz="1400" kern="100">
                          <a:effectLst/>
                          <a:latin typeface="幼圆" panose="02010509060101010101" pitchFamily="49" charset="-122"/>
                          <a:ea typeface="幼圆" panose="02010509060101010101" pitchFamily="49" charset="-122"/>
                        </a:rPr>
                        <a:t>1</a:t>
                      </a:r>
                      <a:endParaRPr lang="zh-CN" sz="1400" kern="100">
                        <a:effectLst/>
                        <a:latin typeface="幼圆" panose="02010509060101010101" pitchFamily="49" charset="-122"/>
                        <a:ea typeface="幼圆" panose="02010509060101010101" pitchFamily="49" charset="-122"/>
                      </a:endParaRPr>
                    </a:p>
                  </a:txBody>
                  <a:tcPr marL="64305" marR="64305" marT="0" marB="0" anchor="ctr"/>
                </a:tc>
                <a:tc>
                  <a:txBody>
                    <a:bodyPr/>
                    <a:lstStyle/>
                    <a:p>
                      <a:pPr algn="ctr">
                        <a:spcAft>
                          <a:spcPts val="0"/>
                        </a:spcAft>
                      </a:pPr>
                      <a:r>
                        <a:rPr lang="en-US" sz="1400" kern="100" dirty="0">
                          <a:effectLst/>
                          <a:latin typeface="幼圆" panose="02010509060101010101" pitchFamily="49" charset="-122"/>
                          <a:ea typeface="幼圆" panose="02010509060101010101" pitchFamily="49" charset="-122"/>
                        </a:rPr>
                        <a:t>0</a:t>
                      </a:r>
                      <a:endParaRPr lang="zh-CN" sz="1400" kern="100" dirty="0">
                        <a:effectLst/>
                        <a:latin typeface="幼圆" panose="02010509060101010101" pitchFamily="49" charset="-122"/>
                        <a:ea typeface="幼圆" panose="02010509060101010101" pitchFamily="49" charset="-122"/>
                      </a:endParaRPr>
                    </a:p>
                  </a:txBody>
                  <a:tcPr marL="64305" marR="64305" marT="0" marB="0" anchor="ctr"/>
                </a:tc>
                <a:tc>
                  <a:txBody>
                    <a:bodyPr/>
                    <a:lstStyle/>
                    <a:p>
                      <a:pPr algn="ctr">
                        <a:spcAft>
                          <a:spcPts val="0"/>
                        </a:spcAft>
                      </a:pPr>
                      <a:r>
                        <a:rPr lang="en-US" sz="1400" kern="100">
                          <a:effectLst/>
                          <a:latin typeface="幼圆" panose="02010509060101010101" pitchFamily="49" charset="-122"/>
                          <a:ea typeface="幼圆" panose="02010509060101010101" pitchFamily="49" charset="-122"/>
                        </a:rPr>
                        <a:t>1</a:t>
                      </a:r>
                      <a:endParaRPr lang="zh-CN" sz="1400" kern="100">
                        <a:effectLst/>
                        <a:latin typeface="幼圆" panose="02010509060101010101" pitchFamily="49" charset="-122"/>
                        <a:ea typeface="幼圆" panose="02010509060101010101" pitchFamily="49" charset="-122"/>
                      </a:endParaRPr>
                    </a:p>
                  </a:txBody>
                  <a:tcPr marL="64305" marR="64305" marT="0" marB="0" anchor="ctr"/>
                </a:tc>
                <a:tc>
                  <a:txBody>
                    <a:bodyPr/>
                    <a:lstStyle/>
                    <a:p>
                      <a:pPr algn="ctr">
                        <a:spcAft>
                          <a:spcPts val="0"/>
                        </a:spcAft>
                      </a:pPr>
                      <a:r>
                        <a:rPr lang="en-US" sz="1400" kern="100">
                          <a:effectLst/>
                          <a:latin typeface="幼圆" panose="02010509060101010101" pitchFamily="49" charset="-122"/>
                          <a:ea typeface="幼圆" panose="02010509060101010101" pitchFamily="49" charset="-122"/>
                        </a:rPr>
                        <a:t>0%</a:t>
                      </a:r>
                      <a:endParaRPr lang="zh-CN" sz="1400" kern="100">
                        <a:effectLst/>
                        <a:latin typeface="幼圆" panose="02010509060101010101" pitchFamily="49" charset="-122"/>
                        <a:ea typeface="幼圆" panose="02010509060101010101" pitchFamily="49" charset="-122"/>
                      </a:endParaRPr>
                    </a:p>
                  </a:txBody>
                  <a:tcPr marL="64305" marR="64305" marT="0" marB="0" anchor="ctr"/>
                </a:tc>
                <a:tc>
                  <a:txBody>
                    <a:bodyPr/>
                    <a:lstStyle/>
                    <a:p>
                      <a:pPr algn="ctr">
                        <a:spcAft>
                          <a:spcPts val="0"/>
                        </a:spcAft>
                      </a:pPr>
                      <a:r>
                        <a:rPr lang="zh-CN" sz="1400" kern="100" dirty="0">
                          <a:effectLst/>
                          <a:latin typeface="幼圆" panose="02010509060101010101" pitchFamily="49" charset="-122"/>
                          <a:ea typeface="幼圆" panose="02010509060101010101" pitchFamily="49" charset="-122"/>
                        </a:rPr>
                        <a:t>由于测试用例</a:t>
                      </a:r>
                      <a:r>
                        <a:rPr lang="en-US" sz="1400" kern="100" dirty="0">
                          <a:effectLst/>
                          <a:latin typeface="幼圆" panose="02010509060101010101" pitchFamily="49" charset="-122"/>
                          <a:ea typeface="幼圆" panose="02010509060101010101" pitchFamily="49" charset="-122"/>
                        </a:rPr>
                        <a:t>T_001</a:t>
                      </a:r>
                      <a:r>
                        <a:rPr lang="zh-CN" sz="1400" kern="100" dirty="0">
                          <a:effectLst/>
                          <a:latin typeface="幼圆" panose="02010509060101010101" pitchFamily="49" charset="-122"/>
                          <a:ea typeface="幼圆" panose="02010509060101010101" pitchFamily="49" charset="-122"/>
                        </a:rPr>
                        <a:t>测试未通过，发现没有管理员入口缺陷，而后面的</a:t>
                      </a:r>
                      <a:r>
                        <a:rPr lang="en-US" sz="1400" kern="100" dirty="0">
                          <a:effectLst/>
                          <a:latin typeface="幼圆" panose="02010509060101010101" pitchFamily="49" charset="-122"/>
                          <a:ea typeface="幼圆" panose="02010509060101010101" pitchFamily="49" charset="-122"/>
                        </a:rPr>
                        <a:t>T_002~T_006</a:t>
                      </a:r>
                      <a:r>
                        <a:rPr lang="zh-CN" sz="1400" kern="100" dirty="0">
                          <a:effectLst/>
                          <a:latin typeface="幼圆" panose="02010509060101010101" pitchFamily="49" charset="-122"/>
                          <a:ea typeface="幼圆" panose="02010509060101010101" pitchFamily="49" charset="-122"/>
                        </a:rPr>
                        <a:t>都是基于管理员登录才可执行，因此</a:t>
                      </a:r>
                      <a:r>
                        <a:rPr lang="en-US" sz="1400" kern="100" dirty="0">
                          <a:effectLst/>
                          <a:latin typeface="幼圆" panose="02010509060101010101" pitchFamily="49" charset="-122"/>
                          <a:ea typeface="幼圆" panose="02010509060101010101" pitchFamily="49" charset="-122"/>
                        </a:rPr>
                        <a:t>T_002~T_006</a:t>
                      </a:r>
                      <a:r>
                        <a:rPr lang="zh-CN" sz="1400" kern="100" dirty="0">
                          <a:effectLst/>
                          <a:latin typeface="幼圆" panose="02010509060101010101" pitchFamily="49" charset="-122"/>
                          <a:ea typeface="幼圆" panose="02010509060101010101" pitchFamily="49" charset="-122"/>
                        </a:rPr>
                        <a:t>测试用例未执行。</a:t>
                      </a:r>
                      <a:endParaRPr lang="zh-CN" sz="1400" kern="100" dirty="0">
                        <a:effectLst/>
                        <a:latin typeface="幼圆" panose="02010509060101010101" pitchFamily="49" charset="-122"/>
                        <a:ea typeface="幼圆" panose="02010509060101010101" pitchFamily="49" charset="-122"/>
                      </a:endParaRPr>
                    </a:p>
                  </a:txBody>
                  <a:tcPr marL="64305" marR="64305" marT="0" marB="0"/>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up)">
                                      <p:cBhvr>
                                        <p:cTn id="11" dur="500"/>
                                        <p:tgtEl>
                                          <p:spTgt spid="6"/>
                                        </p:tgtEl>
                                      </p:cBhvr>
                                    </p:animEffect>
                                  </p:childTnLst>
                                </p:cTn>
                              </p:par>
                            </p:childTnLst>
                          </p:cTn>
                        </p:par>
                        <p:par>
                          <p:cTn id="12" fill="hold">
                            <p:stCondLst>
                              <p:cond delay="1000"/>
                            </p:stCondLst>
                            <p:childTnLst>
                              <p:par>
                                <p:cTn id="13" presetID="16" presetClass="entr" presetSubtype="21"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barn(inVertical)">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nvSpPr>
        <p:spPr>
          <a:xfrm>
            <a:off x="1922333" y="272228"/>
            <a:ext cx="9167913" cy="5331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rgbClr val="C00000"/>
                </a:solidFill>
                <a:latin typeface="微软雅黑" panose="020B0503020204020204" pitchFamily="34" charset="-122"/>
                <a:ea typeface="微软雅黑" panose="020B0503020204020204" pitchFamily="34" charset="-122"/>
                <a:cs typeface="+mj-cs"/>
              </a:defRPr>
            </a:lvl1pPr>
          </a:lstStyle>
          <a:p>
            <a:pPr marL="0" algn="l" defTabSz="914400" rtl="0" eaLnBrk="1" latinLnBrk="0" hangingPunct="1"/>
            <a:r>
              <a:rPr lang="zh-CN" altLang="en-US" dirty="0" smtClean="0">
                <a:solidFill>
                  <a:srgbClr val="FF0000"/>
                </a:solidFill>
                <a:sym typeface="+mn-ea"/>
              </a:rPr>
              <a:t>测试报告</a:t>
            </a:r>
            <a:endParaRPr lang="zh-CN" altLang="en-US" dirty="0" smtClean="0">
              <a:solidFill>
                <a:srgbClr val="FF0000"/>
              </a:solidFill>
              <a:sym typeface="+mn-ea"/>
            </a:endParaRPr>
          </a:p>
        </p:txBody>
      </p:sp>
      <p:sp>
        <p:nvSpPr>
          <p:cNvPr id="5" name="内容占位符 2"/>
          <p:cNvSpPr txBox="1"/>
          <p:nvPr/>
        </p:nvSpPr>
        <p:spPr>
          <a:xfrm>
            <a:off x="1491921" y="1373418"/>
            <a:ext cx="2820202" cy="75376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四、测试过程分析</a:t>
            </a:r>
            <a:endPar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内容占位符 2"/>
          <p:cNvSpPr txBox="1"/>
          <p:nvPr/>
        </p:nvSpPr>
        <p:spPr>
          <a:xfrm>
            <a:off x="5850561" y="1615546"/>
            <a:ext cx="1551267" cy="639974"/>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功能测试</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4" name="表格 3"/>
          <p:cNvGraphicFramePr>
            <a:graphicFrameLocks noGrp="1"/>
          </p:cNvGraphicFramePr>
          <p:nvPr/>
        </p:nvGraphicFramePr>
        <p:xfrm>
          <a:off x="2458462" y="2274770"/>
          <a:ext cx="8341090" cy="3786151"/>
        </p:xfrm>
        <a:graphic>
          <a:graphicData uri="http://schemas.openxmlformats.org/drawingml/2006/table">
            <a:tbl>
              <a:tblPr firstRow="1" firstCol="1" bandRow="1">
                <a:tableStyleId>{5C22544A-7EE6-4342-B048-85BDC9FD1C3A}</a:tableStyleId>
              </a:tblPr>
              <a:tblGrid>
                <a:gridCol w="1048947"/>
                <a:gridCol w="674529"/>
                <a:gridCol w="1172801"/>
                <a:gridCol w="1173755"/>
                <a:gridCol w="729785"/>
                <a:gridCol w="730739"/>
                <a:gridCol w="729785"/>
                <a:gridCol w="730739"/>
                <a:gridCol w="1350010"/>
              </a:tblGrid>
              <a:tr h="775155">
                <a:tc>
                  <a:txBody>
                    <a:bodyPr/>
                    <a:lstStyle/>
                    <a:p>
                      <a:pPr algn="just">
                        <a:spcAft>
                          <a:spcPts val="0"/>
                        </a:spcAft>
                      </a:pPr>
                      <a:r>
                        <a:rPr lang="zh-CN" sz="1400" kern="100" dirty="0">
                          <a:effectLst/>
                          <a:latin typeface="幼圆" panose="02010509060101010101" pitchFamily="49" charset="-122"/>
                          <a:ea typeface="幼圆" panose="02010509060101010101" pitchFamily="49" charset="-122"/>
                        </a:rPr>
                        <a:t>功能模块</a:t>
                      </a:r>
                      <a:endParaRPr lang="zh-CN" sz="1400" kern="100" dirty="0">
                        <a:effectLst/>
                        <a:latin typeface="幼圆" panose="02010509060101010101" pitchFamily="49" charset="-122"/>
                        <a:ea typeface="幼圆" panose="02010509060101010101" pitchFamily="49" charset="-122"/>
                      </a:endParaRPr>
                    </a:p>
                  </a:txBody>
                  <a:tcPr marL="64305" marR="64305" marT="0" marB="0" anchor="ctr"/>
                </a:tc>
                <a:tc>
                  <a:txBody>
                    <a:bodyPr/>
                    <a:lstStyle/>
                    <a:p>
                      <a:pPr algn="just">
                        <a:spcAft>
                          <a:spcPts val="0"/>
                        </a:spcAft>
                      </a:pPr>
                      <a:r>
                        <a:rPr lang="zh-CN" sz="1400" kern="100">
                          <a:effectLst/>
                          <a:latin typeface="幼圆" panose="02010509060101010101" pitchFamily="49" charset="-122"/>
                          <a:ea typeface="幼圆" panose="02010509060101010101" pitchFamily="49" charset="-122"/>
                        </a:rPr>
                        <a:t>测试</a:t>
                      </a:r>
                      <a:endParaRPr lang="zh-CN" sz="1400" kern="100">
                        <a:effectLst/>
                        <a:latin typeface="幼圆" panose="02010509060101010101" pitchFamily="49" charset="-122"/>
                        <a:ea typeface="幼圆" panose="02010509060101010101" pitchFamily="49" charset="-122"/>
                      </a:endParaRPr>
                    </a:p>
                    <a:p>
                      <a:pPr algn="just">
                        <a:spcAft>
                          <a:spcPts val="0"/>
                        </a:spcAft>
                      </a:pPr>
                      <a:r>
                        <a:rPr lang="zh-CN" sz="1400" kern="100">
                          <a:effectLst/>
                          <a:latin typeface="幼圆" panose="02010509060101010101" pitchFamily="49" charset="-122"/>
                          <a:ea typeface="幼圆" panose="02010509060101010101" pitchFamily="49" charset="-122"/>
                        </a:rPr>
                        <a:t>轮数</a:t>
                      </a:r>
                      <a:endParaRPr lang="zh-CN" sz="1400" kern="100">
                        <a:effectLst/>
                        <a:latin typeface="幼圆" panose="02010509060101010101" pitchFamily="49" charset="-122"/>
                        <a:ea typeface="幼圆" panose="02010509060101010101" pitchFamily="49" charset="-122"/>
                      </a:endParaRPr>
                    </a:p>
                  </a:txBody>
                  <a:tcPr marL="64305" marR="64305" marT="0" marB="0" anchor="ctr"/>
                </a:tc>
                <a:tc>
                  <a:txBody>
                    <a:bodyPr/>
                    <a:lstStyle/>
                    <a:p>
                      <a:pPr algn="just">
                        <a:spcAft>
                          <a:spcPts val="0"/>
                        </a:spcAft>
                      </a:pPr>
                      <a:r>
                        <a:rPr lang="zh-CN" sz="1400" kern="100">
                          <a:effectLst/>
                          <a:latin typeface="幼圆" panose="02010509060101010101" pitchFamily="49" charset="-122"/>
                          <a:ea typeface="幼圆" panose="02010509060101010101" pitchFamily="49" charset="-122"/>
                        </a:rPr>
                        <a:t>开始时间</a:t>
                      </a:r>
                      <a:endParaRPr lang="zh-CN" sz="1400" kern="100">
                        <a:effectLst/>
                        <a:latin typeface="幼圆" panose="02010509060101010101" pitchFamily="49" charset="-122"/>
                        <a:ea typeface="幼圆" panose="02010509060101010101" pitchFamily="49" charset="-122"/>
                      </a:endParaRPr>
                    </a:p>
                  </a:txBody>
                  <a:tcPr marL="64305" marR="64305" marT="0" marB="0" anchor="ctr"/>
                </a:tc>
                <a:tc>
                  <a:txBody>
                    <a:bodyPr/>
                    <a:lstStyle/>
                    <a:p>
                      <a:pPr algn="just">
                        <a:spcAft>
                          <a:spcPts val="0"/>
                        </a:spcAft>
                      </a:pPr>
                      <a:r>
                        <a:rPr lang="zh-CN" sz="1400" kern="100" dirty="0">
                          <a:effectLst/>
                          <a:latin typeface="幼圆" panose="02010509060101010101" pitchFamily="49" charset="-122"/>
                          <a:ea typeface="幼圆" panose="02010509060101010101" pitchFamily="49" charset="-122"/>
                        </a:rPr>
                        <a:t>结束时间</a:t>
                      </a:r>
                      <a:endParaRPr lang="zh-CN" sz="1400" kern="100" dirty="0">
                        <a:effectLst/>
                        <a:latin typeface="幼圆" panose="02010509060101010101" pitchFamily="49" charset="-122"/>
                        <a:ea typeface="幼圆" panose="02010509060101010101" pitchFamily="49" charset="-122"/>
                      </a:endParaRPr>
                    </a:p>
                  </a:txBody>
                  <a:tcPr marL="64305" marR="64305" marT="0" marB="0" anchor="ctr"/>
                </a:tc>
                <a:tc>
                  <a:txBody>
                    <a:bodyPr/>
                    <a:lstStyle/>
                    <a:p>
                      <a:pPr algn="just">
                        <a:spcAft>
                          <a:spcPts val="0"/>
                        </a:spcAft>
                      </a:pPr>
                      <a:r>
                        <a:rPr lang="zh-CN" sz="1400" kern="100">
                          <a:effectLst/>
                          <a:latin typeface="幼圆" panose="02010509060101010101" pitchFamily="49" charset="-122"/>
                          <a:ea typeface="幼圆" panose="02010509060101010101" pitchFamily="49" charset="-122"/>
                        </a:rPr>
                        <a:t>执行用例数</a:t>
                      </a:r>
                      <a:endParaRPr lang="zh-CN" sz="1400" kern="100">
                        <a:effectLst/>
                        <a:latin typeface="幼圆" panose="02010509060101010101" pitchFamily="49" charset="-122"/>
                        <a:ea typeface="幼圆" panose="02010509060101010101" pitchFamily="49" charset="-122"/>
                      </a:endParaRPr>
                    </a:p>
                  </a:txBody>
                  <a:tcPr marL="64305" marR="64305" marT="0" marB="0" anchor="ctr"/>
                </a:tc>
                <a:tc>
                  <a:txBody>
                    <a:bodyPr/>
                    <a:lstStyle/>
                    <a:p>
                      <a:pPr algn="just">
                        <a:spcAft>
                          <a:spcPts val="0"/>
                        </a:spcAft>
                      </a:pPr>
                      <a:r>
                        <a:rPr lang="zh-CN" sz="1400" kern="100">
                          <a:effectLst/>
                          <a:latin typeface="幼圆" panose="02010509060101010101" pitchFamily="49" charset="-122"/>
                          <a:ea typeface="幼圆" panose="02010509060101010101" pitchFamily="49" charset="-122"/>
                        </a:rPr>
                        <a:t>用例通过数</a:t>
                      </a:r>
                      <a:endParaRPr lang="zh-CN" sz="1400" kern="100">
                        <a:effectLst/>
                        <a:latin typeface="幼圆" panose="02010509060101010101" pitchFamily="49" charset="-122"/>
                        <a:ea typeface="幼圆" panose="02010509060101010101" pitchFamily="49" charset="-122"/>
                      </a:endParaRPr>
                    </a:p>
                  </a:txBody>
                  <a:tcPr marL="64305" marR="64305" marT="0" marB="0" anchor="ctr"/>
                </a:tc>
                <a:tc>
                  <a:txBody>
                    <a:bodyPr/>
                    <a:lstStyle/>
                    <a:p>
                      <a:pPr algn="just">
                        <a:spcAft>
                          <a:spcPts val="0"/>
                        </a:spcAft>
                      </a:pPr>
                      <a:r>
                        <a:rPr lang="zh-CN" sz="1400" kern="100" dirty="0">
                          <a:effectLst/>
                          <a:latin typeface="幼圆" panose="02010509060101010101" pitchFamily="49" charset="-122"/>
                          <a:ea typeface="幼圆" panose="02010509060101010101" pitchFamily="49" charset="-122"/>
                        </a:rPr>
                        <a:t>用例未通过数</a:t>
                      </a:r>
                      <a:endParaRPr lang="zh-CN" sz="1400" kern="100" dirty="0">
                        <a:effectLst/>
                        <a:latin typeface="幼圆" panose="02010509060101010101" pitchFamily="49" charset="-122"/>
                        <a:ea typeface="幼圆" panose="02010509060101010101" pitchFamily="49" charset="-122"/>
                      </a:endParaRPr>
                    </a:p>
                  </a:txBody>
                  <a:tcPr marL="64305" marR="64305" marT="0" marB="0" anchor="ctr"/>
                </a:tc>
                <a:tc>
                  <a:txBody>
                    <a:bodyPr/>
                    <a:lstStyle/>
                    <a:p>
                      <a:pPr algn="just">
                        <a:spcAft>
                          <a:spcPts val="0"/>
                        </a:spcAft>
                      </a:pPr>
                      <a:r>
                        <a:rPr lang="zh-CN" sz="1400" kern="100">
                          <a:effectLst/>
                          <a:latin typeface="幼圆" panose="02010509060101010101" pitchFamily="49" charset="-122"/>
                          <a:ea typeface="幼圆" panose="02010509060101010101" pitchFamily="49" charset="-122"/>
                        </a:rPr>
                        <a:t>用例通过率</a:t>
                      </a:r>
                      <a:endParaRPr lang="zh-CN" sz="1400" kern="100">
                        <a:effectLst/>
                        <a:latin typeface="幼圆" panose="02010509060101010101" pitchFamily="49" charset="-122"/>
                        <a:ea typeface="幼圆" panose="02010509060101010101" pitchFamily="49" charset="-122"/>
                      </a:endParaRPr>
                    </a:p>
                  </a:txBody>
                  <a:tcPr marL="64305" marR="64305" marT="0" marB="0" anchor="ctr"/>
                </a:tc>
                <a:tc>
                  <a:txBody>
                    <a:bodyPr/>
                    <a:lstStyle/>
                    <a:p>
                      <a:pPr algn="just">
                        <a:spcAft>
                          <a:spcPts val="0"/>
                        </a:spcAft>
                      </a:pPr>
                      <a:r>
                        <a:rPr lang="zh-CN" sz="1400" kern="100">
                          <a:effectLst/>
                          <a:latin typeface="幼圆" panose="02010509060101010101" pitchFamily="49" charset="-122"/>
                          <a:ea typeface="幼圆" panose="02010509060101010101" pitchFamily="49" charset="-122"/>
                        </a:rPr>
                        <a:t>备注</a:t>
                      </a:r>
                      <a:endParaRPr lang="zh-CN" sz="1400" kern="100">
                        <a:effectLst/>
                        <a:latin typeface="幼圆" panose="02010509060101010101" pitchFamily="49" charset="-122"/>
                        <a:ea typeface="幼圆" panose="02010509060101010101" pitchFamily="49" charset="-122"/>
                      </a:endParaRPr>
                    </a:p>
                  </a:txBody>
                  <a:tcPr marL="64305" marR="64305" marT="0" marB="0"/>
                </a:tc>
              </a:tr>
              <a:tr h="2494226">
                <a:tc>
                  <a:txBody>
                    <a:bodyPr/>
                    <a:lstStyle/>
                    <a:p>
                      <a:pPr algn="ctr">
                        <a:spcAft>
                          <a:spcPts val="0"/>
                        </a:spcAft>
                      </a:pPr>
                      <a:r>
                        <a:rPr lang="zh-CN" sz="1400" kern="100" dirty="0">
                          <a:effectLst/>
                          <a:latin typeface="幼圆" panose="02010509060101010101" pitchFamily="49" charset="-122"/>
                          <a:ea typeface="幼圆" panose="02010509060101010101" pitchFamily="49" charset="-122"/>
                        </a:rPr>
                        <a:t>答题功能</a:t>
                      </a:r>
                      <a:endParaRPr lang="zh-CN" sz="1400" kern="100" dirty="0">
                        <a:effectLst/>
                        <a:latin typeface="幼圆" panose="02010509060101010101" pitchFamily="49" charset="-122"/>
                        <a:ea typeface="幼圆" panose="02010509060101010101" pitchFamily="49" charset="-122"/>
                      </a:endParaRPr>
                    </a:p>
                  </a:txBody>
                  <a:tcPr marL="64305" marR="64305" marT="0" marB="0" anchor="ctr"/>
                </a:tc>
                <a:tc>
                  <a:txBody>
                    <a:bodyPr/>
                    <a:lstStyle/>
                    <a:p>
                      <a:pPr algn="ctr">
                        <a:spcAft>
                          <a:spcPts val="0"/>
                        </a:spcAft>
                      </a:pPr>
                      <a:r>
                        <a:rPr lang="en-US" sz="1400" kern="100" dirty="0">
                          <a:effectLst/>
                          <a:latin typeface="幼圆" panose="02010509060101010101" pitchFamily="49" charset="-122"/>
                          <a:ea typeface="幼圆" panose="02010509060101010101" pitchFamily="49" charset="-122"/>
                        </a:rPr>
                        <a:t>1</a:t>
                      </a:r>
                      <a:endParaRPr lang="zh-CN" sz="1400" kern="100" dirty="0">
                        <a:effectLst/>
                        <a:latin typeface="幼圆" panose="02010509060101010101" pitchFamily="49" charset="-122"/>
                        <a:ea typeface="幼圆" panose="02010509060101010101" pitchFamily="49" charset="-122"/>
                      </a:endParaRPr>
                    </a:p>
                  </a:txBody>
                  <a:tcPr marL="64305" marR="64305" marT="0" marB="0" anchor="ctr"/>
                </a:tc>
                <a:tc>
                  <a:txBody>
                    <a:bodyPr/>
                    <a:lstStyle/>
                    <a:p>
                      <a:pPr algn="ctr">
                        <a:spcAft>
                          <a:spcPts val="0"/>
                        </a:spcAft>
                      </a:pPr>
                      <a:r>
                        <a:rPr lang="en-US" sz="1400" kern="100" dirty="0">
                          <a:effectLst/>
                          <a:latin typeface="幼圆" panose="02010509060101010101" pitchFamily="49" charset="-122"/>
                          <a:ea typeface="幼圆" panose="02010509060101010101" pitchFamily="49" charset="-122"/>
                        </a:rPr>
                        <a:t>2019.05.06</a:t>
                      </a:r>
                      <a:endParaRPr lang="zh-CN" sz="1400" kern="100" dirty="0">
                        <a:effectLst/>
                        <a:latin typeface="幼圆" panose="02010509060101010101" pitchFamily="49" charset="-122"/>
                        <a:ea typeface="幼圆" panose="02010509060101010101" pitchFamily="49" charset="-122"/>
                      </a:endParaRPr>
                    </a:p>
                  </a:txBody>
                  <a:tcPr marL="64305" marR="64305" marT="0" marB="0" anchor="ctr"/>
                </a:tc>
                <a:tc>
                  <a:txBody>
                    <a:bodyPr/>
                    <a:lstStyle/>
                    <a:p>
                      <a:pPr algn="ctr">
                        <a:spcAft>
                          <a:spcPts val="0"/>
                        </a:spcAft>
                      </a:pPr>
                      <a:r>
                        <a:rPr lang="en-US" sz="1400" kern="100" dirty="0">
                          <a:effectLst/>
                          <a:latin typeface="幼圆" panose="02010509060101010101" pitchFamily="49" charset="-122"/>
                          <a:ea typeface="幼圆" panose="02010509060101010101" pitchFamily="49" charset="-122"/>
                        </a:rPr>
                        <a:t>2019.05.07</a:t>
                      </a:r>
                      <a:endParaRPr lang="zh-CN" sz="1400" kern="100" dirty="0">
                        <a:effectLst/>
                        <a:latin typeface="幼圆" panose="02010509060101010101" pitchFamily="49" charset="-122"/>
                        <a:ea typeface="幼圆" panose="02010509060101010101" pitchFamily="49" charset="-122"/>
                      </a:endParaRPr>
                    </a:p>
                  </a:txBody>
                  <a:tcPr marL="64305" marR="64305" marT="0" marB="0" anchor="ctr"/>
                </a:tc>
                <a:tc>
                  <a:txBody>
                    <a:bodyPr/>
                    <a:lstStyle/>
                    <a:p>
                      <a:pPr algn="ctr">
                        <a:spcAft>
                          <a:spcPts val="0"/>
                        </a:spcAft>
                      </a:pPr>
                      <a:r>
                        <a:rPr lang="en-US" sz="1400" kern="100" dirty="0">
                          <a:effectLst/>
                          <a:latin typeface="幼圆" panose="02010509060101010101" pitchFamily="49" charset="-122"/>
                          <a:ea typeface="幼圆" panose="02010509060101010101" pitchFamily="49" charset="-122"/>
                        </a:rPr>
                        <a:t>10</a:t>
                      </a:r>
                      <a:endParaRPr lang="zh-CN" sz="1400" kern="100" dirty="0">
                        <a:effectLst/>
                        <a:latin typeface="幼圆" panose="02010509060101010101" pitchFamily="49" charset="-122"/>
                        <a:ea typeface="幼圆" panose="02010509060101010101" pitchFamily="49" charset="-122"/>
                      </a:endParaRPr>
                    </a:p>
                  </a:txBody>
                  <a:tcPr marL="64305" marR="64305" marT="0" marB="0" anchor="ctr"/>
                </a:tc>
                <a:tc>
                  <a:txBody>
                    <a:bodyPr/>
                    <a:lstStyle/>
                    <a:p>
                      <a:pPr algn="ctr">
                        <a:spcAft>
                          <a:spcPts val="0"/>
                        </a:spcAft>
                      </a:pPr>
                      <a:r>
                        <a:rPr lang="en-US" sz="1400" kern="100" dirty="0">
                          <a:effectLst/>
                          <a:latin typeface="幼圆" panose="02010509060101010101" pitchFamily="49" charset="-122"/>
                          <a:ea typeface="幼圆" panose="02010509060101010101" pitchFamily="49" charset="-122"/>
                        </a:rPr>
                        <a:t>10</a:t>
                      </a:r>
                      <a:endParaRPr lang="zh-CN" sz="1400" kern="100" dirty="0">
                        <a:effectLst/>
                        <a:latin typeface="幼圆" panose="02010509060101010101" pitchFamily="49" charset="-122"/>
                        <a:ea typeface="幼圆" panose="02010509060101010101" pitchFamily="49" charset="-122"/>
                      </a:endParaRPr>
                    </a:p>
                  </a:txBody>
                  <a:tcPr marL="64305" marR="64305" marT="0" marB="0" anchor="ctr"/>
                </a:tc>
                <a:tc>
                  <a:txBody>
                    <a:bodyPr/>
                    <a:lstStyle/>
                    <a:p>
                      <a:pPr algn="ctr">
                        <a:spcAft>
                          <a:spcPts val="0"/>
                        </a:spcAft>
                      </a:pPr>
                      <a:r>
                        <a:rPr lang="en-US" sz="1400" kern="100" dirty="0">
                          <a:effectLst/>
                          <a:latin typeface="幼圆" panose="02010509060101010101" pitchFamily="49" charset="-122"/>
                          <a:ea typeface="幼圆" panose="02010509060101010101" pitchFamily="49" charset="-122"/>
                        </a:rPr>
                        <a:t>0</a:t>
                      </a:r>
                      <a:endParaRPr lang="zh-CN" sz="1400" kern="100" dirty="0">
                        <a:effectLst/>
                        <a:latin typeface="幼圆" panose="02010509060101010101" pitchFamily="49" charset="-122"/>
                        <a:ea typeface="幼圆" panose="02010509060101010101" pitchFamily="49" charset="-122"/>
                      </a:endParaRPr>
                    </a:p>
                  </a:txBody>
                  <a:tcPr marL="64305" marR="64305" marT="0" marB="0" anchor="ctr"/>
                </a:tc>
                <a:tc>
                  <a:txBody>
                    <a:bodyPr/>
                    <a:lstStyle/>
                    <a:p>
                      <a:pPr algn="ctr">
                        <a:spcAft>
                          <a:spcPts val="0"/>
                        </a:spcAft>
                      </a:pPr>
                      <a:r>
                        <a:rPr lang="en-US" sz="1400" kern="100" dirty="0">
                          <a:effectLst/>
                          <a:latin typeface="幼圆" panose="02010509060101010101" pitchFamily="49" charset="-122"/>
                          <a:ea typeface="幼圆" panose="02010509060101010101" pitchFamily="49" charset="-122"/>
                        </a:rPr>
                        <a:t>100%</a:t>
                      </a:r>
                      <a:endParaRPr lang="zh-CN" sz="1400" kern="100" dirty="0">
                        <a:effectLst/>
                        <a:latin typeface="幼圆" panose="02010509060101010101" pitchFamily="49" charset="-122"/>
                        <a:ea typeface="幼圆" panose="02010509060101010101" pitchFamily="49" charset="-122"/>
                      </a:endParaRPr>
                    </a:p>
                  </a:txBody>
                  <a:tcPr marL="64305" marR="64305" marT="0" marB="0" anchor="ctr"/>
                </a:tc>
                <a:tc>
                  <a:txBody>
                    <a:bodyPr/>
                    <a:lstStyle/>
                    <a:p>
                      <a:pPr algn="ctr">
                        <a:spcAft>
                          <a:spcPts val="0"/>
                        </a:spcAft>
                      </a:pPr>
                      <a:r>
                        <a:rPr lang="zh-CN" sz="1400" kern="100" dirty="0">
                          <a:effectLst/>
                          <a:latin typeface="幼圆" panose="02010509060101010101" pitchFamily="49" charset="-122"/>
                          <a:ea typeface="幼圆" panose="02010509060101010101" pitchFamily="49" charset="-122"/>
                        </a:rPr>
                        <a:t>对于答题功能，由于题目较多，且每道题目有多个选项，因此执行全部测试用例未达到习题选项的</a:t>
                      </a:r>
                      <a:r>
                        <a:rPr lang="en-US" sz="1400" kern="100" dirty="0">
                          <a:effectLst/>
                          <a:latin typeface="幼圆" panose="02010509060101010101" pitchFamily="49" charset="-122"/>
                          <a:ea typeface="幼圆" panose="02010509060101010101" pitchFamily="49" charset="-122"/>
                        </a:rPr>
                        <a:t>100%</a:t>
                      </a:r>
                      <a:r>
                        <a:rPr lang="zh-CN" sz="1400" kern="100" dirty="0">
                          <a:effectLst/>
                          <a:latin typeface="幼圆" panose="02010509060101010101" pitchFamily="49" charset="-122"/>
                          <a:ea typeface="幼圆" panose="02010509060101010101" pitchFamily="49" charset="-122"/>
                        </a:rPr>
                        <a:t>覆盖。</a:t>
                      </a:r>
                      <a:endParaRPr lang="zh-CN" sz="1400" kern="100" dirty="0">
                        <a:effectLst/>
                        <a:latin typeface="幼圆" panose="02010509060101010101" pitchFamily="49" charset="-122"/>
                        <a:ea typeface="幼圆" panose="02010509060101010101" pitchFamily="49" charset="-122"/>
                      </a:endParaRPr>
                    </a:p>
                  </a:txBody>
                  <a:tcPr marL="64305" marR="64305" marT="0" marB="0"/>
                </a:tc>
              </a:tr>
              <a:tr h="516770">
                <a:tc>
                  <a:txBody>
                    <a:bodyPr/>
                    <a:lstStyle/>
                    <a:p>
                      <a:pPr algn="ctr">
                        <a:spcAft>
                          <a:spcPts val="0"/>
                        </a:spcAft>
                      </a:pPr>
                      <a:r>
                        <a:rPr lang="zh-CN" sz="1400" kern="100">
                          <a:effectLst/>
                          <a:latin typeface="幼圆" panose="02010509060101010101" pitchFamily="49" charset="-122"/>
                          <a:ea typeface="幼圆" panose="02010509060101010101" pitchFamily="49" charset="-122"/>
                        </a:rPr>
                        <a:t>电脑阅卷功能</a:t>
                      </a:r>
                      <a:endParaRPr lang="zh-CN" sz="1400" kern="100">
                        <a:effectLst/>
                        <a:latin typeface="幼圆" panose="02010509060101010101" pitchFamily="49" charset="-122"/>
                        <a:ea typeface="幼圆" panose="02010509060101010101" pitchFamily="49" charset="-122"/>
                      </a:endParaRPr>
                    </a:p>
                  </a:txBody>
                  <a:tcPr marL="64305" marR="64305" marT="0" marB="0" anchor="ctr"/>
                </a:tc>
                <a:tc>
                  <a:txBody>
                    <a:bodyPr/>
                    <a:lstStyle/>
                    <a:p>
                      <a:pPr algn="ctr">
                        <a:spcAft>
                          <a:spcPts val="0"/>
                        </a:spcAft>
                      </a:pPr>
                      <a:r>
                        <a:rPr lang="en-US" sz="1400" kern="100">
                          <a:effectLst/>
                          <a:latin typeface="幼圆" panose="02010509060101010101" pitchFamily="49" charset="-122"/>
                          <a:ea typeface="幼圆" panose="02010509060101010101" pitchFamily="49" charset="-122"/>
                        </a:rPr>
                        <a:t>1</a:t>
                      </a:r>
                      <a:endParaRPr lang="zh-CN" sz="1400" kern="100">
                        <a:effectLst/>
                        <a:latin typeface="幼圆" panose="02010509060101010101" pitchFamily="49" charset="-122"/>
                        <a:ea typeface="幼圆" panose="02010509060101010101" pitchFamily="49" charset="-122"/>
                      </a:endParaRPr>
                    </a:p>
                  </a:txBody>
                  <a:tcPr marL="64305" marR="64305" marT="0" marB="0" anchor="ctr"/>
                </a:tc>
                <a:tc>
                  <a:txBody>
                    <a:bodyPr/>
                    <a:lstStyle/>
                    <a:p>
                      <a:pPr algn="ctr">
                        <a:spcAft>
                          <a:spcPts val="0"/>
                        </a:spcAft>
                      </a:pPr>
                      <a:r>
                        <a:rPr lang="en-US" sz="1400" kern="100">
                          <a:effectLst/>
                          <a:latin typeface="幼圆" panose="02010509060101010101" pitchFamily="49" charset="-122"/>
                          <a:ea typeface="幼圆" panose="02010509060101010101" pitchFamily="49" charset="-122"/>
                        </a:rPr>
                        <a:t>2019.05.07</a:t>
                      </a:r>
                      <a:endParaRPr lang="zh-CN" sz="1400" kern="100">
                        <a:effectLst/>
                        <a:latin typeface="幼圆" panose="02010509060101010101" pitchFamily="49" charset="-122"/>
                        <a:ea typeface="幼圆" panose="02010509060101010101" pitchFamily="49" charset="-122"/>
                      </a:endParaRPr>
                    </a:p>
                  </a:txBody>
                  <a:tcPr marL="64305" marR="64305" marT="0" marB="0" anchor="ctr"/>
                </a:tc>
                <a:tc>
                  <a:txBody>
                    <a:bodyPr/>
                    <a:lstStyle/>
                    <a:p>
                      <a:pPr algn="ctr">
                        <a:spcAft>
                          <a:spcPts val="0"/>
                        </a:spcAft>
                      </a:pPr>
                      <a:r>
                        <a:rPr lang="en-US" sz="1400" kern="100" dirty="0">
                          <a:effectLst/>
                          <a:latin typeface="幼圆" panose="02010509060101010101" pitchFamily="49" charset="-122"/>
                          <a:ea typeface="幼圆" panose="02010509060101010101" pitchFamily="49" charset="-122"/>
                        </a:rPr>
                        <a:t>2019.05.07</a:t>
                      </a:r>
                      <a:endParaRPr lang="zh-CN" sz="1400" kern="100" dirty="0">
                        <a:effectLst/>
                        <a:latin typeface="幼圆" panose="02010509060101010101" pitchFamily="49" charset="-122"/>
                        <a:ea typeface="幼圆" panose="02010509060101010101" pitchFamily="49" charset="-122"/>
                      </a:endParaRPr>
                    </a:p>
                  </a:txBody>
                  <a:tcPr marL="64305" marR="64305" marT="0" marB="0" anchor="ctr"/>
                </a:tc>
                <a:tc>
                  <a:txBody>
                    <a:bodyPr/>
                    <a:lstStyle/>
                    <a:p>
                      <a:pPr algn="ctr">
                        <a:spcAft>
                          <a:spcPts val="0"/>
                        </a:spcAft>
                      </a:pPr>
                      <a:r>
                        <a:rPr lang="en-US" sz="1400" kern="100">
                          <a:effectLst/>
                          <a:latin typeface="幼圆" panose="02010509060101010101" pitchFamily="49" charset="-122"/>
                          <a:ea typeface="幼圆" panose="02010509060101010101" pitchFamily="49" charset="-122"/>
                        </a:rPr>
                        <a:t>3</a:t>
                      </a:r>
                      <a:endParaRPr lang="zh-CN" sz="1400" kern="100">
                        <a:effectLst/>
                        <a:latin typeface="幼圆" panose="02010509060101010101" pitchFamily="49" charset="-122"/>
                        <a:ea typeface="幼圆" panose="02010509060101010101" pitchFamily="49" charset="-122"/>
                      </a:endParaRPr>
                    </a:p>
                  </a:txBody>
                  <a:tcPr marL="64305" marR="64305" marT="0" marB="0" anchor="ctr"/>
                </a:tc>
                <a:tc>
                  <a:txBody>
                    <a:bodyPr/>
                    <a:lstStyle/>
                    <a:p>
                      <a:pPr algn="ctr">
                        <a:spcAft>
                          <a:spcPts val="0"/>
                        </a:spcAft>
                      </a:pPr>
                      <a:r>
                        <a:rPr lang="en-US" sz="1400" kern="100">
                          <a:effectLst/>
                          <a:latin typeface="幼圆" panose="02010509060101010101" pitchFamily="49" charset="-122"/>
                          <a:ea typeface="幼圆" panose="02010509060101010101" pitchFamily="49" charset="-122"/>
                        </a:rPr>
                        <a:t>3</a:t>
                      </a:r>
                      <a:endParaRPr lang="zh-CN" sz="1400" kern="100">
                        <a:effectLst/>
                        <a:latin typeface="幼圆" panose="02010509060101010101" pitchFamily="49" charset="-122"/>
                        <a:ea typeface="幼圆" panose="02010509060101010101" pitchFamily="49" charset="-122"/>
                      </a:endParaRPr>
                    </a:p>
                  </a:txBody>
                  <a:tcPr marL="64305" marR="64305" marT="0" marB="0" anchor="ctr"/>
                </a:tc>
                <a:tc>
                  <a:txBody>
                    <a:bodyPr/>
                    <a:lstStyle/>
                    <a:p>
                      <a:pPr algn="ctr">
                        <a:spcAft>
                          <a:spcPts val="0"/>
                        </a:spcAft>
                      </a:pPr>
                      <a:r>
                        <a:rPr lang="en-US" sz="1400" kern="100">
                          <a:effectLst/>
                          <a:latin typeface="幼圆" panose="02010509060101010101" pitchFamily="49" charset="-122"/>
                          <a:ea typeface="幼圆" panose="02010509060101010101" pitchFamily="49" charset="-122"/>
                        </a:rPr>
                        <a:t>0</a:t>
                      </a:r>
                      <a:endParaRPr lang="zh-CN" sz="1400" kern="100">
                        <a:effectLst/>
                        <a:latin typeface="幼圆" panose="02010509060101010101" pitchFamily="49" charset="-122"/>
                        <a:ea typeface="幼圆" panose="02010509060101010101" pitchFamily="49" charset="-122"/>
                      </a:endParaRPr>
                    </a:p>
                  </a:txBody>
                  <a:tcPr marL="64305" marR="64305" marT="0" marB="0" anchor="ctr"/>
                </a:tc>
                <a:tc>
                  <a:txBody>
                    <a:bodyPr/>
                    <a:lstStyle/>
                    <a:p>
                      <a:pPr algn="ctr">
                        <a:spcAft>
                          <a:spcPts val="0"/>
                        </a:spcAft>
                      </a:pPr>
                      <a:r>
                        <a:rPr lang="en-US" sz="1400" kern="100">
                          <a:effectLst/>
                          <a:latin typeface="幼圆" panose="02010509060101010101" pitchFamily="49" charset="-122"/>
                          <a:ea typeface="幼圆" panose="02010509060101010101" pitchFamily="49" charset="-122"/>
                        </a:rPr>
                        <a:t>100%</a:t>
                      </a:r>
                      <a:endParaRPr lang="zh-CN" sz="1400" kern="100">
                        <a:effectLst/>
                        <a:latin typeface="幼圆" panose="02010509060101010101" pitchFamily="49" charset="-122"/>
                        <a:ea typeface="幼圆" panose="02010509060101010101" pitchFamily="49" charset="-122"/>
                      </a:endParaRPr>
                    </a:p>
                  </a:txBody>
                  <a:tcPr marL="64305" marR="64305" marT="0" marB="0" anchor="ctr"/>
                </a:tc>
                <a:tc>
                  <a:txBody>
                    <a:bodyPr/>
                    <a:lstStyle/>
                    <a:p>
                      <a:pPr algn="ctr">
                        <a:spcAft>
                          <a:spcPts val="0"/>
                        </a:spcAft>
                      </a:pPr>
                      <a:r>
                        <a:rPr lang="en-US" sz="1400" kern="100" dirty="0">
                          <a:effectLst/>
                          <a:latin typeface="幼圆" panose="02010509060101010101" pitchFamily="49" charset="-122"/>
                          <a:ea typeface="幼圆" panose="02010509060101010101" pitchFamily="49" charset="-122"/>
                        </a:rPr>
                        <a:t> </a:t>
                      </a:r>
                      <a:endParaRPr lang="zh-CN" sz="1400" kern="100" dirty="0">
                        <a:effectLst/>
                        <a:latin typeface="幼圆" panose="02010509060101010101" pitchFamily="49" charset="-122"/>
                        <a:ea typeface="幼圆" panose="02010509060101010101" pitchFamily="49" charset="-122"/>
                      </a:endParaRPr>
                    </a:p>
                  </a:txBody>
                  <a:tcPr marL="64305" marR="64305" marT="0" marB="0"/>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up)">
                                      <p:cBhvr>
                                        <p:cTn id="11" dur="500"/>
                                        <p:tgtEl>
                                          <p:spTgt spid="6"/>
                                        </p:tgtEl>
                                      </p:cBhvr>
                                    </p:animEffect>
                                  </p:childTnLst>
                                </p:cTn>
                              </p:par>
                            </p:childTnLst>
                          </p:cTn>
                        </p:par>
                        <p:par>
                          <p:cTn id="12" fill="hold">
                            <p:stCondLst>
                              <p:cond delay="1000"/>
                            </p:stCondLst>
                            <p:childTnLst>
                              <p:par>
                                <p:cTn id="13" presetID="16" presetClass="entr" presetSubtype="21"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barn(inVertical)">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nvSpPr>
        <p:spPr>
          <a:xfrm>
            <a:off x="1922333" y="272228"/>
            <a:ext cx="9167913" cy="5331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rgbClr val="C00000"/>
                </a:solidFill>
                <a:latin typeface="微软雅黑" panose="020B0503020204020204" pitchFamily="34" charset="-122"/>
                <a:ea typeface="微软雅黑" panose="020B0503020204020204" pitchFamily="34" charset="-122"/>
                <a:cs typeface="+mj-cs"/>
              </a:defRPr>
            </a:lvl1pPr>
          </a:lstStyle>
          <a:p>
            <a:pPr marL="0" algn="l" defTabSz="914400" rtl="0" eaLnBrk="1" latinLnBrk="0" hangingPunct="1"/>
            <a:r>
              <a:rPr lang="zh-CN" altLang="en-US" dirty="0" smtClean="0">
                <a:solidFill>
                  <a:srgbClr val="FF0000"/>
                </a:solidFill>
                <a:sym typeface="+mn-ea"/>
              </a:rPr>
              <a:t>测试报告</a:t>
            </a:r>
            <a:endParaRPr lang="zh-CN" altLang="en-US" dirty="0" smtClean="0">
              <a:solidFill>
                <a:srgbClr val="FF0000"/>
              </a:solidFill>
              <a:sym typeface="+mn-ea"/>
            </a:endParaRPr>
          </a:p>
        </p:txBody>
      </p:sp>
      <p:graphicFrame>
        <p:nvGraphicFramePr>
          <p:cNvPr id="2" name="表格 1"/>
          <p:cNvGraphicFramePr>
            <a:graphicFrameLocks noGrp="1"/>
          </p:cNvGraphicFramePr>
          <p:nvPr/>
        </p:nvGraphicFramePr>
        <p:xfrm>
          <a:off x="2194561" y="2233065"/>
          <a:ext cx="9028498" cy="3850104"/>
        </p:xfrm>
        <a:graphic>
          <a:graphicData uri="http://schemas.openxmlformats.org/drawingml/2006/table">
            <a:tbl>
              <a:tblPr firstRow="1" firstCol="1" bandRow="1">
                <a:tableStyleId>{5C22544A-7EE6-4342-B048-85BDC9FD1C3A}</a:tableStyleId>
              </a:tblPr>
              <a:tblGrid>
                <a:gridCol w="1135006"/>
                <a:gridCol w="729869"/>
                <a:gridCol w="1269021"/>
                <a:gridCol w="1270052"/>
                <a:gridCol w="924704"/>
                <a:gridCol w="924704"/>
                <a:gridCol w="924704"/>
                <a:gridCol w="924704"/>
                <a:gridCol w="925734"/>
              </a:tblGrid>
              <a:tr h="663630">
                <a:tc>
                  <a:txBody>
                    <a:bodyPr/>
                    <a:lstStyle/>
                    <a:p>
                      <a:pPr algn="just">
                        <a:spcAft>
                          <a:spcPts val="0"/>
                        </a:spcAft>
                      </a:pPr>
                      <a:r>
                        <a:rPr lang="zh-CN" sz="1800" kern="100" dirty="0">
                          <a:effectLst/>
                          <a:latin typeface="幼圆" panose="02010509060101010101" pitchFamily="49" charset="-122"/>
                          <a:ea typeface="幼圆" panose="02010509060101010101" pitchFamily="49" charset="-122"/>
                        </a:rPr>
                        <a:t>兼容性测试</a:t>
                      </a:r>
                      <a:endParaRPr lang="zh-CN" sz="18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800" kern="100">
                          <a:effectLst/>
                          <a:latin typeface="幼圆" panose="02010509060101010101" pitchFamily="49" charset="-122"/>
                          <a:ea typeface="幼圆" panose="02010509060101010101" pitchFamily="49" charset="-122"/>
                        </a:rPr>
                        <a:t>测试</a:t>
                      </a:r>
                      <a:endParaRPr lang="zh-CN" sz="1800" kern="100">
                        <a:effectLst/>
                        <a:latin typeface="幼圆" panose="02010509060101010101" pitchFamily="49" charset="-122"/>
                        <a:ea typeface="幼圆" panose="02010509060101010101" pitchFamily="49" charset="-122"/>
                      </a:endParaRPr>
                    </a:p>
                    <a:p>
                      <a:pPr algn="just">
                        <a:spcAft>
                          <a:spcPts val="0"/>
                        </a:spcAft>
                      </a:pPr>
                      <a:r>
                        <a:rPr lang="zh-CN" sz="1800" kern="100">
                          <a:effectLst/>
                          <a:latin typeface="幼圆" panose="02010509060101010101" pitchFamily="49" charset="-122"/>
                          <a:ea typeface="幼圆" panose="02010509060101010101" pitchFamily="49" charset="-122"/>
                        </a:rPr>
                        <a:t>轮数</a:t>
                      </a:r>
                      <a:endParaRPr lang="zh-CN" sz="18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800" kern="100" dirty="0">
                          <a:effectLst/>
                          <a:latin typeface="幼圆" panose="02010509060101010101" pitchFamily="49" charset="-122"/>
                          <a:ea typeface="幼圆" panose="02010509060101010101" pitchFamily="49" charset="-122"/>
                        </a:rPr>
                        <a:t>开始时间</a:t>
                      </a:r>
                      <a:endParaRPr lang="zh-CN" sz="18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800" kern="100">
                          <a:effectLst/>
                          <a:latin typeface="幼圆" panose="02010509060101010101" pitchFamily="49" charset="-122"/>
                          <a:ea typeface="幼圆" panose="02010509060101010101" pitchFamily="49" charset="-122"/>
                        </a:rPr>
                        <a:t>结束时间</a:t>
                      </a:r>
                      <a:endParaRPr lang="zh-CN" sz="18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800" kern="100">
                          <a:effectLst/>
                          <a:latin typeface="幼圆" panose="02010509060101010101" pitchFamily="49" charset="-122"/>
                          <a:ea typeface="幼圆" panose="02010509060101010101" pitchFamily="49" charset="-122"/>
                        </a:rPr>
                        <a:t>测试用例总数</a:t>
                      </a:r>
                      <a:endParaRPr lang="zh-CN" sz="18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800" kern="100">
                          <a:effectLst/>
                          <a:latin typeface="幼圆" panose="02010509060101010101" pitchFamily="49" charset="-122"/>
                          <a:ea typeface="幼圆" panose="02010509060101010101" pitchFamily="49" charset="-122"/>
                        </a:rPr>
                        <a:t>用例通过数</a:t>
                      </a:r>
                      <a:endParaRPr lang="zh-CN" sz="18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800" kern="100">
                          <a:effectLst/>
                          <a:latin typeface="幼圆" panose="02010509060101010101" pitchFamily="49" charset="-122"/>
                          <a:ea typeface="幼圆" panose="02010509060101010101" pitchFamily="49" charset="-122"/>
                        </a:rPr>
                        <a:t>用例未通过数</a:t>
                      </a:r>
                      <a:endParaRPr lang="zh-CN" sz="18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800" kern="100">
                          <a:effectLst/>
                          <a:latin typeface="幼圆" panose="02010509060101010101" pitchFamily="49" charset="-122"/>
                          <a:ea typeface="幼圆" panose="02010509060101010101" pitchFamily="49" charset="-122"/>
                        </a:rPr>
                        <a:t>用例通过率</a:t>
                      </a:r>
                      <a:endParaRPr lang="zh-CN" sz="18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ctr">
                        <a:spcAft>
                          <a:spcPts val="0"/>
                        </a:spcAft>
                      </a:pPr>
                      <a:r>
                        <a:rPr lang="zh-CN" sz="1800" kern="100">
                          <a:effectLst/>
                          <a:latin typeface="幼圆" panose="02010509060101010101" pitchFamily="49" charset="-122"/>
                          <a:ea typeface="幼圆" panose="02010509060101010101" pitchFamily="49" charset="-122"/>
                        </a:rPr>
                        <a:t>备注</a:t>
                      </a:r>
                      <a:endParaRPr lang="zh-CN" sz="1800" kern="100">
                        <a:effectLst/>
                        <a:latin typeface="幼圆" panose="02010509060101010101" pitchFamily="49" charset="-122"/>
                        <a:ea typeface="幼圆" panose="02010509060101010101" pitchFamily="49" charset="-122"/>
                      </a:endParaRPr>
                    </a:p>
                  </a:txBody>
                  <a:tcPr marL="68580" marR="68580" marT="0" marB="0" anchor="ctr"/>
                </a:tc>
              </a:tr>
              <a:tr h="2322703">
                <a:tc>
                  <a:txBody>
                    <a:bodyPr/>
                    <a:lstStyle/>
                    <a:p>
                      <a:pPr algn="ctr">
                        <a:spcAft>
                          <a:spcPts val="0"/>
                        </a:spcAft>
                      </a:pPr>
                      <a:r>
                        <a:rPr lang="zh-CN" sz="1800" kern="100">
                          <a:effectLst/>
                          <a:latin typeface="幼圆" panose="02010509060101010101" pitchFamily="49" charset="-122"/>
                          <a:ea typeface="幼圆" panose="02010509060101010101" pitchFamily="49" charset="-122"/>
                        </a:rPr>
                        <a:t>智能终端</a:t>
                      </a:r>
                      <a:endParaRPr lang="zh-CN" sz="18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ctr">
                        <a:spcAft>
                          <a:spcPts val="0"/>
                        </a:spcAft>
                      </a:pPr>
                      <a:r>
                        <a:rPr lang="en-US" sz="1800" kern="100">
                          <a:effectLst/>
                          <a:latin typeface="幼圆" panose="02010509060101010101" pitchFamily="49" charset="-122"/>
                          <a:ea typeface="幼圆" panose="02010509060101010101" pitchFamily="49" charset="-122"/>
                        </a:rPr>
                        <a:t>1</a:t>
                      </a:r>
                      <a:endParaRPr lang="zh-CN" sz="18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ctr">
                        <a:spcAft>
                          <a:spcPts val="0"/>
                        </a:spcAft>
                      </a:pPr>
                      <a:r>
                        <a:rPr lang="en-US" sz="1800" kern="100" dirty="0">
                          <a:effectLst/>
                          <a:latin typeface="幼圆" panose="02010509060101010101" pitchFamily="49" charset="-122"/>
                          <a:ea typeface="幼圆" panose="02010509060101010101" pitchFamily="49" charset="-122"/>
                        </a:rPr>
                        <a:t>2019.05.08</a:t>
                      </a:r>
                      <a:endParaRPr lang="zh-CN" sz="18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ctr">
                        <a:spcAft>
                          <a:spcPts val="0"/>
                        </a:spcAft>
                      </a:pPr>
                      <a:r>
                        <a:rPr lang="en-US" sz="1800" kern="100">
                          <a:effectLst/>
                          <a:latin typeface="幼圆" panose="02010509060101010101" pitchFamily="49" charset="-122"/>
                          <a:ea typeface="幼圆" panose="02010509060101010101" pitchFamily="49" charset="-122"/>
                        </a:rPr>
                        <a:t>2019.05.08</a:t>
                      </a:r>
                      <a:endParaRPr lang="zh-CN" sz="18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ctr">
                        <a:spcAft>
                          <a:spcPts val="0"/>
                        </a:spcAft>
                      </a:pPr>
                      <a:r>
                        <a:rPr lang="en-US" sz="1800" kern="100">
                          <a:effectLst/>
                          <a:latin typeface="幼圆" panose="02010509060101010101" pitchFamily="49" charset="-122"/>
                          <a:ea typeface="幼圆" panose="02010509060101010101" pitchFamily="49" charset="-122"/>
                        </a:rPr>
                        <a:t>4</a:t>
                      </a:r>
                      <a:endParaRPr lang="zh-CN" sz="18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ctr">
                        <a:spcAft>
                          <a:spcPts val="0"/>
                        </a:spcAft>
                      </a:pPr>
                      <a:r>
                        <a:rPr lang="en-US" sz="1800" kern="100">
                          <a:effectLst/>
                          <a:latin typeface="幼圆" panose="02010509060101010101" pitchFamily="49" charset="-122"/>
                          <a:ea typeface="幼圆" panose="02010509060101010101" pitchFamily="49" charset="-122"/>
                        </a:rPr>
                        <a:t>2</a:t>
                      </a:r>
                      <a:endParaRPr lang="zh-CN" sz="18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ctr">
                        <a:spcAft>
                          <a:spcPts val="0"/>
                        </a:spcAft>
                      </a:pPr>
                      <a:r>
                        <a:rPr lang="en-US" sz="1800" kern="100">
                          <a:effectLst/>
                          <a:latin typeface="幼圆" panose="02010509060101010101" pitchFamily="49" charset="-122"/>
                          <a:ea typeface="幼圆" panose="02010509060101010101" pitchFamily="49" charset="-122"/>
                        </a:rPr>
                        <a:t>2</a:t>
                      </a:r>
                      <a:endParaRPr lang="zh-CN" sz="18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ctr">
                        <a:spcAft>
                          <a:spcPts val="0"/>
                        </a:spcAft>
                      </a:pPr>
                      <a:r>
                        <a:rPr lang="en-US" sz="1800" kern="100">
                          <a:effectLst/>
                          <a:latin typeface="幼圆" panose="02010509060101010101" pitchFamily="49" charset="-122"/>
                          <a:ea typeface="幼圆" panose="02010509060101010101" pitchFamily="49" charset="-122"/>
                        </a:rPr>
                        <a:t>50%</a:t>
                      </a:r>
                      <a:endParaRPr lang="zh-CN" sz="18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ctr">
                        <a:spcAft>
                          <a:spcPts val="0"/>
                        </a:spcAft>
                      </a:pPr>
                      <a:r>
                        <a:rPr lang="zh-CN" sz="1800" kern="100">
                          <a:effectLst/>
                          <a:latin typeface="幼圆" panose="02010509060101010101" pitchFamily="49" charset="-122"/>
                          <a:ea typeface="幼圆" panose="02010509060101010101" pitchFamily="49" charset="-122"/>
                        </a:rPr>
                        <a:t>测试用例</a:t>
                      </a:r>
                      <a:r>
                        <a:rPr lang="en-US" sz="1800" kern="100">
                          <a:effectLst/>
                          <a:latin typeface="幼圆" panose="02010509060101010101" pitchFamily="49" charset="-122"/>
                          <a:ea typeface="幼圆" panose="02010509060101010101" pitchFamily="49" charset="-122"/>
                        </a:rPr>
                        <a:t>J_002</a:t>
                      </a:r>
                      <a:r>
                        <a:rPr lang="zh-CN" sz="1800" kern="100">
                          <a:effectLst/>
                          <a:latin typeface="幼圆" panose="02010509060101010101" pitchFamily="49" charset="-122"/>
                          <a:ea typeface="幼圆" panose="02010509060101010101" pitchFamily="49" charset="-122"/>
                        </a:rPr>
                        <a:t>与</a:t>
                      </a:r>
                      <a:r>
                        <a:rPr lang="en-US" sz="1800" kern="100">
                          <a:effectLst/>
                          <a:latin typeface="幼圆" panose="02010509060101010101" pitchFamily="49" charset="-122"/>
                          <a:ea typeface="幼圆" panose="02010509060101010101" pitchFamily="49" charset="-122"/>
                        </a:rPr>
                        <a:t>J_004</a:t>
                      </a:r>
                      <a:r>
                        <a:rPr lang="zh-CN" sz="1800" kern="100">
                          <a:effectLst/>
                          <a:latin typeface="幼圆" panose="02010509060101010101" pitchFamily="49" charset="-122"/>
                          <a:ea typeface="幼圆" panose="02010509060101010101" pitchFamily="49" charset="-122"/>
                        </a:rPr>
                        <a:t>执行未通过。</a:t>
                      </a:r>
                      <a:endParaRPr lang="zh-CN" sz="1800" kern="100">
                        <a:effectLst/>
                        <a:latin typeface="幼圆" panose="02010509060101010101" pitchFamily="49" charset="-122"/>
                        <a:ea typeface="幼圆" panose="02010509060101010101" pitchFamily="49" charset="-122"/>
                      </a:endParaRPr>
                    </a:p>
                  </a:txBody>
                  <a:tcPr marL="68580" marR="68580" marT="0" marB="0"/>
                </a:tc>
              </a:tr>
              <a:tr h="863771">
                <a:tc>
                  <a:txBody>
                    <a:bodyPr/>
                    <a:lstStyle/>
                    <a:p>
                      <a:pPr algn="ctr">
                        <a:spcAft>
                          <a:spcPts val="0"/>
                        </a:spcAft>
                      </a:pPr>
                      <a:r>
                        <a:rPr lang="zh-CN" sz="1800" kern="100">
                          <a:effectLst/>
                          <a:latin typeface="幼圆" panose="02010509060101010101" pitchFamily="49" charset="-122"/>
                          <a:ea typeface="幼圆" panose="02010509060101010101" pitchFamily="49" charset="-122"/>
                        </a:rPr>
                        <a:t>浏览器</a:t>
                      </a:r>
                      <a:endParaRPr lang="zh-CN" sz="18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ctr">
                        <a:spcAft>
                          <a:spcPts val="0"/>
                        </a:spcAft>
                      </a:pPr>
                      <a:r>
                        <a:rPr lang="en-US" sz="1800" kern="100">
                          <a:effectLst/>
                          <a:latin typeface="幼圆" panose="02010509060101010101" pitchFamily="49" charset="-122"/>
                          <a:ea typeface="幼圆" panose="02010509060101010101" pitchFamily="49" charset="-122"/>
                        </a:rPr>
                        <a:t>1</a:t>
                      </a:r>
                      <a:endParaRPr lang="zh-CN" sz="18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ctr">
                        <a:spcAft>
                          <a:spcPts val="0"/>
                        </a:spcAft>
                      </a:pPr>
                      <a:r>
                        <a:rPr lang="en-US" sz="1800" kern="100">
                          <a:effectLst/>
                          <a:latin typeface="幼圆" panose="02010509060101010101" pitchFamily="49" charset="-122"/>
                          <a:ea typeface="幼圆" panose="02010509060101010101" pitchFamily="49" charset="-122"/>
                        </a:rPr>
                        <a:t>2019.05.08</a:t>
                      </a:r>
                      <a:endParaRPr lang="zh-CN" sz="18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ctr">
                        <a:spcAft>
                          <a:spcPts val="0"/>
                        </a:spcAft>
                      </a:pPr>
                      <a:r>
                        <a:rPr lang="en-US" sz="1800" kern="100">
                          <a:effectLst/>
                          <a:latin typeface="幼圆" panose="02010509060101010101" pitchFamily="49" charset="-122"/>
                          <a:ea typeface="幼圆" panose="02010509060101010101" pitchFamily="49" charset="-122"/>
                        </a:rPr>
                        <a:t>2019.05.08</a:t>
                      </a:r>
                      <a:endParaRPr lang="zh-CN" sz="18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ctr">
                        <a:spcAft>
                          <a:spcPts val="0"/>
                        </a:spcAft>
                      </a:pPr>
                      <a:r>
                        <a:rPr lang="en-US" sz="1800" kern="100">
                          <a:effectLst/>
                          <a:latin typeface="幼圆" panose="02010509060101010101" pitchFamily="49" charset="-122"/>
                          <a:ea typeface="幼圆" panose="02010509060101010101" pitchFamily="49" charset="-122"/>
                        </a:rPr>
                        <a:t>5</a:t>
                      </a:r>
                      <a:endParaRPr lang="zh-CN" sz="18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ctr">
                        <a:spcAft>
                          <a:spcPts val="0"/>
                        </a:spcAft>
                      </a:pPr>
                      <a:r>
                        <a:rPr lang="en-US" sz="1800" kern="100">
                          <a:effectLst/>
                          <a:latin typeface="幼圆" panose="02010509060101010101" pitchFamily="49" charset="-122"/>
                          <a:ea typeface="幼圆" panose="02010509060101010101" pitchFamily="49" charset="-122"/>
                        </a:rPr>
                        <a:t>5</a:t>
                      </a:r>
                      <a:endParaRPr lang="zh-CN" sz="18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ctr">
                        <a:spcAft>
                          <a:spcPts val="0"/>
                        </a:spcAft>
                      </a:pPr>
                      <a:r>
                        <a:rPr lang="en-US" sz="1800" kern="100">
                          <a:effectLst/>
                          <a:latin typeface="幼圆" panose="02010509060101010101" pitchFamily="49" charset="-122"/>
                          <a:ea typeface="幼圆" panose="02010509060101010101" pitchFamily="49" charset="-122"/>
                        </a:rPr>
                        <a:t>0</a:t>
                      </a:r>
                      <a:endParaRPr lang="zh-CN" sz="18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ctr">
                        <a:spcAft>
                          <a:spcPts val="0"/>
                        </a:spcAft>
                      </a:pPr>
                      <a:r>
                        <a:rPr lang="en-US" sz="1800" kern="100">
                          <a:effectLst/>
                          <a:latin typeface="幼圆" panose="02010509060101010101" pitchFamily="49" charset="-122"/>
                          <a:ea typeface="幼圆" panose="02010509060101010101" pitchFamily="49" charset="-122"/>
                        </a:rPr>
                        <a:t>100%</a:t>
                      </a:r>
                      <a:endParaRPr lang="zh-CN" sz="18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ctr">
                        <a:spcAft>
                          <a:spcPts val="0"/>
                        </a:spcAft>
                      </a:pPr>
                      <a:r>
                        <a:rPr lang="en-US" sz="1800" kern="100" dirty="0">
                          <a:effectLst/>
                          <a:latin typeface="幼圆" panose="02010509060101010101" pitchFamily="49" charset="-122"/>
                          <a:ea typeface="幼圆" panose="02010509060101010101" pitchFamily="49" charset="-122"/>
                        </a:rPr>
                        <a:t> </a:t>
                      </a:r>
                      <a:endParaRPr lang="zh-CN" sz="1800" kern="100" dirty="0">
                        <a:effectLst/>
                        <a:latin typeface="幼圆" panose="02010509060101010101" pitchFamily="49" charset="-122"/>
                        <a:ea typeface="幼圆" panose="02010509060101010101" pitchFamily="49" charset="-122"/>
                      </a:endParaRPr>
                    </a:p>
                  </a:txBody>
                  <a:tcPr marL="68580" marR="68580" marT="0" marB="0"/>
                </a:tc>
              </a:tr>
            </a:tbl>
          </a:graphicData>
        </a:graphic>
      </p:graphicFrame>
      <p:sp>
        <p:nvSpPr>
          <p:cNvPr id="4" name="内容占位符 2"/>
          <p:cNvSpPr txBox="1"/>
          <p:nvPr/>
        </p:nvSpPr>
        <p:spPr>
          <a:xfrm>
            <a:off x="1492556" y="1363893"/>
            <a:ext cx="2820202" cy="75376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四、测试过程分析</a:t>
            </a:r>
            <a:endPar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内容占位符 2"/>
          <p:cNvSpPr txBox="1"/>
          <p:nvPr/>
        </p:nvSpPr>
        <p:spPr>
          <a:xfrm>
            <a:off x="5851196" y="1509771"/>
            <a:ext cx="2003654" cy="639974"/>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兼容性测试</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up)">
                                      <p:cBhvr>
                                        <p:cTn id="11" dur="500"/>
                                        <p:tgtEl>
                                          <p:spTgt spid="4"/>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up)">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nvSpPr>
        <p:spPr>
          <a:xfrm>
            <a:off x="1922333" y="272228"/>
            <a:ext cx="9167913" cy="5331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rgbClr val="C00000"/>
                </a:solidFill>
                <a:latin typeface="微软雅黑" panose="020B0503020204020204" pitchFamily="34" charset="-122"/>
                <a:ea typeface="微软雅黑" panose="020B0503020204020204" pitchFamily="34" charset="-122"/>
                <a:cs typeface="+mj-cs"/>
              </a:defRPr>
            </a:lvl1pPr>
          </a:lstStyle>
          <a:p>
            <a:pPr marL="0" algn="l" defTabSz="914400" rtl="0" eaLnBrk="1" latinLnBrk="0" hangingPunct="1"/>
            <a:r>
              <a:rPr lang="zh-CN" altLang="en-US" dirty="0" smtClean="0">
                <a:solidFill>
                  <a:srgbClr val="FF0000"/>
                </a:solidFill>
                <a:sym typeface="+mn-ea"/>
              </a:rPr>
              <a:t>测试报告</a:t>
            </a:r>
            <a:endParaRPr lang="zh-CN" altLang="en-US" dirty="0" smtClean="0">
              <a:solidFill>
                <a:srgbClr val="FF0000"/>
              </a:solidFill>
              <a:sym typeface="+mn-ea"/>
            </a:endParaRPr>
          </a:p>
        </p:txBody>
      </p:sp>
      <p:sp>
        <p:nvSpPr>
          <p:cNvPr id="5" name="内容占位符 2"/>
          <p:cNvSpPr txBox="1"/>
          <p:nvPr/>
        </p:nvSpPr>
        <p:spPr>
          <a:xfrm>
            <a:off x="1491921" y="1373418"/>
            <a:ext cx="2820202" cy="57901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五、测试结果分析</a:t>
            </a:r>
            <a:endParaRPr lang="en-US" altLang="zh-CN" sz="24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4" name="表格 3"/>
          <p:cNvGraphicFramePr>
            <a:graphicFrameLocks noGrp="1"/>
          </p:cNvGraphicFramePr>
          <p:nvPr/>
        </p:nvGraphicFramePr>
        <p:xfrm>
          <a:off x="2079064" y="2483324"/>
          <a:ext cx="8624234" cy="3561345"/>
        </p:xfrm>
        <a:graphic>
          <a:graphicData uri="http://schemas.openxmlformats.org/drawingml/2006/table">
            <a:tbl>
              <a:tblPr firstRow="1" firstCol="1" bandRow="1">
                <a:tableStyleId>{5C22544A-7EE6-4342-B048-85BDC9FD1C3A}</a:tableStyleId>
              </a:tblPr>
              <a:tblGrid>
                <a:gridCol w="1724442"/>
                <a:gridCol w="1724442"/>
                <a:gridCol w="1724442"/>
                <a:gridCol w="1725454"/>
                <a:gridCol w="1725454"/>
              </a:tblGrid>
              <a:tr h="406457">
                <a:tc>
                  <a:txBody>
                    <a:bodyPr/>
                    <a:lstStyle/>
                    <a:p>
                      <a:pPr algn="ctr">
                        <a:spcAft>
                          <a:spcPts val="0"/>
                        </a:spcAft>
                      </a:pPr>
                      <a:r>
                        <a:rPr lang="zh-CN" sz="1800" kern="100" dirty="0">
                          <a:effectLst/>
                          <a:latin typeface="幼圆" panose="02010509060101010101" pitchFamily="49" charset="-122"/>
                          <a:ea typeface="幼圆" panose="02010509060101010101" pitchFamily="49" charset="-122"/>
                        </a:rPr>
                        <a:t>功能模块</a:t>
                      </a:r>
                      <a:endParaRPr lang="zh-CN" sz="1800" kern="100" dirty="0">
                        <a:effectLst/>
                        <a:latin typeface="幼圆" panose="02010509060101010101" pitchFamily="49" charset="-122"/>
                        <a:ea typeface="幼圆" panose="02010509060101010101" pitchFamily="49" charset="-122"/>
                      </a:endParaRPr>
                    </a:p>
                  </a:txBody>
                  <a:tcPr marL="68580" marR="68580" marT="0" marB="0" anchor="ctr" anchorCtr="1"/>
                </a:tc>
                <a:tc>
                  <a:txBody>
                    <a:bodyPr/>
                    <a:lstStyle/>
                    <a:p>
                      <a:pPr algn="ctr">
                        <a:spcAft>
                          <a:spcPts val="0"/>
                        </a:spcAft>
                      </a:pPr>
                      <a:r>
                        <a:rPr lang="zh-CN" sz="1800" kern="100" dirty="0">
                          <a:effectLst/>
                          <a:latin typeface="幼圆" panose="02010509060101010101" pitchFamily="49" charset="-122"/>
                          <a:ea typeface="幼圆" panose="02010509060101010101" pitchFamily="49" charset="-122"/>
                        </a:rPr>
                        <a:t>用例总数</a:t>
                      </a:r>
                      <a:endParaRPr lang="zh-CN" sz="1800" kern="100" dirty="0">
                        <a:effectLst/>
                        <a:latin typeface="幼圆" panose="02010509060101010101" pitchFamily="49" charset="-122"/>
                        <a:ea typeface="幼圆" panose="02010509060101010101" pitchFamily="49" charset="-122"/>
                      </a:endParaRPr>
                    </a:p>
                  </a:txBody>
                  <a:tcPr marL="68580" marR="68580" marT="0" marB="0" anchor="ctr" anchorCtr="1"/>
                </a:tc>
                <a:tc>
                  <a:txBody>
                    <a:bodyPr/>
                    <a:lstStyle/>
                    <a:p>
                      <a:pPr algn="ctr">
                        <a:spcAft>
                          <a:spcPts val="0"/>
                        </a:spcAft>
                      </a:pPr>
                      <a:r>
                        <a:rPr lang="zh-CN" sz="1800" kern="100" dirty="0">
                          <a:effectLst/>
                          <a:latin typeface="幼圆" panose="02010509060101010101" pitchFamily="49" charset="-122"/>
                          <a:ea typeface="幼圆" panose="02010509060101010101" pitchFamily="49" charset="-122"/>
                        </a:rPr>
                        <a:t>用例执行数</a:t>
                      </a:r>
                      <a:endParaRPr lang="zh-CN" sz="1800" kern="100" dirty="0">
                        <a:effectLst/>
                        <a:latin typeface="幼圆" panose="02010509060101010101" pitchFamily="49" charset="-122"/>
                        <a:ea typeface="幼圆" panose="02010509060101010101" pitchFamily="49" charset="-122"/>
                      </a:endParaRPr>
                    </a:p>
                  </a:txBody>
                  <a:tcPr marL="68580" marR="68580" marT="0" marB="0" anchor="ctr" anchorCtr="1"/>
                </a:tc>
                <a:tc>
                  <a:txBody>
                    <a:bodyPr/>
                    <a:lstStyle/>
                    <a:p>
                      <a:pPr algn="ctr">
                        <a:spcAft>
                          <a:spcPts val="0"/>
                        </a:spcAft>
                      </a:pPr>
                      <a:r>
                        <a:rPr lang="zh-CN" sz="1800" kern="100" dirty="0">
                          <a:effectLst/>
                          <a:latin typeface="幼圆" panose="02010509060101010101" pitchFamily="49" charset="-122"/>
                          <a:ea typeface="幼圆" panose="02010509060101010101" pitchFamily="49" charset="-122"/>
                        </a:rPr>
                        <a:t>测试覆盖率</a:t>
                      </a:r>
                      <a:endParaRPr lang="zh-CN" sz="1800" kern="100" dirty="0">
                        <a:effectLst/>
                        <a:latin typeface="幼圆" panose="02010509060101010101" pitchFamily="49" charset="-122"/>
                        <a:ea typeface="幼圆" panose="02010509060101010101" pitchFamily="49" charset="-122"/>
                      </a:endParaRPr>
                    </a:p>
                  </a:txBody>
                  <a:tcPr marL="68580" marR="68580" marT="0" marB="0" anchor="ctr" anchorCtr="1"/>
                </a:tc>
                <a:tc>
                  <a:txBody>
                    <a:bodyPr/>
                    <a:lstStyle/>
                    <a:p>
                      <a:pPr algn="ctr">
                        <a:spcAft>
                          <a:spcPts val="0"/>
                        </a:spcAft>
                      </a:pPr>
                      <a:r>
                        <a:rPr lang="zh-CN" sz="1800" kern="100" dirty="0">
                          <a:effectLst/>
                          <a:latin typeface="幼圆" panose="02010509060101010101" pitchFamily="49" charset="-122"/>
                          <a:ea typeface="幼圆" panose="02010509060101010101" pitchFamily="49" charset="-122"/>
                        </a:rPr>
                        <a:t>备注</a:t>
                      </a:r>
                      <a:endParaRPr lang="zh-CN" sz="1800" kern="100" dirty="0">
                        <a:effectLst/>
                        <a:latin typeface="幼圆" panose="02010509060101010101" pitchFamily="49" charset="-122"/>
                        <a:ea typeface="幼圆" panose="02010509060101010101" pitchFamily="49" charset="-122"/>
                      </a:endParaRPr>
                    </a:p>
                  </a:txBody>
                  <a:tcPr marL="68580" marR="68580" marT="0" marB="0" anchor="ctr" anchorCtr="1"/>
                </a:tc>
              </a:tr>
              <a:tr h="2012935">
                <a:tc>
                  <a:txBody>
                    <a:bodyPr/>
                    <a:lstStyle/>
                    <a:p>
                      <a:pPr algn="just">
                        <a:spcAft>
                          <a:spcPts val="0"/>
                        </a:spcAft>
                      </a:pPr>
                      <a:r>
                        <a:rPr lang="zh-CN" sz="1800" kern="100" dirty="0">
                          <a:effectLst/>
                          <a:latin typeface="幼圆" panose="02010509060101010101" pitchFamily="49" charset="-122"/>
                          <a:ea typeface="幼圆" panose="02010509060101010101" pitchFamily="49" charset="-122"/>
                        </a:rPr>
                        <a:t>发布试卷功能</a:t>
                      </a:r>
                      <a:endParaRPr lang="zh-CN" sz="1800" kern="100" dirty="0">
                        <a:effectLst/>
                        <a:latin typeface="幼圆" panose="02010509060101010101" pitchFamily="49" charset="-122"/>
                        <a:ea typeface="幼圆" panose="02010509060101010101" pitchFamily="49" charset="-122"/>
                      </a:endParaRPr>
                    </a:p>
                  </a:txBody>
                  <a:tcPr marL="68580" marR="68580" marT="0" marB="0" anchor="ctr" anchorCtr="1"/>
                </a:tc>
                <a:tc>
                  <a:txBody>
                    <a:bodyPr/>
                    <a:lstStyle/>
                    <a:p>
                      <a:pPr algn="ctr">
                        <a:spcAft>
                          <a:spcPts val="0"/>
                        </a:spcAft>
                      </a:pPr>
                      <a:r>
                        <a:rPr lang="en-US" sz="1800" kern="100">
                          <a:effectLst/>
                          <a:latin typeface="幼圆" panose="02010509060101010101" pitchFamily="49" charset="-122"/>
                          <a:ea typeface="幼圆" panose="02010509060101010101" pitchFamily="49" charset="-122"/>
                        </a:rPr>
                        <a:t>6</a:t>
                      </a:r>
                      <a:endParaRPr lang="zh-CN" sz="18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ctr">
                        <a:spcAft>
                          <a:spcPts val="0"/>
                        </a:spcAft>
                      </a:pPr>
                      <a:r>
                        <a:rPr lang="en-US" sz="1800" kern="100" dirty="0">
                          <a:effectLst/>
                          <a:latin typeface="幼圆" panose="02010509060101010101" pitchFamily="49" charset="-122"/>
                          <a:ea typeface="幼圆" panose="02010509060101010101" pitchFamily="49" charset="-122"/>
                        </a:rPr>
                        <a:t>6</a:t>
                      </a:r>
                      <a:endParaRPr lang="zh-CN" sz="18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ctr">
                        <a:spcAft>
                          <a:spcPts val="0"/>
                        </a:spcAft>
                      </a:pPr>
                      <a:r>
                        <a:rPr lang="en-US" sz="1800" kern="100">
                          <a:effectLst/>
                          <a:latin typeface="幼圆" panose="02010509060101010101" pitchFamily="49" charset="-122"/>
                          <a:ea typeface="幼圆" panose="02010509060101010101" pitchFamily="49" charset="-122"/>
                        </a:rPr>
                        <a:t>100%</a:t>
                      </a:r>
                      <a:endParaRPr lang="zh-CN" sz="18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800" kern="100">
                          <a:effectLst/>
                          <a:latin typeface="幼圆" panose="02010509060101010101" pitchFamily="49" charset="-122"/>
                          <a:ea typeface="幼圆" panose="02010509060101010101" pitchFamily="49" charset="-122"/>
                        </a:rPr>
                        <a:t>试卷发布功能的测试覆盖率达</a:t>
                      </a:r>
                      <a:r>
                        <a:rPr lang="en-US" sz="1800" kern="100">
                          <a:effectLst/>
                          <a:latin typeface="幼圆" panose="02010509060101010101" pitchFamily="49" charset="-122"/>
                          <a:ea typeface="幼圆" panose="02010509060101010101" pitchFamily="49" charset="-122"/>
                        </a:rPr>
                        <a:t>100%</a:t>
                      </a:r>
                      <a:r>
                        <a:rPr lang="zh-CN" sz="1800" kern="100">
                          <a:effectLst/>
                          <a:latin typeface="幼圆" panose="02010509060101010101" pitchFamily="49" charset="-122"/>
                          <a:ea typeface="幼圆" panose="02010509060101010101" pitchFamily="49" charset="-122"/>
                        </a:rPr>
                        <a:t>，但通过率为</a:t>
                      </a:r>
                      <a:r>
                        <a:rPr lang="en-US" sz="1800" kern="100">
                          <a:effectLst/>
                          <a:latin typeface="幼圆" panose="02010509060101010101" pitchFamily="49" charset="-122"/>
                          <a:ea typeface="幼圆" panose="02010509060101010101" pitchFamily="49" charset="-122"/>
                        </a:rPr>
                        <a:t>0%</a:t>
                      </a:r>
                      <a:r>
                        <a:rPr lang="zh-CN" sz="1800" kern="100">
                          <a:effectLst/>
                          <a:latin typeface="幼圆" panose="02010509060101010101" pitchFamily="49" charset="-122"/>
                          <a:ea typeface="幼圆" panose="02010509060101010101" pitchFamily="49" charset="-122"/>
                        </a:rPr>
                        <a:t>。</a:t>
                      </a:r>
                      <a:endParaRPr lang="zh-CN" sz="1800" kern="100">
                        <a:effectLst/>
                        <a:latin typeface="幼圆" panose="02010509060101010101" pitchFamily="49" charset="-122"/>
                        <a:ea typeface="幼圆" panose="02010509060101010101" pitchFamily="49" charset="-122"/>
                      </a:endParaRPr>
                    </a:p>
                  </a:txBody>
                  <a:tcPr marL="68580" marR="68580" marT="0" marB="0"/>
                </a:tc>
              </a:tr>
              <a:tr h="556460">
                <a:tc>
                  <a:txBody>
                    <a:bodyPr/>
                    <a:lstStyle/>
                    <a:p>
                      <a:pPr algn="just">
                        <a:spcAft>
                          <a:spcPts val="0"/>
                        </a:spcAft>
                      </a:pPr>
                      <a:r>
                        <a:rPr lang="zh-CN" sz="1800" kern="100" dirty="0">
                          <a:effectLst/>
                          <a:latin typeface="幼圆" panose="02010509060101010101" pitchFamily="49" charset="-122"/>
                          <a:ea typeface="幼圆" panose="02010509060101010101" pitchFamily="49" charset="-122"/>
                        </a:rPr>
                        <a:t>答题功能</a:t>
                      </a:r>
                      <a:endParaRPr lang="zh-CN" sz="1800" kern="100" dirty="0">
                        <a:effectLst/>
                        <a:latin typeface="幼圆" panose="02010509060101010101" pitchFamily="49" charset="-122"/>
                        <a:ea typeface="幼圆" panose="02010509060101010101" pitchFamily="49" charset="-122"/>
                      </a:endParaRPr>
                    </a:p>
                  </a:txBody>
                  <a:tcPr marL="68580" marR="68580" marT="0" marB="0" anchor="ctr" anchorCtr="1"/>
                </a:tc>
                <a:tc>
                  <a:txBody>
                    <a:bodyPr/>
                    <a:lstStyle/>
                    <a:p>
                      <a:pPr algn="ctr">
                        <a:spcAft>
                          <a:spcPts val="0"/>
                        </a:spcAft>
                      </a:pPr>
                      <a:r>
                        <a:rPr lang="en-US" sz="1800" kern="100">
                          <a:effectLst/>
                          <a:latin typeface="幼圆" panose="02010509060101010101" pitchFamily="49" charset="-122"/>
                          <a:ea typeface="幼圆" panose="02010509060101010101" pitchFamily="49" charset="-122"/>
                        </a:rPr>
                        <a:t>10</a:t>
                      </a:r>
                      <a:endParaRPr lang="zh-CN" sz="18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ctr">
                        <a:spcAft>
                          <a:spcPts val="0"/>
                        </a:spcAft>
                      </a:pPr>
                      <a:r>
                        <a:rPr lang="en-US" sz="1800" kern="100">
                          <a:effectLst/>
                          <a:latin typeface="幼圆" panose="02010509060101010101" pitchFamily="49" charset="-122"/>
                          <a:ea typeface="幼圆" panose="02010509060101010101" pitchFamily="49" charset="-122"/>
                        </a:rPr>
                        <a:t>10</a:t>
                      </a:r>
                      <a:endParaRPr lang="zh-CN" sz="18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ctr">
                        <a:spcAft>
                          <a:spcPts val="0"/>
                        </a:spcAft>
                      </a:pPr>
                      <a:r>
                        <a:rPr lang="en-US" sz="1800" kern="100">
                          <a:effectLst/>
                          <a:latin typeface="幼圆" panose="02010509060101010101" pitchFamily="49" charset="-122"/>
                          <a:ea typeface="幼圆" panose="02010509060101010101" pitchFamily="49" charset="-122"/>
                        </a:rPr>
                        <a:t>100%</a:t>
                      </a:r>
                      <a:endParaRPr lang="zh-CN" sz="18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en-US" sz="1800" kern="100">
                          <a:effectLst/>
                          <a:latin typeface="幼圆" panose="02010509060101010101" pitchFamily="49" charset="-122"/>
                          <a:ea typeface="幼圆" panose="02010509060101010101" pitchFamily="49" charset="-122"/>
                        </a:rPr>
                        <a:t> </a:t>
                      </a:r>
                      <a:endParaRPr lang="zh-CN" sz="1800" kern="100">
                        <a:effectLst/>
                        <a:latin typeface="幼圆" panose="02010509060101010101" pitchFamily="49" charset="-122"/>
                        <a:ea typeface="幼圆" panose="02010509060101010101" pitchFamily="49" charset="-122"/>
                      </a:endParaRPr>
                    </a:p>
                  </a:txBody>
                  <a:tcPr marL="68580" marR="68580" marT="0" marB="0"/>
                </a:tc>
              </a:tr>
              <a:tr h="585493">
                <a:tc>
                  <a:txBody>
                    <a:bodyPr/>
                    <a:lstStyle/>
                    <a:p>
                      <a:pPr algn="just">
                        <a:spcAft>
                          <a:spcPts val="0"/>
                        </a:spcAft>
                      </a:pPr>
                      <a:r>
                        <a:rPr lang="zh-CN" sz="1800" kern="100" dirty="0">
                          <a:effectLst/>
                          <a:latin typeface="幼圆" panose="02010509060101010101" pitchFamily="49" charset="-122"/>
                          <a:ea typeface="幼圆" panose="02010509060101010101" pitchFamily="49" charset="-122"/>
                        </a:rPr>
                        <a:t>电脑阅卷功能</a:t>
                      </a:r>
                      <a:endParaRPr lang="zh-CN" sz="1800" kern="100" dirty="0">
                        <a:effectLst/>
                        <a:latin typeface="幼圆" panose="02010509060101010101" pitchFamily="49" charset="-122"/>
                        <a:ea typeface="幼圆" panose="02010509060101010101" pitchFamily="49" charset="-122"/>
                      </a:endParaRPr>
                    </a:p>
                  </a:txBody>
                  <a:tcPr marL="68580" marR="68580" marT="0" marB="0" anchor="ctr" anchorCtr="1"/>
                </a:tc>
                <a:tc>
                  <a:txBody>
                    <a:bodyPr/>
                    <a:lstStyle/>
                    <a:p>
                      <a:pPr algn="ctr">
                        <a:spcAft>
                          <a:spcPts val="0"/>
                        </a:spcAft>
                      </a:pPr>
                      <a:r>
                        <a:rPr lang="en-US" sz="1800" kern="100" dirty="0">
                          <a:effectLst/>
                          <a:latin typeface="幼圆" panose="02010509060101010101" pitchFamily="49" charset="-122"/>
                          <a:ea typeface="幼圆" panose="02010509060101010101" pitchFamily="49" charset="-122"/>
                        </a:rPr>
                        <a:t>3</a:t>
                      </a:r>
                      <a:endParaRPr lang="zh-CN" sz="18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ctr">
                        <a:spcAft>
                          <a:spcPts val="0"/>
                        </a:spcAft>
                      </a:pPr>
                      <a:r>
                        <a:rPr lang="en-US" sz="1800" kern="100">
                          <a:effectLst/>
                          <a:latin typeface="幼圆" panose="02010509060101010101" pitchFamily="49" charset="-122"/>
                          <a:ea typeface="幼圆" panose="02010509060101010101" pitchFamily="49" charset="-122"/>
                        </a:rPr>
                        <a:t>3</a:t>
                      </a:r>
                      <a:endParaRPr lang="zh-CN" sz="18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ctr">
                        <a:spcAft>
                          <a:spcPts val="0"/>
                        </a:spcAft>
                      </a:pPr>
                      <a:r>
                        <a:rPr lang="en-US" sz="1800" kern="100">
                          <a:effectLst/>
                          <a:latin typeface="幼圆" panose="02010509060101010101" pitchFamily="49" charset="-122"/>
                          <a:ea typeface="幼圆" panose="02010509060101010101" pitchFamily="49" charset="-122"/>
                        </a:rPr>
                        <a:t>100%</a:t>
                      </a:r>
                      <a:endParaRPr lang="zh-CN" sz="18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en-US" sz="1800" kern="100" dirty="0">
                          <a:effectLst/>
                          <a:latin typeface="幼圆" panose="02010509060101010101" pitchFamily="49" charset="-122"/>
                          <a:ea typeface="幼圆" panose="02010509060101010101" pitchFamily="49" charset="-122"/>
                        </a:rPr>
                        <a:t> </a:t>
                      </a:r>
                      <a:endParaRPr lang="zh-CN" sz="1800" kern="100" dirty="0">
                        <a:effectLst/>
                        <a:latin typeface="幼圆" panose="02010509060101010101" pitchFamily="49" charset="-122"/>
                        <a:ea typeface="幼圆" panose="02010509060101010101" pitchFamily="49" charset="-122"/>
                      </a:endParaRPr>
                    </a:p>
                  </a:txBody>
                  <a:tcPr marL="68580" marR="68580" marT="0" marB="0"/>
                </a:tc>
              </a:tr>
            </a:tbl>
          </a:graphicData>
        </a:graphic>
      </p:graphicFrame>
      <p:sp>
        <p:nvSpPr>
          <p:cNvPr id="8" name="内容占位符 2"/>
          <p:cNvSpPr txBox="1"/>
          <p:nvPr/>
        </p:nvSpPr>
        <p:spPr>
          <a:xfrm>
            <a:off x="5186428" y="1696564"/>
            <a:ext cx="3187561" cy="668742"/>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功能测试覆盖率分析</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500"/>
                                        <p:tgtEl>
                                          <p:spTgt spid="8"/>
                                        </p:tgtEl>
                                      </p:cBhvr>
                                    </p:animEffect>
                                  </p:childTnLst>
                                </p:cTn>
                              </p:par>
                            </p:childTnLst>
                          </p:cTn>
                        </p:par>
                        <p:par>
                          <p:cTn id="12" fill="hold">
                            <p:stCondLst>
                              <p:cond delay="1000"/>
                            </p:stCondLst>
                            <p:childTnLst>
                              <p:par>
                                <p:cTn id="13" presetID="16" presetClass="entr" presetSubtype="21"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barn(inVertical)">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nvSpPr>
        <p:spPr>
          <a:xfrm>
            <a:off x="1922333" y="272228"/>
            <a:ext cx="9167913" cy="5331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rgbClr val="C00000"/>
                </a:solidFill>
                <a:latin typeface="微软雅黑" panose="020B0503020204020204" pitchFamily="34" charset="-122"/>
                <a:ea typeface="微软雅黑" panose="020B0503020204020204" pitchFamily="34" charset="-122"/>
                <a:cs typeface="+mj-cs"/>
              </a:defRPr>
            </a:lvl1pPr>
          </a:lstStyle>
          <a:p>
            <a:pPr marL="0" algn="l" defTabSz="914400" rtl="0" eaLnBrk="1" latinLnBrk="0" hangingPunct="1"/>
            <a:r>
              <a:rPr lang="zh-CN" altLang="en-US" dirty="0" smtClean="0">
                <a:solidFill>
                  <a:srgbClr val="FF0000"/>
                </a:solidFill>
                <a:sym typeface="+mn-ea"/>
              </a:rPr>
              <a:t>测试报告</a:t>
            </a:r>
            <a:endParaRPr lang="zh-CN" altLang="en-US" dirty="0" smtClean="0">
              <a:solidFill>
                <a:srgbClr val="FF0000"/>
              </a:solidFill>
              <a:sym typeface="+mn-ea"/>
            </a:endParaRPr>
          </a:p>
        </p:txBody>
      </p:sp>
      <p:sp>
        <p:nvSpPr>
          <p:cNvPr id="5" name="内容占位符 2"/>
          <p:cNvSpPr txBox="1"/>
          <p:nvPr/>
        </p:nvSpPr>
        <p:spPr>
          <a:xfrm>
            <a:off x="4724402" y="1604424"/>
            <a:ext cx="3397713" cy="73451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兼容性测试覆盖率分析</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2" name="表格 1"/>
          <p:cNvGraphicFramePr>
            <a:graphicFrameLocks noGrp="1"/>
          </p:cNvGraphicFramePr>
          <p:nvPr/>
        </p:nvGraphicFramePr>
        <p:xfrm>
          <a:off x="1957136" y="2338939"/>
          <a:ext cx="8758991" cy="2560320"/>
        </p:xfrm>
        <a:graphic>
          <a:graphicData uri="http://schemas.openxmlformats.org/drawingml/2006/table">
            <a:tbl>
              <a:tblPr firstRow="1" firstCol="1" bandRow="1">
                <a:tableStyleId>{5C22544A-7EE6-4342-B048-85BDC9FD1C3A}</a:tableStyleId>
              </a:tblPr>
              <a:tblGrid>
                <a:gridCol w="1751387"/>
                <a:gridCol w="1751387"/>
                <a:gridCol w="1751387"/>
                <a:gridCol w="1752415"/>
                <a:gridCol w="1752415"/>
              </a:tblGrid>
              <a:tr h="853440">
                <a:tc>
                  <a:txBody>
                    <a:bodyPr/>
                    <a:lstStyle/>
                    <a:p>
                      <a:pPr algn="ctr">
                        <a:spcAft>
                          <a:spcPts val="0"/>
                        </a:spcAft>
                      </a:pPr>
                      <a:r>
                        <a:rPr lang="zh-CN" sz="2400" kern="100" dirty="0">
                          <a:effectLst/>
                          <a:latin typeface="幼圆" panose="02010509060101010101" pitchFamily="49" charset="-122"/>
                          <a:ea typeface="幼圆" panose="02010509060101010101" pitchFamily="49" charset="-122"/>
                        </a:rPr>
                        <a:t>兼容性测试</a:t>
                      </a:r>
                      <a:endParaRPr lang="zh-CN" sz="2400" kern="100" dirty="0">
                        <a:effectLst/>
                        <a:latin typeface="幼圆" panose="02010509060101010101" pitchFamily="49" charset="-122"/>
                        <a:ea typeface="幼圆" panose="02010509060101010101" pitchFamily="49" charset="-122"/>
                      </a:endParaRPr>
                    </a:p>
                  </a:txBody>
                  <a:tcPr marL="68580" marR="68580" marT="0" marB="0" anchor="ctr" anchorCtr="1"/>
                </a:tc>
                <a:tc>
                  <a:txBody>
                    <a:bodyPr/>
                    <a:lstStyle/>
                    <a:p>
                      <a:pPr algn="ctr">
                        <a:spcAft>
                          <a:spcPts val="0"/>
                        </a:spcAft>
                      </a:pPr>
                      <a:r>
                        <a:rPr lang="zh-CN" sz="2400" kern="100" dirty="0">
                          <a:effectLst/>
                          <a:latin typeface="幼圆" panose="02010509060101010101" pitchFamily="49" charset="-122"/>
                          <a:ea typeface="幼圆" panose="02010509060101010101" pitchFamily="49" charset="-122"/>
                        </a:rPr>
                        <a:t>用例总数</a:t>
                      </a:r>
                      <a:endParaRPr lang="zh-CN" sz="2400" kern="100" dirty="0">
                        <a:effectLst/>
                        <a:latin typeface="幼圆" panose="02010509060101010101" pitchFamily="49" charset="-122"/>
                        <a:ea typeface="幼圆" panose="02010509060101010101" pitchFamily="49" charset="-122"/>
                      </a:endParaRPr>
                    </a:p>
                  </a:txBody>
                  <a:tcPr marL="68580" marR="68580" marT="0" marB="0" anchor="ctr" anchorCtr="1"/>
                </a:tc>
                <a:tc>
                  <a:txBody>
                    <a:bodyPr/>
                    <a:lstStyle/>
                    <a:p>
                      <a:pPr algn="ctr">
                        <a:spcAft>
                          <a:spcPts val="0"/>
                        </a:spcAft>
                      </a:pPr>
                      <a:r>
                        <a:rPr lang="zh-CN" sz="2400" kern="100" dirty="0">
                          <a:effectLst/>
                          <a:latin typeface="幼圆" panose="02010509060101010101" pitchFamily="49" charset="-122"/>
                          <a:ea typeface="幼圆" panose="02010509060101010101" pitchFamily="49" charset="-122"/>
                        </a:rPr>
                        <a:t>用例执行数</a:t>
                      </a:r>
                      <a:endParaRPr lang="zh-CN" sz="2400" kern="100" dirty="0">
                        <a:effectLst/>
                        <a:latin typeface="幼圆" panose="02010509060101010101" pitchFamily="49" charset="-122"/>
                        <a:ea typeface="幼圆" panose="02010509060101010101" pitchFamily="49" charset="-122"/>
                      </a:endParaRPr>
                    </a:p>
                  </a:txBody>
                  <a:tcPr marL="68580" marR="68580" marT="0" marB="0" anchor="ctr" anchorCtr="1"/>
                </a:tc>
                <a:tc>
                  <a:txBody>
                    <a:bodyPr/>
                    <a:lstStyle/>
                    <a:p>
                      <a:pPr algn="ctr">
                        <a:spcAft>
                          <a:spcPts val="0"/>
                        </a:spcAft>
                      </a:pPr>
                      <a:r>
                        <a:rPr lang="zh-CN" sz="2400" kern="100" dirty="0">
                          <a:effectLst/>
                          <a:latin typeface="幼圆" panose="02010509060101010101" pitchFamily="49" charset="-122"/>
                          <a:ea typeface="幼圆" panose="02010509060101010101" pitchFamily="49" charset="-122"/>
                        </a:rPr>
                        <a:t>测试覆盖率</a:t>
                      </a:r>
                      <a:endParaRPr lang="zh-CN" sz="2400" kern="100" dirty="0">
                        <a:effectLst/>
                        <a:latin typeface="幼圆" panose="02010509060101010101" pitchFamily="49" charset="-122"/>
                        <a:ea typeface="幼圆" panose="02010509060101010101" pitchFamily="49" charset="-122"/>
                      </a:endParaRPr>
                    </a:p>
                  </a:txBody>
                  <a:tcPr marL="68580" marR="68580" marT="0" marB="0" anchor="ctr" anchorCtr="1"/>
                </a:tc>
                <a:tc>
                  <a:txBody>
                    <a:bodyPr/>
                    <a:lstStyle/>
                    <a:p>
                      <a:pPr algn="ctr">
                        <a:spcAft>
                          <a:spcPts val="0"/>
                        </a:spcAft>
                      </a:pPr>
                      <a:r>
                        <a:rPr lang="zh-CN" sz="2400" kern="100" dirty="0">
                          <a:effectLst/>
                          <a:latin typeface="幼圆" panose="02010509060101010101" pitchFamily="49" charset="-122"/>
                          <a:ea typeface="幼圆" panose="02010509060101010101" pitchFamily="49" charset="-122"/>
                        </a:rPr>
                        <a:t>备注</a:t>
                      </a:r>
                      <a:endParaRPr lang="zh-CN" sz="2400" kern="100" dirty="0">
                        <a:effectLst/>
                        <a:latin typeface="幼圆" panose="02010509060101010101" pitchFamily="49" charset="-122"/>
                        <a:ea typeface="幼圆" panose="02010509060101010101" pitchFamily="49" charset="-122"/>
                      </a:endParaRPr>
                    </a:p>
                  </a:txBody>
                  <a:tcPr marL="68580" marR="68580" marT="0" marB="0" anchor="ctr" anchorCtr="1"/>
                </a:tc>
              </a:tr>
              <a:tr h="853440">
                <a:tc>
                  <a:txBody>
                    <a:bodyPr/>
                    <a:lstStyle/>
                    <a:p>
                      <a:pPr algn="just">
                        <a:spcAft>
                          <a:spcPts val="0"/>
                        </a:spcAft>
                      </a:pPr>
                      <a:r>
                        <a:rPr lang="zh-CN" sz="2400" kern="100" dirty="0">
                          <a:effectLst/>
                          <a:latin typeface="幼圆" panose="02010509060101010101" pitchFamily="49" charset="-122"/>
                          <a:ea typeface="幼圆" panose="02010509060101010101" pitchFamily="49" charset="-122"/>
                        </a:rPr>
                        <a:t>智能终端</a:t>
                      </a:r>
                      <a:endParaRPr lang="zh-CN" sz="2400" kern="100" dirty="0">
                        <a:effectLst/>
                        <a:latin typeface="幼圆" panose="02010509060101010101" pitchFamily="49" charset="-122"/>
                        <a:ea typeface="幼圆" panose="02010509060101010101" pitchFamily="49" charset="-122"/>
                      </a:endParaRPr>
                    </a:p>
                  </a:txBody>
                  <a:tcPr marL="68580" marR="68580" marT="0" marB="0" anchor="ctr" anchorCtr="1"/>
                </a:tc>
                <a:tc>
                  <a:txBody>
                    <a:bodyPr/>
                    <a:lstStyle/>
                    <a:p>
                      <a:pPr algn="ctr">
                        <a:spcAft>
                          <a:spcPts val="0"/>
                        </a:spcAft>
                      </a:pPr>
                      <a:r>
                        <a:rPr lang="en-US" sz="2400" kern="100">
                          <a:effectLst/>
                          <a:latin typeface="幼圆" panose="02010509060101010101" pitchFamily="49" charset="-122"/>
                          <a:ea typeface="幼圆" panose="02010509060101010101" pitchFamily="49" charset="-122"/>
                        </a:rPr>
                        <a:t>4</a:t>
                      </a:r>
                      <a:endParaRPr lang="zh-CN" sz="24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ctr">
                        <a:spcAft>
                          <a:spcPts val="0"/>
                        </a:spcAft>
                      </a:pPr>
                      <a:r>
                        <a:rPr lang="en-US" sz="2400" kern="100" dirty="0">
                          <a:effectLst/>
                          <a:latin typeface="幼圆" panose="02010509060101010101" pitchFamily="49" charset="-122"/>
                          <a:ea typeface="幼圆" panose="02010509060101010101" pitchFamily="49" charset="-122"/>
                        </a:rPr>
                        <a:t>4</a:t>
                      </a:r>
                      <a:endParaRPr lang="zh-CN" sz="24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ctr">
                        <a:spcAft>
                          <a:spcPts val="0"/>
                        </a:spcAft>
                      </a:pPr>
                      <a:r>
                        <a:rPr lang="en-US" sz="2400" kern="100">
                          <a:effectLst/>
                          <a:latin typeface="幼圆" panose="02010509060101010101" pitchFamily="49" charset="-122"/>
                          <a:ea typeface="幼圆" panose="02010509060101010101" pitchFamily="49" charset="-122"/>
                        </a:rPr>
                        <a:t>100%</a:t>
                      </a:r>
                      <a:endParaRPr lang="zh-CN" sz="24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en-US" sz="2400" kern="100">
                          <a:effectLst/>
                          <a:latin typeface="幼圆" panose="02010509060101010101" pitchFamily="49" charset="-122"/>
                          <a:ea typeface="幼圆" panose="02010509060101010101" pitchFamily="49" charset="-122"/>
                        </a:rPr>
                        <a:t> </a:t>
                      </a:r>
                      <a:endParaRPr lang="zh-CN" sz="2400" kern="100">
                        <a:effectLst/>
                        <a:latin typeface="幼圆" panose="02010509060101010101" pitchFamily="49" charset="-122"/>
                        <a:ea typeface="幼圆" panose="02010509060101010101" pitchFamily="49" charset="-122"/>
                      </a:endParaRPr>
                    </a:p>
                  </a:txBody>
                  <a:tcPr marL="68580" marR="68580" marT="0" marB="0"/>
                </a:tc>
              </a:tr>
              <a:tr h="853440">
                <a:tc>
                  <a:txBody>
                    <a:bodyPr/>
                    <a:lstStyle/>
                    <a:p>
                      <a:pPr algn="just">
                        <a:spcAft>
                          <a:spcPts val="0"/>
                        </a:spcAft>
                      </a:pPr>
                      <a:r>
                        <a:rPr lang="zh-CN" sz="2400" kern="100" dirty="0">
                          <a:effectLst/>
                          <a:latin typeface="幼圆" panose="02010509060101010101" pitchFamily="49" charset="-122"/>
                          <a:ea typeface="幼圆" panose="02010509060101010101" pitchFamily="49" charset="-122"/>
                        </a:rPr>
                        <a:t>浏览器</a:t>
                      </a:r>
                      <a:endParaRPr lang="zh-CN" sz="2400" kern="100" dirty="0">
                        <a:effectLst/>
                        <a:latin typeface="幼圆" panose="02010509060101010101" pitchFamily="49" charset="-122"/>
                        <a:ea typeface="幼圆" panose="02010509060101010101" pitchFamily="49" charset="-122"/>
                      </a:endParaRPr>
                    </a:p>
                  </a:txBody>
                  <a:tcPr marL="68580" marR="68580" marT="0" marB="0" anchor="ctr" anchorCtr="1"/>
                </a:tc>
                <a:tc>
                  <a:txBody>
                    <a:bodyPr/>
                    <a:lstStyle/>
                    <a:p>
                      <a:pPr algn="ctr">
                        <a:spcAft>
                          <a:spcPts val="0"/>
                        </a:spcAft>
                      </a:pPr>
                      <a:r>
                        <a:rPr lang="en-US" sz="2400" kern="100">
                          <a:effectLst/>
                          <a:latin typeface="幼圆" panose="02010509060101010101" pitchFamily="49" charset="-122"/>
                          <a:ea typeface="幼圆" panose="02010509060101010101" pitchFamily="49" charset="-122"/>
                        </a:rPr>
                        <a:t>5</a:t>
                      </a:r>
                      <a:endParaRPr lang="zh-CN" sz="24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ctr">
                        <a:spcAft>
                          <a:spcPts val="0"/>
                        </a:spcAft>
                      </a:pPr>
                      <a:r>
                        <a:rPr lang="en-US" sz="2400" kern="100" dirty="0">
                          <a:effectLst/>
                          <a:latin typeface="幼圆" panose="02010509060101010101" pitchFamily="49" charset="-122"/>
                          <a:ea typeface="幼圆" panose="02010509060101010101" pitchFamily="49" charset="-122"/>
                        </a:rPr>
                        <a:t>5</a:t>
                      </a:r>
                      <a:endParaRPr lang="zh-CN" sz="24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ctr">
                        <a:spcAft>
                          <a:spcPts val="0"/>
                        </a:spcAft>
                      </a:pPr>
                      <a:r>
                        <a:rPr lang="en-US" sz="2400" kern="100">
                          <a:effectLst/>
                          <a:latin typeface="幼圆" panose="02010509060101010101" pitchFamily="49" charset="-122"/>
                          <a:ea typeface="幼圆" panose="02010509060101010101" pitchFamily="49" charset="-122"/>
                        </a:rPr>
                        <a:t>100%</a:t>
                      </a:r>
                      <a:endParaRPr lang="zh-CN" sz="24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en-US" sz="2400" kern="100" dirty="0">
                          <a:effectLst/>
                          <a:latin typeface="幼圆" panose="02010509060101010101" pitchFamily="49" charset="-122"/>
                          <a:ea typeface="幼圆" panose="02010509060101010101" pitchFamily="49" charset="-122"/>
                        </a:rPr>
                        <a:t> </a:t>
                      </a:r>
                      <a:endParaRPr lang="zh-CN" sz="2400" kern="100" dirty="0">
                        <a:effectLst/>
                        <a:latin typeface="幼圆" panose="02010509060101010101" pitchFamily="49" charset="-122"/>
                        <a:ea typeface="幼圆" panose="02010509060101010101" pitchFamily="49" charset="-122"/>
                      </a:endParaRPr>
                    </a:p>
                  </a:txBody>
                  <a:tcPr marL="68580" marR="68580" marT="0" marB="0"/>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arn(inVertical)">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nvSpPr>
        <p:spPr>
          <a:xfrm>
            <a:off x="1922333" y="272228"/>
            <a:ext cx="9167913" cy="5331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rgbClr val="C00000"/>
                </a:solidFill>
                <a:latin typeface="微软雅黑" panose="020B0503020204020204" pitchFamily="34" charset="-122"/>
                <a:ea typeface="微软雅黑" panose="020B0503020204020204" pitchFamily="34" charset="-122"/>
                <a:cs typeface="+mj-cs"/>
              </a:defRPr>
            </a:lvl1pPr>
          </a:lstStyle>
          <a:p>
            <a:pPr marL="0" algn="l" defTabSz="914400" rtl="0" eaLnBrk="1" latinLnBrk="0" hangingPunct="1"/>
            <a:r>
              <a:rPr lang="zh-CN" altLang="en-US" dirty="0" smtClean="0">
                <a:solidFill>
                  <a:srgbClr val="FF0000"/>
                </a:solidFill>
                <a:sym typeface="+mn-ea"/>
              </a:rPr>
              <a:t>测试报告</a:t>
            </a:r>
            <a:endParaRPr lang="zh-CN" altLang="en-US" dirty="0" smtClean="0">
              <a:solidFill>
                <a:srgbClr val="FF0000"/>
              </a:solidFill>
              <a:sym typeface="+mn-ea"/>
            </a:endParaRPr>
          </a:p>
        </p:txBody>
      </p:sp>
      <p:sp>
        <p:nvSpPr>
          <p:cNvPr id="5" name="内容占位符 2"/>
          <p:cNvSpPr txBox="1"/>
          <p:nvPr/>
        </p:nvSpPr>
        <p:spPr>
          <a:xfrm>
            <a:off x="5615539" y="1171289"/>
            <a:ext cx="1698856" cy="73451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缺陷分析</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4" name="表格 3"/>
          <p:cNvGraphicFramePr>
            <a:graphicFrameLocks noGrp="1"/>
          </p:cNvGraphicFramePr>
          <p:nvPr/>
        </p:nvGraphicFramePr>
        <p:xfrm>
          <a:off x="1424540" y="1833603"/>
          <a:ext cx="9769642" cy="4251316"/>
        </p:xfrm>
        <a:graphic>
          <a:graphicData uri="http://schemas.openxmlformats.org/drawingml/2006/table">
            <a:tbl>
              <a:tblPr firstRow="1" firstCol="1" bandRow="1">
                <a:tableStyleId>{5C22544A-7EE6-4342-B048-85BDC9FD1C3A}</a:tableStyleId>
              </a:tblPr>
              <a:tblGrid>
                <a:gridCol w="1262635"/>
                <a:gridCol w="1787870"/>
                <a:gridCol w="3247755"/>
                <a:gridCol w="974786"/>
                <a:gridCol w="1247725"/>
                <a:gridCol w="1248871"/>
              </a:tblGrid>
              <a:tr h="341706">
                <a:tc>
                  <a:txBody>
                    <a:bodyPr/>
                    <a:lstStyle/>
                    <a:p>
                      <a:pPr algn="ctr">
                        <a:spcAft>
                          <a:spcPts val="0"/>
                        </a:spcAft>
                      </a:pPr>
                      <a:r>
                        <a:rPr lang="zh-CN" sz="1400" kern="100" dirty="0">
                          <a:effectLst/>
                          <a:latin typeface="幼圆" panose="02010509060101010101" pitchFamily="49" charset="-122"/>
                          <a:ea typeface="幼圆" panose="02010509060101010101" pitchFamily="49" charset="-122"/>
                        </a:rPr>
                        <a:t>缺陷</a:t>
                      </a:r>
                      <a:r>
                        <a:rPr lang="en-US" sz="1400" kern="100" dirty="0">
                          <a:effectLst/>
                          <a:latin typeface="幼圆" panose="02010509060101010101" pitchFamily="49" charset="-122"/>
                          <a:ea typeface="幼圆" panose="02010509060101010101" pitchFamily="49" charset="-122"/>
                        </a:rPr>
                        <a:t>ID</a:t>
                      </a:r>
                      <a:endParaRPr lang="zh-CN" sz="1400" kern="100" dirty="0">
                        <a:effectLst/>
                        <a:latin typeface="幼圆" panose="02010509060101010101" pitchFamily="49" charset="-122"/>
                        <a:ea typeface="幼圆" panose="02010509060101010101" pitchFamily="49" charset="-122"/>
                      </a:endParaRPr>
                    </a:p>
                  </a:txBody>
                  <a:tcPr marL="45484" marR="45484" marT="0" marB="0" anchor="ctr" anchorCtr="1"/>
                </a:tc>
                <a:tc>
                  <a:txBody>
                    <a:bodyPr/>
                    <a:lstStyle/>
                    <a:p>
                      <a:pPr algn="ctr">
                        <a:spcAft>
                          <a:spcPts val="0"/>
                        </a:spcAft>
                      </a:pPr>
                      <a:r>
                        <a:rPr lang="en-US" sz="1400" kern="100" dirty="0">
                          <a:effectLst/>
                          <a:latin typeface="幼圆" panose="02010509060101010101" pitchFamily="49" charset="-122"/>
                          <a:ea typeface="幼圆" panose="02010509060101010101" pitchFamily="49" charset="-122"/>
                        </a:rPr>
                        <a:t>bug</a:t>
                      </a:r>
                      <a:endParaRPr lang="zh-CN" sz="1400" kern="100" dirty="0">
                        <a:effectLst/>
                        <a:latin typeface="幼圆" panose="02010509060101010101" pitchFamily="49" charset="-122"/>
                        <a:ea typeface="幼圆" panose="02010509060101010101" pitchFamily="49" charset="-122"/>
                      </a:endParaRPr>
                    </a:p>
                  </a:txBody>
                  <a:tcPr marL="45484" marR="45484" marT="0" marB="0" anchor="ctr" anchorCtr="1"/>
                </a:tc>
                <a:tc>
                  <a:txBody>
                    <a:bodyPr/>
                    <a:lstStyle/>
                    <a:p>
                      <a:pPr algn="ctr">
                        <a:spcAft>
                          <a:spcPts val="0"/>
                        </a:spcAft>
                      </a:pPr>
                      <a:r>
                        <a:rPr lang="zh-CN" sz="1400" kern="100" dirty="0">
                          <a:effectLst/>
                          <a:latin typeface="幼圆" panose="02010509060101010101" pitchFamily="49" charset="-122"/>
                          <a:ea typeface="幼圆" panose="02010509060101010101" pitchFamily="49" charset="-122"/>
                        </a:rPr>
                        <a:t>描述</a:t>
                      </a:r>
                      <a:endParaRPr lang="zh-CN" sz="1400" kern="100" dirty="0">
                        <a:effectLst/>
                        <a:latin typeface="幼圆" panose="02010509060101010101" pitchFamily="49" charset="-122"/>
                        <a:ea typeface="幼圆" panose="02010509060101010101" pitchFamily="49" charset="-122"/>
                      </a:endParaRPr>
                    </a:p>
                  </a:txBody>
                  <a:tcPr marL="45484" marR="45484" marT="0" marB="0" anchor="ctr" anchorCtr="1"/>
                </a:tc>
                <a:tc>
                  <a:txBody>
                    <a:bodyPr/>
                    <a:lstStyle/>
                    <a:p>
                      <a:pPr algn="ctr">
                        <a:spcAft>
                          <a:spcPts val="0"/>
                        </a:spcAft>
                      </a:pPr>
                      <a:r>
                        <a:rPr lang="zh-CN" sz="1400" kern="100" dirty="0">
                          <a:effectLst/>
                          <a:latin typeface="幼圆" panose="02010509060101010101" pitchFamily="49" charset="-122"/>
                          <a:ea typeface="幼圆" panose="02010509060101010101" pitchFamily="49" charset="-122"/>
                        </a:rPr>
                        <a:t>等级</a:t>
                      </a:r>
                      <a:endParaRPr lang="zh-CN" sz="1400" kern="100" dirty="0">
                        <a:effectLst/>
                        <a:latin typeface="幼圆" panose="02010509060101010101" pitchFamily="49" charset="-122"/>
                        <a:ea typeface="幼圆" panose="02010509060101010101" pitchFamily="49" charset="-122"/>
                      </a:endParaRPr>
                    </a:p>
                  </a:txBody>
                  <a:tcPr marL="45484" marR="45484" marT="0" marB="0" anchor="ctr" anchorCtr="1"/>
                </a:tc>
                <a:tc>
                  <a:txBody>
                    <a:bodyPr/>
                    <a:lstStyle/>
                    <a:p>
                      <a:pPr algn="ctr">
                        <a:spcAft>
                          <a:spcPts val="0"/>
                        </a:spcAft>
                      </a:pPr>
                      <a:r>
                        <a:rPr lang="zh-CN" sz="1400" kern="100" dirty="0">
                          <a:effectLst/>
                          <a:latin typeface="幼圆" panose="02010509060101010101" pitchFamily="49" charset="-122"/>
                          <a:ea typeface="幼圆" panose="02010509060101010101" pitchFamily="49" charset="-122"/>
                        </a:rPr>
                        <a:t>测试人员</a:t>
                      </a:r>
                      <a:endParaRPr lang="zh-CN" sz="1400" kern="100" dirty="0">
                        <a:effectLst/>
                        <a:latin typeface="幼圆" panose="02010509060101010101" pitchFamily="49" charset="-122"/>
                        <a:ea typeface="幼圆" panose="02010509060101010101" pitchFamily="49" charset="-122"/>
                      </a:endParaRPr>
                    </a:p>
                  </a:txBody>
                  <a:tcPr marL="45484" marR="45484" marT="0" marB="0" anchor="ctr" anchorCtr="1"/>
                </a:tc>
                <a:tc>
                  <a:txBody>
                    <a:bodyPr/>
                    <a:lstStyle/>
                    <a:p>
                      <a:pPr algn="ctr">
                        <a:spcAft>
                          <a:spcPts val="0"/>
                        </a:spcAft>
                      </a:pPr>
                      <a:r>
                        <a:rPr lang="zh-CN" sz="1400" kern="100" dirty="0">
                          <a:effectLst/>
                          <a:latin typeface="幼圆" panose="02010509060101010101" pitchFamily="49" charset="-122"/>
                          <a:ea typeface="幼圆" panose="02010509060101010101" pitchFamily="49" charset="-122"/>
                        </a:rPr>
                        <a:t>开发人员</a:t>
                      </a:r>
                      <a:endParaRPr lang="zh-CN" sz="1400" kern="100" dirty="0">
                        <a:effectLst/>
                        <a:latin typeface="幼圆" panose="02010509060101010101" pitchFamily="49" charset="-122"/>
                        <a:ea typeface="幼圆" panose="02010509060101010101" pitchFamily="49" charset="-122"/>
                      </a:endParaRPr>
                    </a:p>
                  </a:txBody>
                  <a:tcPr marL="45484" marR="45484" marT="0" marB="0" anchor="ctr" anchorCtr="1"/>
                </a:tc>
              </a:tr>
              <a:tr h="2367814">
                <a:tc>
                  <a:txBody>
                    <a:bodyPr/>
                    <a:lstStyle/>
                    <a:p>
                      <a:pPr algn="ctr">
                        <a:spcAft>
                          <a:spcPts val="0"/>
                        </a:spcAft>
                      </a:pPr>
                      <a:r>
                        <a:rPr lang="en-US" sz="1400" kern="100">
                          <a:effectLst/>
                          <a:latin typeface="幼圆" panose="02010509060101010101" pitchFamily="49" charset="-122"/>
                          <a:ea typeface="幼圆" panose="02010509060101010101" pitchFamily="49" charset="-122"/>
                        </a:rPr>
                        <a:t>Bug_001</a:t>
                      </a:r>
                      <a:endParaRPr lang="zh-CN" sz="1400" kern="100">
                        <a:effectLst/>
                        <a:latin typeface="幼圆" panose="02010509060101010101" pitchFamily="49" charset="-122"/>
                        <a:ea typeface="幼圆" panose="02010509060101010101" pitchFamily="49" charset="-122"/>
                      </a:endParaRPr>
                    </a:p>
                  </a:txBody>
                  <a:tcPr marL="45484" marR="45484" marT="0" marB="0" anchor="ctr"/>
                </a:tc>
                <a:tc>
                  <a:txBody>
                    <a:bodyPr/>
                    <a:lstStyle/>
                    <a:p>
                      <a:pPr algn="just">
                        <a:spcAft>
                          <a:spcPts val="0"/>
                        </a:spcAft>
                      </a:pPr>
                      <a:r>
                        <a:rPr lang="zh-CN" sz="1400" kern="100" dirty="0">
                          <a:effectLst/>
                          <a:latin typeface="幼圆" panose="02010509060101010101" pitchFamily="49" charset="-122"/>
                          <a:ea typeface="幼圆" panose="02010509060101010101" pitchFamily="49" charset="-122"/>
                        </a:rPr>
                        <a:t>教师无法以管理员身从发布试卷。</a:t>
                      </a:r>
                      <a:endParaRPr lang="zh-CN" sz="1400" kern="100" dirty="0">
                        <a:effectLst/>
                        <a:latin typeface="幼圆" panose="02010509060101010101" pitchFamily="49" charset="-122"/>
                        <a:ea typeface="幼圆" panose="02010509060101010101" pitchFamily="49" charset="-122"/>
                      </a:endParaRPr>
                    </a:p>
                  </a:txBody>
                  <a:tcPr marL="45484" marR="45484" marT="0" marB="0" anchor="ctr"/>
                </a:tc>
                <a:tc>
                  <a:txBody>
                    <a:bodyPr/>
                    <a:lstStyle/>
                    <a:p>
                      <a:pPr algn="just">
                        <a:spcAft>
                          <a:spcPts val="0"/>
                        </a:spcAft>
                      </a:pPr>
                      <a:r>
                        <a:rPr lang="zh-CN" sz="1400" kern="100" dirty="0">
                          <a:effectLst/>
                          <a:latin typeface="幼圆" panose="02010509060101010101" pitchFamily="49" charset="-122"/>
                          <a:ea typeface="幼圆" panose="02010509060101010101" pitchFamily="49" charset="-122"/>
                        </a:rPr>
                        <a:t>执行测试用例</a:t>
                      </a:r>
                      <a:r>
                        <a:rPr lang="en-US" sz="1400" kern="100" dirty="0">
                          <a:effectLst/>
                          <a:latin typeface="幼圆" panose="02010509060101010101" pitchFamily="49" charset="-122"/>
                          <a:ea typeface="幼圆" panose="02010509060101010101" pitchFamily="49" charset="-122"/>
                        </a:rPr>
                        <a:t>T_001</a:t>
                      </a:r>
                      <a:r>
                        <a:rPr lang="zh-CN" sz="1400" kern="100" dirty="0">
                          <a:effectLst/>
                          <a:latin typeface="幼圆" panose="02010509060101010101" pitchFamily="49" charset="-122"/>
                          <a:ea typeface="幼圆" panose="02010509060101010101" pitchFamily="49" charset="-122"/>
                        </a:rPr>
                        <a:t>，测试结果为没有管理员登录入口，与预期结果不符。与开发人员沟通，只能从源代码级别添加试卷，这不符合软件需求分析。</a:t>
                      </a:r>
                      <a:endParaRPr lang="zh-CN" sz="1400" kern="100" dirty="0">
                        <a:effectLst/>
                        <a:latin typeface="幼圆" panose="02010509060101010101" pitchFamily="49" charset="-122"/>
                        <a:ea typeface="幼圆" panose="02010509060101010101" pitchFamily="49" charset="-122"/>
                      </a:endParaRPr>
                    </a:p>
                    <a:p>
                      <a:pPr algn="just">
                        <a:spcAft>
                          <a:spcPts val="0"/>
                        </a:spcAft>
                      </a:pPr>
                      <a:r>
                        <a:rPr lang="zh-CN" sz="1400" kern="100" dirty="0">
                          <a:effectLst/>
                          <a:latin typeface="幼圆" panose="02010509060101010101" pitchFamily="49" charset="-122"/>
                          <a:ea typeface="幼圆" panose="02010509060101010101" pitchFamily="49" charset="-122"/>
                        </a:rPr>
                        <a:t>由于没有管理员入口，后面的试题录入也无从测试，因此，</a:t>
                      </a:r>
                      <a:r>
                        <a:rPr lang="en-US" sz="1400" kern="100" dirty="0">
                          <a:effectLst/>
                          <a:latin typeface="幼圆" panose="02010509060101010101" pitchFamily="49" charset="-122"/>
                          <a:ea typeface="幼圆" panose="02010509060101010101" pitchFamily="49" charset="-122"/>
                        </a:rPr>
                        <a:t>T_001</a:t>
                      </a:r>
                      <a:r>
                        <a:rPr lang="zh-CN" sz="1400" kern="100" dirty="0">
                          <a:effectLst/>
                          <a:latin typeface="幼圆" panose="02010509060101010101" pitchFamily="49" charset="-122"/>
                          <a:ea typeface="幼圆" panose="02010509060101010101" pitchFamily="49" charset="-122"/>
                        </a:rPr>
                        <a:t>测试用例实则发现</a:t>
                      </a:r>
                      <a:r>
                        <a:rPr lang="en-US" sz="1400" kern="100" dirty="0">
                          <a:effectLst/>
                          <a:latin typeface="幼圆" panose="02010509060101010101" pitchFamily="49" charset="-122"/>
                          <a:ea typeface="幼圆" panose="02010509060101010101" pitchFamily="49" charset="-122"/>
                        </a:rPr>
                        <a:t>6</a:t>
                      </a:r>
                      <a:r>
                        <a:rPr lang="zh-CN" sz="1400" kern="100" dirty="0">
                          <a:effectLst/>
                          <a:latin typeface="幼圆" panose="02010509060101010101" pitchFamily="49" charset="-122"/>
                          <a:ea typeface="幼圆" panose="02010509060101010101" pitchFamily="49" charset="-122"/>
                        </a:rPr>
                        <a:t>个缺陷：无法录入试卷标题、无法录入题型、无法录入题目、无法录入考试时间、无法录入答案。</a:t>
                      </a:r>
                      <a:endParaRPr lang="zh-CN" sz="1400" kern="100" dirty="0">
                        <a:effectLst/>
                        <a:latin typeface="幼圆" panose="02010509060101010101" pitchFamily="49" charset="-122"/>
                        <a:ea typeface="幼圆" panose="02010509060101010101" pitchFamily="49" charset="-122"/>
                      </a:endParaRPr>
                    </a:p>
                  </a:txBody>
                  <a:tcPr marL="45484" marR="45484" marT="0" marB="0" anchor="ctr"/>
                </a:tc>
                <a:tc>
                  <a:txBody>
                    <a:bodyPr/>
                    <a:lstStyle/>
                    <a:p>
                      <a:pPr algn="ctr">
                        <a:spcAft>
                          <a:spcPts val="0"/>
                        </a:spcAft>
                      </a:pPr>
                      <a:r>
                        <a:rPr lang="zh-CN" sz="1400" kern="100">
                          <a:effectLst/>
                          <a:latin typeface="幼圆" panose="02010509060101010101" pitchFamily="49" charset="-122"/>
                          <a:ea typeface="幼圆" panose="02010509060101010101" pitchFamily="49" charset="-122"/>
                        </a:rPr>
                        <a:t>严重</a:t>
                      </a:r>
                      <a:endParaRPr lang="zh-CN" sz="1400" kern="100">
                        <a:effectLst/>
                        <a:latin typeface="幼圆" panose="02010509060101010101" pitchFamily="49" charset="-122"/>
                        <a:ea typeface="幼圆" panose="02010509060101010101" pitchFamily="49" charset="-122"/>
                      </a:endParaRPr>
                    </a:p>
                  </a:txBody>
                  <a:tcPr marL="45484" marR="45484" marT="0" marB="0" anchor="ctr"/>
                </a:tc>
                <a:tc>
                  <a:txBody>
                    <a:bodyPr/>
                    <a:lstStyle/>
                    <a:p>
                      <a:pPr algn="ctr">
                        <a:spcAft>
                          <a:spcPts val="0"/>
                        </a:spcAft>
                      </a:pPr>
                      <a:r>
                        <a:rPr lang="zh-CN" sz="1400" kern="100">
                          <a:effectLst/>
                          <a:latin typeface="幼圆" panose="02010509060101010101" pitchFamily="49" charset="-122"/>
                          <a:ea typeface="幼圆" panose="02010509060101010101" pitchFamily="49" charset="-122"/>
                        </a:rPr>
                        <a:t>薛蒙蒙</a:t>
                      </a:r>
                      <a:endParaRPr lang="zh-CN" sz="1400" kern="100">
                        <a:effectLst/>
                        <a:latin typeface="幼圆" panose="02010509060101010101" pitchFamily="49" charset="-122"/>
                        <a:ea typeface="幼圆" panose="02010509060101010101" pitchFamily="49" charset="-122"/>
                      </a:endParaRPr>
                    </a:p>
                    <a:p>
                      <a:pPr algn="ctr">
                        <a:spcAft>
                          <a:spcPts val="0"/>
                        </a:spcAft>
                      </a:pPr>
                      <a:r>
                        <a:rPr lang="zh-CN" sz="1400" kern="100">
                          <a:effectLst/>
                          <a:latin typeface="幼圆" panose="02010509060101010101" pitchFamily="49" charset="-122"/>
                          <a:ea typeface="幼圆" panose="02010509060101010101" pitchFamily="49" charset="-122"/>
                        </a:rPr>
                        <a:t>李卓</a:t>
                      </a:r>
                      <a:endParaRPr lang="zh-CN" sz="1400" kern="100">
                        <a:effectLst/>
                        <a:latin typeface="幼圆" panose="02010509060101010101" pitchFamily="49" charset="-122"/>
                        <a:ea typeface="幼圆" panose="02010509060101010101" pitchFamily="49" charset="-122"/>
                      </a:endParaRPr>
                    </a:p>
                  </a:txBody>
                  <a:tcPr marL="45484" marR="45484" marT="0" marB="0" anchor="ctr"/>
                </a:tc>
                <a:tc>
                  <a:txBody>
                    <a:bodyPr/>
                    <a:lstStyle/>
                    <a:p>
                      <a:pPr algn="ctr">
                        <a:spcAft>
                          <a:spcPts val="0"/>
                        </a:spcAft>
                      </a:pPr>
                      <a:r>
                        <a:rPr lang="zh-CN" sz="1400" kern="100">
                          <a:effectLst/>
                          <a:latin typeface="幼圆" panose="02010509060101010101" pitchFamily="49" charset="-122"/>
                          <a:ea typeface="幼圆" panose="02010509060101010101" pitchFamily="49" charset="-122"/>
                        </a:rPr>
                        <a:t>韩冬</a:t>
                      </a:r>
                      <a:endParaRPr lang="zh-CN" sz="1400" kern="100">
                        <a:effectLst/>
                        <a:latin typeface="幼圆" panose="02010509060101010101" pitchFamily="49" charset="-122"/>
                        <a:ea typeface="幼圆" panose="02010509060101010101" pitchFamily="49" charset="-122"/>
                      </a:endParaRPr>
                    </a:p>
                  </a:txBody>
                  <a:tcPr marL="45484" marR="45484" marT="0" marB="0" anchor="ctr"/>
                </a:tc>
              </a:tr>
              <a:tr h="770898">
                <a:tc>
                  <a:txBody>
                    <a:bodyPr/>
                    <a:lstStyle/>
                    <a:p>
                      <a:pPr algn="ctr">
                        <a:spcAft>
                          <a:spcPts val="0"/>
                        </a:spcAft>
                      </a:pPr>
                      <a:r>
                        <a:rPr lang="en-US" sz="1400" kern="100">
                          <a:effectLst/>
                          <a:latin typeface="幼圆" panose="02010509060101010101" pitchFamily="49" charset="-122"/>
                          <a:ea typeface="幼圆" panose="02010509060101010101" pitchFamily="49" charset="-122"/>
                        </a:rPr>
                        <a:t>Bug_002</a:t>
                      </a:r>
                      <a:endParaRPr lang="zh-CN" sz="1400" kern="100">
                        <a:effectLst/>
                        <a:latin typeface="幼圆" panose="02010509060101010101" pitchFamily="49" charset="-122"/>
                        <a:ea typeface="幼圆" panose="02010509060101010101" pitchFamily="49" charset="-122"/>
                      </a:endParaRPr>
                    </a:p>
                  </a:txBody>
                  <a:tcPr marL="45484" marR="45484" marT="0" marB="0" anchor="ctr"/>
                </a:tc>
                <a:tc>
                  <a:txBody>
                    <a:bodyPr/>
                    <a:lstStyle/>
                    <a:p>
                      <a:pPr algn="just">
                        <a:spcAft>
                          <a:spcPts val="0"/>
                        </a:spcAft>
                      </a:pPr>
                      <a:r>
                        <a:rPr lang="zh-CN" sz="1400" kern="100" dirty="0">
                          <a:effectLst/>
                          <a:latin typeface="幼圆" panose="02010509060101010101" pitchFamily="49" charset="-122"/>
                          <a:ea typeface="幼圆" panose="02010509060101010101" pitchFamily="49" charset="-122"/>
                        </a:rPr>
                        <a:t>教师无法录入试卷标题。</a:t>
                      </a:r>
                      <a:endParaRPr lang="zh-CN" sz="1400" kern="100" dirty="0">
                        <a:effectLst/>
                        <a:latin typeface="幼圆" panose="02010509060101010101" pitchFamily="49" charset="-122"/>
                        <a:ea typeface="幼圆" panose="02010509060101010101" pitchFamily="49" charset="-122"/>
                      </a:endParaRPr>
                    </a:p>
                  </a:txBody>
                  <a:tcPr marL="45484" marR="45484" marT="0" marB="0" anchor="ctr"/>
                </a:tc>
                <a:tc>
                  <a:txBody>
                    <a:bodyPr/>
                    <a:lstStyle/>
                    <a:p>
                      <a:pPr algn="just">
                        <a:spcAft>
                          <a:spcPts val="0"/>
                        </a:spcAft>
                      </a:pPr>
                      <a:r>
                        <a:rPr lang="zh-CN" sz="1400" kern="100" dirty="0">
                          <a:effectLst/>
                          <a:latin typeface="幼圆" panose="02010509060101010101" pitchFamily="49" charset="-122"/>
                          <a:ea typeface="幼圆" panose="02010509060101010101" pitchFamily="49" charset="-122"/>
                        </a:rPr>
                        <a:t>执行测试用例</a:t>
                      </a:r>
                      <a:r>
                        <a:rPr lang="en-US" sz="1400" kern="100" dirty="0">
                          <a:effectLst/>
                          <a:latin typeface="幼圆" panose="02010509060101010101" pitchFamily="49" charset="-122"/>
                          <a:ea typeface="幼圆" panose="02010509060101010101" pitchFamily="49" charset="-122"/>
                        </a:rPr>
                        <a:t>T_001</a:t>
                      </a:r>
                      <a:r>
                        <a:rPr lang="zh-CN" sz="1400" kern="100" dirty="0">
                          <a:effectLst/>
                          <a:latin typeface="幼圆" panose="02010509060101010101" pitchFamily="49" charset="-122"/>
                          <a:ea typeface="幼圆" panose="02010509060101010101" pitchFamily="49" charset="-122"/>
                        </a:rPr>
                        <a:t>，测试结果为没有管理员登录入口，不能录入试卷标题，与预期结果不符。</a:t>
                      </a:r>
                      <a:endParaRPr lang="zh-CN" sz="1400" kern="100" dirty="0">
                        <a:effectLst/>
                        <a:latin typeface="幼圆" panose="02010509060101010101" pitchFamily="49" charset="-122"/>
                        <a:ea typeface="幼圆" panose="02010509060101010101" pitchFamily="49" charset="-122"/>
                      </a:endParaRPr>
                    </a:p>
                  </a:txBody>
                  <a:tcPr marL="45484" marR="45484" marT="0" marB="0" anchor="ctr"/>
                </a:tc>
                <a:tc>
                  <a:txBody>
                    <a:bodyPr/>
                    <a:lstStyle/>
                    <a:p>
                      <a:pPr algn="ctr">
                        <a:spcAft>
                          <a:spcPts val="0"/>
                        </a:spcAft>
                      </a:pPr>
                      <a:r>
                        <a:rPr lang="zh-CN" sz="1400" kern="100">
                          <a:effectLst/>
                          <a:latin typeface="幼圆" panose="02010509060101010101" pitchFamily="49" charset="-122"/>
                          <a:ea typeface="幼圆" panose="02010509060101010101" pitchFamily="49" charset="-122"/>
                        </a:rPr>
                        <a:t>严重</a:t>
                      </a:r>
                      <a:endParaRPr lang="zh-CN" sz="1400" kern="100">
                        <a:effectLst/>
                        <a:latin typeface="幼圆" panose="02010509060101010101" pitchFamily="49" charset="-122"/>
                        <a:ea typeface="幼圆" panose="02010509060101010101" pitchFamily="49" charset="-122"/>
                      </a:endParaRPr>
                    </a:p>
                  </a:txBody>
                  <a:tcPr marL="45484" marR="45484" marT="0" marB="0" anchor="ctr"/>
                </a:tc>
                <a:tc>
                  <a:txBody>
                    <a:bodyPr/>
                    <a:lstStyle/>
                    <a:p>
                      <a:pPr algn="ctr">
                        <a:spcAft>
                          <a:spcPts val="0"/>
                        </a:spcAft>
                      </a:pPr>
                      <a:r>
                        <a:rPr lang="zh-CN" sz="1400" kern="100">
                          <a:effectLst/>
                          <a:latin typeface="幼圆" panose="02010509060101010101" pitchFamily="49" charset="-122"/>
                          <a:ea typeface="幼圆" panose="02010509060101010101" pitchFamily="49" charset="-122"/>
                        </a:rPr>
                        <a:t>薛蒙蒙</a:t>
                      </a:r>
                      <a:endParaRPr lang="zh-CN" sz="1400" kern="100">
                        <a:effectLst/>
                        <a:latin typeface="幼圆" panose="02010509060101010101" pitchFamily="49" charset="-122"/>
                        <a:ea typeface="幼圆" panose="02010509060101010101" pitchFamily="49" charset="-122"/>
                      </a:endParaRPr>
                    </a:p>
                    <a:p>
                      <a:pPr algn="ctr">
                        <a:spcAft>
                          <a:spcPts val="0"/>
                        </a:spcAft>
                      </a:pPr>
                      <a:r>
                        <a:rPr lang="zh-CN" sz="1400" kern="100">
                          <a:effectLst/>
                          <a:latin typeface="幼圆" panose="02010509060101010101" pitchFamily="49" charset="-122"/>
                          <a:ea typeface="幼圆" panose="02010509060101010101" pitchFamily="49" charset="-122"/>
                        </a:rPr>
                        <a:t>李卓</a:t>
                      </a:r>
                      <a:endParaRPr lang="zh-CN" sz="1400" kern="100">
                        <a:effectLst/>
                        <a:latin typeface="幼圆" panose="02010509060101010101" pitchFamily="49" charset="-122"/>
                        <a:ea typeface="幼圆" panose="02010509060101010101" pitchFamily="49" charset="-122"/>
                      </a:endParaRPr>
                    </a:p>
                  </a:txBody>
                  <a:tcPr marL="45484" marR="45484" marT="0" marB="0" anchor="ctr"/>
                </a:tc>
                <a:tc>
                  <a:txBody>
                    <a:bodyPr/>
                    <a:lstStyle/>
                    <a:p>
                      <a:pPr algn="ctr">
                        <a:spcAft>
                          <a:spcPts val="0"/>
                        </a:spcAft>
                      </a:pPr>
                      <a:r>
                        <a:rPr lang="zh-CN" sz="1400" kern="100">
                          <a:effectLst/>
                          <a:latin typeface="幼圆" panose="02010509060101010101" pitchFamily="49" charset="-122"/>
                          <a:ea typeface="幼圆" panose="02010509060101010101" pitchFamily="49" charset="-122"/>
                        </a:rPr>
                        <a:t>韩冬</a:t>
                      </a:r>
                      <a:endParaRPr lang="zh-CN" sz="1400" kern="100">
                        <a:effectLst/>
                        <a:latin typeface="幼圆" panose="02010509060101010101" pitchFamily="49" charset="-122"/>
                        <a:ea typeface="幼圆" panose="02010509060101010101" pitchFamily="49" charset="-122"/>
                      </a:endParaRPr>
                    </a:p>
                  </a:txBody>
                  <a:tcPr marL="45484" marR="45484" marT="0" marB="0" anchor="ctr"/>
                </a:tc>
              </a:tr>
              <a:tr h="770898">
                <a:tc>
                  <a:txBody>
                    <a:bodyPr/>
                    <a:lstStyle/>
                    <a:p>
                      <a:pPr algn="ctr">
                        <a:spcAft>
                          <a:spcPts val="0"/>
                        </a:spcAft>
                      </a:pPr>
                      <a:r>
                        <a:rPr lang="en-US" sz="1400" kern="100">
                          <a:effectLst/>
                          <a:latin typeface="幼圆" panose="02010509060101010101" pitchFamily="49" charset="-122"/>
                          <a:ea typeface="幼圆" panose="02010509060101010101" pitchFamily="49" charset="-122"/>
                        </a:rPr>
                        <a:t>Bug_003</a:t>
                      </a:r>
                      <a:endParaRPr lang="zh-CN" sz="1400" kern="100">
                        <a:effectLst/>
                        <a:latin typeface="幼圆" panose="02010509060101010101" pitchFamily="49" charset="-122"/>
                        <a:ea typeface="幼圆" panose="02010509060101010101" pitchFamily="49" charset="-122"/>
                      </a:endParaRPr>
                    </a:p>
                  </a:txBody>
                  <a:tcPr marL="45484" marR="45484" marT="0" marB="0" anchor="ctr"/>
                </a:tc>
                <a:tc>
                  <a:txBody>
                    <a:bodyPr/>
                    <a:lstStyle/>
                    <a:p>
                      <a:pPr algn="just">
                        <a:spcAft>
                          <a:spcPts val="0"/>
                        </a:spcAft>
                      </a:pPr>
                      <a:r>
                        <a:rPr lang="zh-CN" sz="1400" kern="100">
                          <a:effectLst/>
                          <a:latin typeface="幼圆" panose="02010509060101010101" pitchFamily="49" charset="-122"/>
                          <a:ea typeface="幼圆" panose="02010509060101010101" pitchFamily="49" charset="-122"/>
                        </a:rPr>
                        <a:t>教师无法录入试卷题型。</a:t>
                      </a:r>
                      <a:endParaRPr lang="zh-CN" sz="1400" kern="100">
                        <a:effectLst/>
                        <a:latin typeface="幼圆" panose="02010509060101010101" pitchFamily="49" charset="-122"/>
                        <a:ea typeface="幼圆" panose="02010509060101010101" pitchFamily="49" charset="-122"/>
                      </a:endParaRPr>
                    </a:p>
                  </a:txBody>
                  <a:tcPr marL="45484" marR="45484" marT="0" marB="0" anchor="ctr"/>
                </a:tc>
                <a:tc>
                  <a:txBody>
                    <a:bodyPr/>
                    <a:lstStyle/>
                    <a:p>
                      <a:pPr algn="just">
                        <a:spcAft>
                          <a:spcPts val="0"/>
                        </a:spcAft>
                      </a:pPr>
                      <a:r>
                        <a:rPr lang="zh-CN" sz="1400" kern="100" dirty="0">
                          <a:effectLst/>
                          <a:latin typeface="幼圆" panose="02010509060101010101" pitchFamily="49" charset="-122"/>
                          <a:ea typeface="幼圆" panose="02010509060101010101" pitchFamily="49" charset="-122"/>
                        </a:rPr>
                        <a:t>执行测试用例</a:t>
                      </a:r>
                      <a:r>
                        <a:rPr lang="en-US" sz="1400" kern="100" dirty="0">
                          <a:effectLst/>
                          <a:latin typeface="幼圆" panose="02010509060101010101" pitchFamily="49" charset="-122"/>
                          <a:ea typeface="幼圆" panose="02010509060101010101" pitchFamily="49" charset="-122"/>
                        </a:rPr>
                        <a:t>T_001</a:t>
                      </a:r>
                      <a:r>
                        <a:rPr lang="zh-CN" sz="1400" kern="100" dirty="0">
                          <a:effectLst/>
                          <a:latin typeface="幼圆" panose="02010509060101010101" pitchFamily="49" charset="-122"/>
                          <a:ea typeface="幼圆" panose="02010509060101010101" pitchFamily="49" charset="-122"/>
                        </a:rPr>
                        <a:t>，测试结果为没有管理员登录入口，无法录入题型，与预期结果不符。</a:t>
                      </a:r>
                      <a:endParaRPr lang="zh-CN" sz="1400" kern="100" dirty="0">
                        <a:effectLst/>
                        <a:latin typeface="幼圆" panose="02010509060101010101" pitchFamily="49" charset="-122"/>
                        <a:ea typeface="幼圆" panose="02010509060101010101" pitchFamily="49" charset="-122"/>
                      </a:endParaRPr>
                    </a:p>
                  </a:txBody>
                  <a:tcPr marL="45484" marR="45484" marT="0" marB="0" anchor="ctr"/>
                </a:tc>
                <a:tc>
                  <a:txBody>
                    <a:bodyPr/>
                    <a:lstStyle/>
                    <a:p>
                      <a:pPr algn="ctr">
                        <a:spcAft>
                          <a:spcPts val="0"/>
                        </a:spcAft>
                      </a:pPr>
                      <a:r>
                        <a:rPr lang="zh-CN" sz="1400" kern="100" dirty="0">
                          <a:effectLst/>
                          <a:latin typeface="幼圆" panose="02010509060101010101" pitchFamily="49" charset="-122"/>
                          <a:ea typeface="幼圆" panose="02010509060101010101" pitchFamily="49" charset="-122"/>
                        </a:rPr>
                        <a:t>严重</a:t>
                      </a:r>
                      <a:endParaRPr lang="zh-CN" sz="1400" kern="100" dirty="0">
                        <a:effectLst/>
                        <a:latin typeface="幼圆" panose="02010509060101010101" pitchFamily="49" charset="-122"/>
                        <a:ea typeface="幼圆" panose="02010509060101010101" pitchFamily="49" charset="-122"/>
                      </a:endParaRPr>
                    </a:p>
                  </a:txBody>
                  <a:tcPr marL="45484" marR="45484" marT="0" marB="0" anchor="ctr"/>
                </a:tc>
                <a:tc>
                  <a:txBody>
                    <a:bodyPr/>
                    <a:lstStyle/>
                    <a:p>
                      <a:pPr algn="ctr">
                        <a:spcAft>
                          <a:spcPts val="0"/>
                        </a:spcAft>
                      </a:pPr>
                      <a:r>
                        <a:rPr lang="zh-CN" sz="1400" kern="100">
                          <a:effectLst/>
                          <a:latin typeface="幼圆" panose="02010509060101010101" pitchFamily="49" charset="-122"/>
                          <a:ea typeface="幼圆" panose="02010509060101010101" pitchFamily="49" charset="-122"/>
                        </a:rPr>
                        <a:t>薛蒙蒙</a:t>
                      </a:r>
                      <a:endParaRPr lang="zh-CN" sz="1400" kern="100">
                        <a:effectLst/>
                        <a:latin typeface="幼圆" panose="02010509060101010101" pitchFamily="49" charset="-122"/>
                        <a:ea typeface="幼圆" panose="02010509060101010101" pitchFamily="49" charset="-122"/>
                      </a:endParaRPr>
                    </a:p>
                    <a:p>
                      <a:pPr algn="ctr">
                        <a:spcAft>
                          <a:spcPts val="0"/>
                        </a:spcAft>
                      </a:pPr>
                      <a:r>
                        <a:rPr lang="zh-CN" sz="1400" kern="100">
                          <a:effectLst/>
                          <a:latin typeface="幼圆" panose="02010509060101010101" pitchFamily="49" charset="-122"/>
                          <a:ea typeface="幼圆" panose="02010509060101010101" pitchFamily="49" charset="-122"/>
                        </a:rPr>
                        <a:t>李卓</a:t>
                      </a:r>
                      <a:endParaRPr lang="zh-CN" sz="1400" kern="100">
                        <a:effectLst/>
                        <a:latin typeface="幼圆" panose="02010509060101010101" pitchFamily="49" charset="-122"/>
                        <a:ea typeface="幼圆" panose="02010509060101010101" pitchFamily="49" charset="-122"/>
                      </a:endParaRPr>
                    </a:p>
                  </a:txBody>
                  <a:tcPr marL="45484" marR="45484" marT="0" marB="0" anchor="ctr"/>
                </a:tc>
                <a:tc>
                  <a:txBody>
                    <a:bodyPr/>
                    <a:lstStyle/>
                    <a:p>
                      <a:pPr algn="ctr">
                        <a:spcAft>
                          <a:spcPts val="0"/>
                        </a:spcAft>
                      </a:pPr>
                      <a:r>
                        <a:rPr lang="zh-CN" sz="1400" kern="100" dirty="0">
                          <a:effectLst/>
                          <a:latin typeface="幼圆" panose="02010509060101010101" pitchFamily="49" charset="-122"/>
                          <a:ea typeface="幼圆" panose="02010509060101010101" pitchFamily="49" charset="-122"/>
                        </a:rPr>
                        <a:t>韩冬</a:t>
                      </a:r>
                      <a:endParaRPr lang="zh-CN" sz="1400" kern="100" dirty="0">
                        <a:effectLst/>
                        <a:latin typeface="幼圆" panose="02010509060101010101" pitchFamily="49" charset="-122"/>
                        <a:ea typeface="幼圆" panose="02010509060101010101" pitchFamily="49" charset="-122"/>
                      </a:endParaRPr>
                    </a:p>
                  </a:txBody>
                  <a:tcPr marL="45484" marR="45484" marT="0" marB="0" anchor="ct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barn(inVertical)">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nvSpPr>
        <p:spPr>
          <a:xfrm>
            <a:off x="1922333" y="272228"/>
            <a:ext cx="9167913" cy="5331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rgbClr val="C00000"/>
                </a:solidFill>
                <a:latin typeface="微软雅黑" panose="020B0503020204020204" pitchFamily="34" charset="-122"/>
                <a:ea typeface="微软雅黑" panose="020B0503020204020204" pitchFamily="34" charset="-122"/>
                <a:cs typeface="+mj-cs"/>
              </a:defRPr>
            </a:lvl1pPr>
          </a:lstStyle>
          <a:p>
            <a:pPr marL="0" algn="l" defTabSz="914400" rtl="0" eaLnBrk="1" latinLnBrk="0" hangingPunct="1"/>
            <a:r>
              <a:rPr lang="zh-CN" altLang="en-US" dirty="0" smtClean="0">
                <a:solidFill>
                  <a:srgbClr val="FF0000"/>
                </a:solidFill>
                <a:sym typeface="+mn-ea"/>
              </a:rPr>
              <a:t>测试报告</a:t>
            </a:r>
            <a:endParaRPr lang="zh-CN" altLang="en-US" dirty="0" smtClean="0">
              <a:solidFill>
                <a:srgbClr val="FF0000"/>
              </a:solidFill>
              <a:sym typeface="+mn-ea"/>
            </a:endParaRPr>
          </a:p>
        </p:txBody>
      </p:sp>
      <p:sp>
        <p:nvSpPr>
          <p:cNvPr id="5" name="内容占位符 2"/>
          <p:cNvSpPr txBox="1"/>
          <p:nvPr/>
        </p:nvSpPr>
        <p:spPr>
          <a:xfrm>
            <a:off x="5567414" y="1123164"/>
            <a:ext cx="1698856" cy="73451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缺陷分析</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4" name="表格 3"/>
          <p:cNvGraphicFramePr>
            <a:graphicFrameLocks noGrp="1"/>
          </p:cNvGraphicFramePr>
          <p:nvPr>
            <p:custDataLst>
              <p:tags r:id="rId1"/>
            </p:custDataLst>
          </p:nvPr>
        </p:nvGraphicFramePr>
        <p:xfrm>
          <a:off x="1357163" y="1819179"/>
          <a:ext cx="9827392" cy="4148485"/>
        </p:xfrm>
        <a:graphic>
          <a:graphicData uri="http://schemas.openxmlformats.org/drawingml/2006/table">
            <a:tbl>
              <a:tblPr firstRow="1" firstCol="1" bandRow="1">
                <a:tableStyleId>{5C22544A-7EE6-4342-B048-85BDC9FD1C3A}</a:tableStyleId>
              </a:tblPr>
              <a:tblGrid>
                <a:gridCol w="1270098"/>
                <a:gridCol w="1798438"/>
                <a:gridCol w="3266953"/>
                <a:gridCol w="980547"/>
                <a:gridCol w="1255102"/>
                <a:gridCol w="1256254"/>
              </a:tblGrid>
              <a:tr h="375385">
                <a:tc>
                  <a:txBody>
                    <a:bodyPr/>
                    <a:lstStyle/>
                    <a:p>
                      <a:pPr algn="ctr">
                        <a:spcAft>
                          <a:spcPts val="0"/>
                        </a:spcAft>
                      </a:pPr>
                      <a:r>
                        <a:rPr lang="zh-CN" sz="1400" kern="100" dirty="0">
                          <a:effectLst/>
                          <a:latin typeface="幼圆" panose="02010509060101010101" pitchFamily="49" charset="-122"/>
                          <a:ea typeface="幼圆" panose="02010509060101010101" pitchFamily="49" charset="-122"/>
                        </a:rPr>
                        <a:t>缺陷</a:t>
                      </a:r>
                      <a:r>
                        <a:rPr lang="en-US" sz="1400" kern="100" dirty="0">
                          <a:effectLst/>
                          <a:latin typeface="幼圆" panose="02010509060101010101" pitchFamily="49" charset="-122"/>
                          <a:ea typeface="幼圆" panose="02010509060101010101" pitchFamily="49" charset="-122"/>
                        </a:rPr>
                        <a:t>ID</a:t>
                      </a:r>
                      <a:endParaRPr lang="zh-CN" sz="1400" kern="100" dirty="0">
                        <a:effectLst/>
                        <a:latin typeface="幼圆" panose="02010509060101010101" pitchFamily="49" charset="-122"/>
                        <a:ea typeface="幼圆" panose="02010509060101010101" pitchFamily="49" charset="-122"/>
                      </a:endParaRPr>
                    </a:p>
                  </a:txBody>
                  <a:tcPr marL="45484" marR="45484" marT="0" marB="0" anchor="ctr" anchorCtr="1"/>
                </a:tc>
                <a:tc>
                  <a:txBody>
                    <a:bodyPr/>
                    <a:lstStyle/>
                    <a:p>
                      <a:pPr algn="ctr">
                        <a:spcAft>
                          <a:spcPts val="0"/>
                        </a:spcAft>
                      </a:pPr>
                      <a:r>
                        <a:rPr lang="en-US" sz="1400" kern="100" dirty="0">
                          <a:effectLst/>
                          <a:latin typeface="幼圆" panose="02010509060101010101" pitchFamily="49" charset="-122"/>
                          <a:ea typeface="幼圆" panose="02010509060101010101" pitchFamily="49" charset="-122"/>
                        </a:rPr>
                        <a:t>bug</a:t>
                      </a:r>
                      <a:endParaRPr lang="zh-CN" sz="1400" kern="100" dirty="0">
                        <a:effectLst/>
                        <a:latin typeface="幼圆" panose="02010509060101010101" pitchFamily="49" charset="-122"/>
                        <a:ea typeface="幼圆" panose="02010509060101010101" pitchFamily="49" charset="-122"/>
                      </a:endParaRPr>
                    </a:p>
                  </a:txBody>
                  <a:tcPr marL="45484" marR="45484" marT="0" marB="0" anchor="ctr" anchorCtr="1"/>
                </a:tc>
                <a:tc>
                  <a:txBody>
                    <a:bodyPr/>
                    <a:lstStyle/>
                    <a:p>
                      <a:pPr algn="ctr">
                        <a:spcAft>
                          <a:spcPts val="0"/>
                        </a:spcAft>
                      </a:pPr>
                      <a:r>
                        <a:rPr lang="zh-CN" sz="1400" kern="100" dirty="0">
                          <a:effectLst/>
                          <a:latin typeface="幼圆" panose="02010509060101010101" pitchFamily="49" charset="-122"/>
                          <a:ea typeface="幼圆" panose="02010509060101010101" pitchFamily="49" charset="-122"/>
                        </a:rPr>
                        <a:t>描述</a:t>
                      </a:r>
                      <a:endParaRPr lang="zh-CN" sz="1400" kern="100" dirty="0">
                        <a:effectLst/>
                        <a:latin typeface="幼圆" panose="02010509060101010101" pitchFamily="49" charset="-122"/>
                        <a:ea typeface="幼圆" panose="02010509060101010101" pitchFamily="49" charset="-122"/>
                      </a:endParaRPr>
                    </a:p>
                  </a:txBody>
                  <a:tcPr marL="45484" marR="45484" marT="0" marB="0" anchor="ctr" anchorCtr="1"/>
                </a:tc>
                <a:tc>
                  <a:txBody>
                    <a:bodyPr/>
                    <a:lstStyle/>
                    <a:p>
                      <a:pPr algn="ctr">
                        <a:spcAft>
                          <a:spcPts val="0"/>
                        </a:spcAft>
                      </a:pPr>
                      <a:r>
                        <a:rPr lang="zh-CN" sz="1400" kern="100" dirty="0">
                          <a:effectLst/>
                          <a:latin typeface="幼圆" panose="02010509060101010101" pitchFamily="49" charset="-122"/>
                          <a:ea typeface="幼圆" panose="02010509060101010101" pitchFamily="49" charset="-122"/>
                        </a:rPr>
                        <a:t>等级</a:t>
                      </a:r>
                      <a:endParaRPr lang="zh-CN" sz="1400" kern="100" dirty="0">
                        <a:effectLst/>
                        <a:latin typeface="幼圆" panose="02010509060101010101" pitchFamily="49" charset="-122"/>
                        <a:ea typeface="幼圆" panose="02010509060101010101" pitchFamily="49" charset="-122"/>
                      </a:endParaRPr>
                    </a:p>
                  </a:txBody>
                  <a:tcPr marL="45484" marR="45484" marT="0" marB="0" anchor="ctr" anchorCtr="1"/>
                </a:tc>
                <a:tc>
                  <a:txBody>
                    <a:bodyPr/>
                    <a:lstStyle/>
                    <a:p>
                      <a:pPr algn="ctr">
                        <a:spcAft>
                          <a:spcPts val="0"/>
                        </a:spcAft>
                      </a:pPr>
                      <a:r>
                        <a:rPr lang="zh-CN" sz="1400" kern="100" dirty="0">
                          <a:effectLst/>
                          <a:latin typeface="幼圆" panose="02010509060101010101" pitchFamily="49" charset="-122"/>
                          <a:ea typeface="幼圆" panose="02010509060101010101" pitchFamily="49" charset="-122"/>
                        </a:rPr>
                        <a:t>测试人员</a:t>
                      </a:r>
                      <a:endParaRPr lang="zh-CN" sz="1400" kern="100" dirty="0">
                        <a:effectLst/>
                        <a:latin typeface="幼圆" panose="02010509060101010101" pitchFamily="49" charset="-122"/>
                        <a:ea typeface="幼圆" panose="02010509060101010101" pitchFamily="49" charset="-122"/>
                      </a:endParaRPr>
                    </a:p>
                  </a:txBody>
                  <a:tcPr marL="45484" marR="45484" marT="0" marB="0" anchor="ctr" anchorCtr="1"/>
                </a:tc>
                <a:tc>
                  <a:txBody>
                    <a:bodyPr/>
                    <a:lstStyle/>
                    <a:p>
                      <a:pPr algn="ctr">
                        <a:spcAft>
                          <a:spcPts val="0"/>
                        </a:spcAft>
                      </a:pPr>
                      <a:r>
                        <a:rPr lang="zh-CN" sz="1400" kern="100" dirty="0">
                          <a:effectLst/>
                          <a:latin typeface="幼圆" panose="02010509060101010101" pitchFamily="49" charset="-122"/>
                          <a:ea typeface="幼圆" panose="02010509060101010101" pitchFamily="49" charset="-122"/>
                        </a:rPr>
                        <a:t>开发人员</a:t>
                      </a:r>
                      <a:endParaRPr lang="zh-CN" sz="1400" kern="100" dirty="0">
                        <a:effectLst/>
                        <a:latin typeface="幼圆" panose="02010509060101010101" pitchFamily="49" charset="-122"/>
                        <a:ea typeface="幼圆" panose="02010509060101010101" pitchFamily="49" charset="-122"/>
                      </a:endParaRPr>
                    </a:p>
                  </a:txBody>
                  <a:tcPr marL="45484" marR="45484" marT="0" marB="0" anchor="ctr" anchorCtr="1"/>
                </a:tc>
              </a:tr>
              <a:tr h="790236">
                <a:tc>
                  <a:txBody>
                    <a:bodyPr/>
                    <a:lstStyle/>
                    <a:p>
                      <a:pPr algn="ctr">
                        <a:spcAft>
                          <a:spcPts val="0"/>
                        </a:spcAft>
                      </a:pPr>
                      <a:r>
                        <a:rPr lang="en-US" sz="1400" kern="100" dirty="0">
                          <a:effectLst/>
                          <a:latin typeface="幼圆" panose="02010509060101010101" pitchFamily="49" charset="-122"/>
                          <a:ea typeface="幼圆" panose="02010509060101010101" pitchFamily="49" charset="-122"/>
                        </a:rPr>
                        <a:t>Bug_004</a:t>
                      </a:r>
                      <a:endParaRPr lang="zh-CN" sz="1400" kern="100" dirty="0">
                        <a:effectLst/>
                        <a:latin typeface="幼圆" panose="02010509060101010101" pitchFamily="49" charset="-122"/>
                        <a:ea typeface="幼圆" panose="02010509060101010101" pitchFamily="49" charset="-122"/>
                      </a:endParaRPr>
                    </a:p>
                  </a:txBody>
                  <a:tcPr marL="45484" marR="45484" marT="0" marB="0" anchor="ctr"/>
                </a:tc>
                <a:tc>
                  <a:txBody>
                    <a:bodyPr/>
                    <a:lstStyle/>
                    <a:p>
                      <a:pPr algn="just">
                        <a:spcAft>
                          <a:spcPts val="0"/>
                        </a:spcAft>
                      </a:pPr>
                      <a:r>
                        <a:rPr lang="zh-CN" sz="1400" kern="100">
                          <a:effectLst/>
                          <a:latin typeface="幼圆" panose="02010509060101010101" pitchFamily="49" charset="-122"/>
                          <a:ea typeface="幼圆" panose="02010509060101010101" pitchFamily="49" charset="-122"/>
                        </a:rPr>
                        <a:t>教师无法录入题目。</a:t>
                      </a:r>
                      <a:endParaRPr lang="zh-CN" sz="1400" kern="100">
                        <a:effectLst/>
                        <a:latin typeface="幼圆" panose="02010509060101010101" pitchFamily="49" charset="-122"/>
                        <a:ea typeface="幼圆" panose="02010509060101010101" pitchFamily="49" charset="-122"/>
                      </a:endParaRPr>
                    </a:p>
                  </a:txBody>
                  <a:tcPr marL="45484" marR="45484" marT="0" marB="0" anchor="ctr"/>
                </a:tc>
                <a:tc>
                  <a:txBody>
                    <a:bodyPr/>
                    <a:lstStyle/>
                    <a:p>
                      <a:pPr algn="just">
                        <a:spcAft>
                          <a:spcPts val="0"/>
                        </a:spcAft>
                      </a:pPr>
                      <a:r>
                        <a:rPr lang="zh-CN" sz="1400" kern="100">
                          <a:effectLst/>
                          <a:latin typeface="幼圆" panose="02010509060101010101" pitchFamily="49" charset="-122"/>
                          <a:ea typeface="幼圆" panose="02010509060101010101" pitchFamily="49" charset="-122"/>
                        </a:rPr>
                        <a:t>执行测试用例</a:t>
                      </a:r>
                      <a:r>
                        <a:rPr lang="en-US" sz="1400" kern="100">
                          <a:effectLst/>
                          <a:latin typeface="幼圆" panose="02010509060101010101" pitchFamily="49" charset="-122"/>
                          <a:ea typeface="幼圆" panose="02010509060101010101" pitchFamily="49" charset="-122"/>
                        </a:rPr>
                        <a:t>T_001</a:t>
                      </a:r>
                      <a:r>
                        <a:rPr lang="zh-CN" sz="1400" kern="100">
                          <a:effectLst/>
                          <a:latin typeface="幼圆" panose="02010509060101010101" pitchFamily="49" charset="-122"/>
                          <a:ea typeface="幼圆" panose="02010509060101010101" pitchFamily="49" charset="-122"/>
                        </a:rPr>
                        <a:t>，测试结构为没有管理员登录入口，无法录入题目，与预期结果不符。</a:t>
                      </a:r>
                      <a:endParaRPr lang="zh-CN" sz="1400" kern="100">
                        <a:effectLst/>
                        <a:latin typeface="幼圆" panose="02010509060101010101" pitchFamily="49" charset="-122"/>
                        <a:ea typeface="幼圆" panose="02010509060101010101" pitchFamily="49" charset="-122"/>
                      </a:endParaRPr>
                    </a:p>
                  </a:txBody>
                  <a:tcPr marL="45484" marR="45484" marT="0" marB="0" anchor="ctr"/>
                </a:tc>
                <a:tc>
                  <a:txBody>
                    <a:bodyPr/>
                    <a:lstStyle/>
                    <a:p>
                      <a:pPr algn="ctr">
                        <a:spcAft>
                          <a:spcPts val="0"/>
                        </a:spcAft>
                      </a:pPr>
                      <a:r>
                        <a:rPr lang="zh-CN" sz="1400" kern="100">
                          <a:effectLst/>
                          <a:latin typeface="幼圆" panose="02010509060101010101" pitchFamily="49" charset="-122"/>
                          <a:ea typeface="幼圆" panose="02010509060101010101" pitchFamily="49" charset="-122"/>
                        </a:rPr>
                        <a:t>严重</a:t>
                      </a:r>
                      <a:endParaRPr lang="zh-CN" sz="1400" kern="100">
                        <a:effectLst/>
                        <a:latin typeface="幼圆" panose="02010509060101010101" pitchFamily="49" charset="-122"/>
                        <a:ea typeface="幼圆" panose="02010509060101010101" pitchFamily="49" charset="-122"/>
                      </a:endParaRPr>
                    </a:p>
                  </a:txBody>
                  <a:tcPr marL="45484" marR="45484" marT="0" marB="0" anchor="ctr"/>
                </a:tc>
                <a:tc>
                  <a:txBody>
                    <a:bodyPr/>
                    <a:lstStyle/>
                    <a:p>
                      <a:pPr algn="ctr">
                        <a:spcAft>
                          <a:spcPts val="0"/>
                        </a:spcAft>
                      </a:pPr>
                      <a:r>
                        <a:rPr lang="zh-CN" sz="1400" kern="100">
                          <a:effectLst/>
                          <a:latin typeface="幼圆" panose="02010509060101010101" pitchFamily="49" charset="-122"/>
                          <a:ea typeface="幼圆" panose="02010509060101010101" pitchFamily="49" charset="-122"/>
                        </a:rPr>
                        <a:t>薛蒙蒙</a:t>
                      </a:r>
                      <a:endParaRPr lang="zh-CN" sz="1400" kern="100">
                        <a:effectLst/>
                        <a:latin typeface="幼圆" panose="02010509060101010101" pitchFamily="49" charset="-122"/>
                        <a:ea typeface="幼圆" panose="02010509060101010101" pitchFamily="49" charset="-122"/>
                      </a:endParaRPr>
                    </a:p>
                    <a:p>
                      <a:pPr algn="ctr">
                        <a:spcAft>
                          <a:spcPts val="0"/>
                        </a:spcAft>
                      </a:pPr>
                      <a:r>
                        <a:rPr lang="zh-CN" sz="1400" kern="100">
                          <a:effectLst/>
                          <a:latin typeface="幼圆" panose="02010509060101010101" pitchFamily="49" charset="-122"/>
                          <a:ea typeface="幼圆" panose="02010509060101010101" pitchFamily="49" charset="-122"/>
                        </a:rPr>
                        <a:t>李卓</a:t>
                      </a:r>
                      <a:endParaRPr lang="zh-CN" sz="1400" kern="100">
                        <a:effectLst/>
                        <a:latin typeface="幼圆" panose="02010509060101010101" pitchFamily="49" charset="-122"/>
                        <a:ea typeface="幼圆" panose="02010509060101010101" pitchFamily="49" charset="-122"/>
                      </a:endParaRPr>
                    </a:p>
                  </a:txBody>
                  <a:tcPr marL="45484" marR="45484" marT="0" marB="0" anchor="ctr"/>
                </a:tc>
                <a:tc>
                  <a:txBody>
                    <a:bodyPr/>
                    <a:lstStyle/>
                    <a:p>
                      <a:pPr algn="ctr">
                        <a:spcAft>
                          <a:spcPts val="0"/>
                        </a:spcAft>
                      </a:pPr>
                      <a:r>
                        <a:rPr lang="zh-CN" sz="1400" kern="100">
                          <a:effectLst/>
                          <a:latin typeface="幼圆" panose="02010509060101010101" pitchFamily="49" charset="-122"/>
                          <a:ea typeface="幼圆" panose="02010509060101010101" pitchFamily="49" charset="-122"/>
                        </a:rPr>
                        <a:t>韩冬</a:t>
                      </a:r>
                      <a:endParaRPr lang="zh-CN" sz="1400" kern="100">
                        <a:effectLst/>
                        <a:latin typeface="幼圆" panose="02010509060101010101" pitchFamily="49" charset="-122"/>
                        <a:ea typeface="幼圆" panose="02010509060101010101" pitchFamily="49" charset="-122"/>
                      </a:endParaRPr>
                    </a:p>
                  </a:txBody>
                  <a:tcPr marL="45484" marR="45484" marT="0" marB="0" anchor="ctr"/>
                </a:tc>
              </a:tr>
              <a:tr h="790236">
                <a:tc>
                  <a:txBody>
                    <a:bodyPr/>
                    <a:lstStyle/>
                    <a:p>
                      <a:pPr algn="ctr">
                        <a:spcAft>
                          <a:spcPts val="0"/>
                        </a:spcAft>
                      </a:pPr>
                      <a:r>
                        <a:rPr lang="en-US" sz="1400" kern="100">
                          <a:effectLst/>
                          <a:latin typeface="幼圆" panose="02010509060101010101" pitchFamily="49" charset="-122"/>
                          <a:ea typeface="幼圆" panose="02010509060101010101" pitchFamily="49" charset="-122"/>
                        </a:rPr>
                        <a:t>Bug_005</a:t>
                      </a:r>
                      <a:endParaRPr lang="zh-CN" sz="1400" kern="100">
                        <a:effectLst/>
                        <a:latin typeface="幼圆" panose="02010509060101010101" pitchFamily="49" charset="-122"/>
                        <a:ea typeface="幼圆" panose="02010509060101010101" pitchFamily="49" charset="-122"/>
                      </a:endParaRPr>
                    </a:p>
                  </a:txBody>
                  <a:tcPr marL="45484" marR="45484" marT="0" marB="0" anchor="ctr"/>
                </a:tc>
                <a:tc>
                  <a:txBody>
                    <a:bodyPr/>
                    <a:lstStyle/>
                    <a:p>
                      <a:pPr algn="just">
                        <a:spcAft>
                          <a:spcPts val="0"/>
                        </a:spcAft>
                      </a:pPr>
                      <a:r>
                        <a:rPr lang="zh-CN" sz="1400" kern="100" dirty="0">
                          <a:effectLst/>
                          <a:latin typeface="幼圆" panose="02010509060101010101" pitchFamily="49" charset="-122"/>
                          <a:ea typeface="幼圆" panose="02010509060101010101" pitchFamily="49" charset="-122"/>
                        </a:rPr>
                        <a:t>教师无法录入考试时间。</a:t>
                      </a:r>
                      <a:endParaRPr lang="zh-CN" sz="1400" kern="100" dirty="0">
                        <a:effectLst/>
                        <a:latin typeface="幼圆" panose="02010509060101010101" pitchFamily="49" charset="-122"/>
                        <a:ea typeface="幼圆" panose="02010509060101010101" pitchFamily="49" charset="-122"/>
                      </a:endParaRPr>
                    </a:p>
                  </a:txBody>
                  <a:tcPr marL="45484" marR="45484" marT="0" marB="0" anchor="ctr"/>
                </a:tc>
                <a:tc>
                  <a:txBody>
                    <a:bodyPr/>
                    <a:lstStyle/>
                    <a:p>
                      <a:pPr algn="just">
                        <a:spcAft>
                          <a:spcPts val="0"/>
                        </a:spcAft>
                      </a:pPr>
                      <a:r>
                        <a:rPr lang="zh-CN" sz="1400" kern="100">
                          <a:effectLst/>
                          <a:latin typeface="幼圆" panose="02010509060101010101" pitchFamily="49" charset="-122"/>
                          <a:ea typeface="幼圆" panose="02010509060101010101" pitchFamily="49" charset="-122"/>
                        </a:rPr>
                        <a:t>执行测试用例</a:t>
                      </a:r>
                      <a:r>
                        <a:rPr lang="en-US" sz="1400" kern="100">
                          <a:effectLst/>
                          <a:latin typeface="幼圆" panose="02010509060101010101" pitchFamily="49" charset="-122"/>
                          <a:ea typeface="幼圆" panose="02010509060101010101" pitchFamily="49" charset="-122"/>
                        </a:rPr>
                        <a:t>T_001</a:t>
                      </a:r>
                      <a:r>
                        <a:rPr lang="zh-CN" sz="1400" kern="100">
                          <a:effectLst/>
                          <a:latin typeface="幼圆" panose="02010509060101010101" pitchFamily="49" charset="-122"/>
                          <a:ea typeface="幼圆" panose="02010509060101010101" pitchFamily="49" charset="-122"/>
                        </a:rPr>
                        <a:t>，测试结果为没有管理员登录入口，无法录入考试时间，与预期结果不符。</a:t>
                      </a:r>
                      <a:endParaRPr lang="zh-CN" sz="1400" kern="100">
                        <a:effectLst/>
                        <a:latin typeface="幼圆" panose="02010509060101010101" pitchFamily="49" charset="-122"/>
                        <a:ea typeface="幼圆" panose="02010509060101010101" pitchFamily="49" charset="-122"/>
                      </a:endParaRPr>
                    </a:p>
                  </a:txBody>
                  <a:tcPr marL="45484" marR="45484" marT="0" marB="0" anchor="ctr"/>
                </a:tc>
                <a:tc>
                  <a:txBody>
                    <a:bodyPr/>
                    <a:lstStyle/>
                    <a:p>
                      <a:pPr algn="ctr">
                        <a:spcAft>
                          <a:spcPts val="0"/>
                        </a:spcAft>
                      </a:pPr>
                      <a:r>
                        <a:rPr lang="zh-CN" sz="1400" kern="100">
                          <a:effectLst/>
                          <a:latin typeface="幼圆" panose="02010509060101010101" pitchFamily="49" charset="-122"/>
                          <a:ea typeface="幼圆" panose="02010509060101010101" pitchFamily="49" charset="-122"/>
                        </a:rPr>
                        <a:t>严重</a:t>
                      </a:r>
                      <a:endParaRPr lang="zh-CN" sz="1400" kern="100">
                        <a:effectLst/>
                        <a:latin typeface="幼圆" panose="02010509060101010101" pitchFamily="49" charset="-122"/>
                        <a:ea typeface="幼圆" panose="02010509060101010101" pitchFamily="49" charset="-122"/>
                      </a:endParaRPr>
                    </a:p>
                  </a:txBody>
                  <a:tcPr marL="45484" marR="45484" marT="0" marB="0" anchor="ctr"/>
                </a:tc>
                <a:tc>
                  <a:txBody>
                    <a:bodyPr/>
                    <a:lstStyle/>
                    <a:p>
                      <a:pPr algn="ctr">
                        <a:spcAft>
                          <a:spcPts val="0"/>
                        </a:spcAft>
                      </a:pPr>
                      <a:r>
                        <a:rPr lang="zh-CN" sz="1400" kern="100">
                          <a:effectLst/>
                          <a:latin typeface="幼圆" panose="02010509060101010101" pitchFamily="49" charset="-122"/>
                          <a:ea typeface="幼圆" panose="02010509060101010101" pitchFamily="49" charset="-122"/>
                        </a:rPr>
                        <a:t>薛蒙蒙</a:t>
                      </a:r>
                      <a:endParaRPr lang="zh-CN" sz="1400" kern="100">
                        <a:effectLst/>
                        <a:latin typeface="幼圆" panose="02010509060101010101" pitchFamily="49" charset="-122"/>
                        <a:ea typeface="幼圆" panose="02010509060101010101" pitchFamily="49" charset="-122"/>
                      </a:endParaRPr>
                    </a:p>
                    <a:p>
                      <a:pPr algn="ctr">
                        <a:spcAft>
                          <a:spcPts val="0"/>
                        </a:spcAft>
                      </a:pPr>
                      <a:r>
                        <a:rPr lang="zh-CN" sz="1400" kern="100">
                          <a:effectLst/>
                          <a:latin typeface="幼圆" panose="02010509060101010101" pitchFamily="49" charset="-122"/>
                          <a:ea typeface="幼圆" panose="02010509060101010101" pitchFamily="49" charset="-122"/>
                        </a:rPr>
                        <a:t>李卓</a:t>
                      </a:r>
                      <a:endParaRPr lang="zh-CN" sz="1400" kern="100">
                        <a:effectLst/>
                        <a:latin typeface="幼圆" panose="02010509060101010101" pitchFamily="49" charset="-122"/>
                        <a:ea typeface="幼圆" panose="02010509060101010101" pitchFamily="49" charset="-122"/>
                      </a:endParaRPr>
                    </a:p>
                  </a:txBody>
                  <a:tcPr marL="45484" marR="45484" marT="0" marB="0" anchor="ctr"/>
                </a:tc>
                <a:tc>
                  <a:txBody>
                    <a:bodyPr/>
                    <a:lstStyle/>
                    <a:p>
                      <a:pPr algn="ctr">
                        <a:spcAft>
                          <a:spcPts val="0"/>
                        </a:spcAft>
                      </a:pPr>
                      <a:r>
                        <a:rPr lang="zh-CN" sz="1400" kern="100">
                          <a:effectLst/>
                          <a:latin typeface="幼圆" panose="02010509060101010101" pitchFamily="49" charset="-122"/>
                          <a:ea typeface="幼圆" panose="02010509060101010101" pitchFamily="49" charset="-122"/>
                        </a:rPr>
                        <a:t>韩冬</a:t>
                      </a:r>
                      <a:endParaRPr lang="zh-CN" sz="1400" kern="100">
                        <a:effectLst/>
                        <a:latin typeface="幼圆" panose="02010509060101010101" pitchFamily="49" charset="-122"/>
                        <a:ea typeface="幼圆" panose="02010509060101010101" pitchFamily="49" charset="-122"/>
                      </a:endParaRPr>
                    </a:p>
                  </a:txBody>
                  <a:tcPr marL="45484" marR="45484" marT="0" marB="0" anchor="ctr"/>
                </a:tc>
              </a:tr>
              <a:tr h="790236">
                <a:tc>
                  <a:txBody>
                    <a:bodyPr/>
                    <a:lstStyle/>
                    <a:p>
                      <a:pPr algn="ctr">
                        <a:spcAft>
                          <a:spcPts val="0"/>
                        </a:spcAft>
                      </a:pPr>
                      <a:r>
                        <a:rPr lang="en-US" sz="1400" kern="100">
                          <a:effectLst/>
                          <a:latin typeface="幼圆" panose="02010509060101010101" pitchFamily="49" charset="-122"/>
                          <a:ea typeface="幼圆" panose="02010509060101010101" pitchFamily="49" charset="-122"/>
                        </a:rPr>
                        <a:t>Bug_006</a:t>
                      </a:r>
                      <a:endParaRPr lang="zh-CN" sz="1400" kern="100">
                        <a:effectLst/>
                        <a:latin typeface="幼圆" panose="02010509060101010101" pitchFamily="49" charset="-122"/>
                        <a:ea typeface="幼圆" panose="02010509060101010101" pitchFamily="49" charset="-122"/>
                      </a:endParaRPr>
                    </a:p>
                  </a:txBody>
                  <a:tcPr marL="45484" marR="45484" marT="0" marB="0" anchor="ctr"/>
                </a:tc>
                <a:tc>
                  <a:txBody>
                    <a:bodyPr/>
                    <a:lstStyle/>
                    <a:p>
                      <a:pPr algn="just">
                        <a:spcAft>
                          <a:spcPts val="0"/>
                        </a:spcAft>
                      </a:pPr>
                      <a:r>
                        <a:rPr lang="zh-CN" sz="1400" kern="100">
                          <a:effectLst/>
                          <a:latin typeface="幼圆" panose="02010509060101010101" pitchFamily="49" charset="-122"/>
                          <a:ea typeface="幼圆" panose="02010509060101010101" pitchFamily="49" charset="-122"/>
                        </a:rPr>
                        <a:t>教师无法录入答案。</a:t>
                      </a:r>
                      <a:endParaRPr lang="zh-CN" sz="1400" kern="100">
                        <a:effectLst/>
                        <a:latin typeface="幼圆" panose="02010509060101010101" pitchFamily="49" charset="-122"/>
                        <a:ea typeface="幼圆" panose="02010509060101010101" pitchFamily="49" charset="-122"/>
                      </a:endParaRPr>
                    </a:p>
                  </a:txBody>
                  <a:tcPr marL="45484" marR="45484" marT="0" marB="0" anchor="ctr"/>
                </a:tc>
                <a:tc>
                  <a:txBody>
                    <a:bodyPr/>
                    <a:lstStyle/>
                    <a:p>
                      <a:pPr algn="just">
                        <a:spcAft>
                          <a:spcPts val="0"/>
                        </a:spcAft>
                      </a:pPr>
                      <a:r>
                        <a:rPr lang="zh-CN" sz="1400" kern="100" dirty="0">
                          <a:effectLst/>
                          <a:latin typeface="幼圆" panose="02010509060101010101" pitchFamily="49" charset="-122"/>
                          <a:ea typeface="幼圆" panose="02010509060101010101" pitchFamily="49" charset="-122"/>
                        </a:rPr>
                        <a:t>执行测试用例</a:t>
                      </a:r>
                      <a:r>
                        <a:rPr lang="en-US" sz="1400" kern="100" dirty="0">
                          <a:effectLst/>
                          <a:latin typeface="幼圆" panose="02010509060101010101" pitchFamily="49" charset="-122"/>
                          <a:ea typeface="幼圆" panose="02010509060101010101" pitchFamily="49" charset="-122"/>
                        </a:rPr>
                        <a:t>T_001</a:t>
                      </a:r>
                      <a:r>
                        <a:rPr lang="zh-CN" sz="1400" kern="100" dirty="0">
                          <a:effectLst/>
                          <a:latin typeface="幼圆" panose="02010509060101010101" pitchFamily="49" charset="-122"/>
                          <a:ea typeface="幼圆" panose="02010509060101010101" pitchFamily="49" charset="-122"/>
                        </a:rPr>
                        <a:t>，测试结果为没有管理员登录入口，无法录入答案，与预期结果不符。</a:t>
                      </a:r>
                      <a:endParaRPr lang="zh-CN" sz="1400" kern="100" dirty="0">
                        <a:effectLst/>
                        <a:latin typeface="幼圆" panose="02010509060101010101" pitchFamily="49" charset="-122"/>
                        <a:ea typeface="幼圆" panose="02010509060101010101" pitchFamily="49" charset="-122"/>
                      </a:endParaRPr>
                    </a:p>
                  </a:txBody>
                  <a:tcPr marL="45484" marR="45484" marT="0" marB="0" anchor="ctr"/>
                </a:tc>
                <a:tc>
                  <a:txBody>
                    <a:bodyPr/>
                    <a:lstStyle/>
                    <a:p>
                      <a:pPr algn="ctr">
                        <a:spcAft>
                          <a:spcPts val="0"/>
                        </a:spcAft>
                      </a:pPr>
                      <a:r>
                        <a:rPr lang="zh-CN" sz="1400" kern="100">
                          <a:effectLst/>
                          <a:latin typeface="幼圆" panose="02010509060101010101" pitchFamily="49" charset="-122"/>
                          <a:ea typeface="幼圆" panose="02010509060101010101" pitchFamily="49" charset="-122"/>
                        </a:rPr>
                        <a:t>严重</a:t>
                      </a:r>
                      <a:endParaRPr lang="zh-CN" sz="1400" kern="100">
                        <a:effectLst/>
                        <a:latin typeface="幼圆" panose="02010509060101010101" pitchFamily="49" charset="-122"/>
                        <a:ea typeface="幼圆" panose="02010509060101010101" pitchFamily="49" charset="-122"/>
                      </a:endParaRPr>
                    </a:p>
                  </a:txBody>
                  <a:tcPr marL="45484" marR="45484" marT="0" marB="0" anchor="ctr"/>
                </a:tc>
                <a:tc>
                  <a:txBody>
                    <a:bodyPr/>
                    <a:lstStyle/>
                    <a:p>
                      <a:pPr algn="ctr">
                        <a:spcAft>
                          <a:spcPts val="0"/>
                        </a:spcAft>
                      </a:pPr>
                      <a:r>
                        <a:rPr lang="zh-CN" sz="1400" kern="100">
                          <a:effectLst/>
                          <a:latin typeface="幼圆" panose="02010509060101010101" pitchFamily="49" charset="-122"/>
                          <a:ea typeface="幼圆" panose="02010509060101010101" pitchFamily="49" charset="-122"/>
                        </a:rPr>
                        <a:t>薛蒙蒙</a:t>
                      </a:r>
                      <a:endParaRPr lang="zh-CN" sz="1400" kern="100">
                        <a:effectLst/>
                        <a:latin typeface="幼圆" panose="02010509060101010101" pitchFamily="49" charset="-122"/>
                        <a:ea typeface="幼圆" panose="02010509060101010101" pitchFamily="49" charset="-122"/>
                      </a:endParaRPr>
                    </a:p>
                    <a:p>
                      <a:pPr algn="ctr">
                        <a:spcAft>
                          <a:spcPts val="0"/>
                        </a:spcAft>
                      </a:pPr>
                      <a:r>
                        <a:rPr lang="zh-CN" sz="1400" kern="100">
                          <a:effectLst/>
                          <a:latin typeface="幼圆" panose="02010509060101010101" pitchFamily="49" charset="-122"/>
                          <a:ea typeface="幼圆" panose="02010509060101010101" pitchFamily="49" charset="-122"/>
                        </a:rPr>
                        <a:t>李卓</a:t>
                      </a:r>
                      <a:endParaRPr lang="zh-CN" sz="1400" kern="100">
                        <a:effectLst/>
                        <a:latin typeface="幼圆" panose="02010509060101010101" pitchFamily="49" charset="-122"/>
                        <a:ea typeface="幼圆" panose="02010509060101010101" pitchFamily="49" charset="-122"/>
                      </a:endParaRPr>
                    </a:p>
                  </a:txBody>
                  <a:tcPr marL="45484" marR="45484" marT="0" marB="0" anchor="ctr"/>
                </a:tc>
                <a:tc>
                  <a:txBody>
                    <a:bodyPr/>
                    <a:lstStyle/>
                    <a:p>
                      <a:pPr algn="ctr">
                        <a:spcAft>
                          <a:spcPts val="0"/>
                        </a:spcAft>
                      </a:pPr>
                      <a:r>
                        <a:rPr lang="zh-CN" sz="1400" kern="100">
                          <a:effectLst/>
                          <a:latin typeface="幼圆" panose="02010509060101010101" pitchFamily="49" charset="-122"/>
                          <a:ea typeface="幼圆" panose="02010509060101010101" pitchFamily="49" charset="-122"/>
                        </a:rPr>
                        <a:t>韩冬</a:t>
                      </a:r>
                      <a:endParaRPr lang="zh-CN" sz="1400" kern="100">
                        <a:effectLst/>
                        <a:latin typeface="幼圆" panose="02010509060101010101" pitchFamily="49" charset="-122"/>
                        <a:ea typeface="幼圆" panose="02010509060101010101" pitchFamily="49" charset="-122"/>
                      </a:endParaRPr>
                    </a:p>
                  </a:txBody>
                  <a:tcPr marL="45484" marR="45484" marT="0" marB="0" anchor="ctr"/>
                </a:tc>
              </a:tr>
              <a:tr h="790236">
                <a:tc>
                  <a:txBody>
                    <a:bodyPr/>
                    <a:lstStyle/>
                    <a:p>
                      <a:pPr algn="ctr">
                        <a:spcAft>
                          <a:spcPts val="0"/>
                        </a:spcAft>
                      </a:pPr>
                      <a:r>
                        <a:rPr lang="en-US" sz="1400" kern="100">
                          <a:effectLst/>
                          <a:latin typeface="幼圆" panose="02010509060101010101" pitchFamily="49" charset="-122"/>
                          <a:ea typeface="幼圆" panose="02010509060101010101" pitchFamily="49" charset="-122"/>
                        </a:rPr>
                        <a:t>Bug_007</a:t>
                      </a:r>
                      <a:endParaRPr lang="zh-CN" sz="1400" kern="100">
                        <a:effectLst/>
                        <a:latin typeface="幼圆" panose="02010509060101010101" pitchFamily="49" charset="-122"/>
                        <a:ea typeface="幼圆" panose="02010509060101010101" pitchFamily="49" charset="-122"/>
                      </a:endParaRPr>
                    </a:p>
                  </a:txBody>
                  <a:tcPr marL="45484" marR="45484" marT="0" marB="0" anchor="ctr"/>
                </a:tc>
                <a:tc>
                  <a:txBody>
                    <a:bodyPr/>
                    <a:lstStyle/>
                    <a:p>
                      <a:pPr algn="just">
                        <a:spcAft>
                          <a:spcPts val="0"/>
                        </a:spcAft>
                      </a:pPr>
                      <a:r>
                        <a:rPr lang="zh-CN" sz="1400" kern="100">
                          <a:effectLst/>
                          <a:latin typeface="幼圆" panose="02010509060101010101" pitchFamily="49" charset="-122"/>
                          <a:ea typeface="幼圆" panose="02010509060101010101" pitchFamily="49" charset="-122"/>
                        </a:rPr>
                        <a:t>无法在平板电脑端登录系统。</a:t>
                      </a:r>
                      <a:endParaRPr lang="zh-CN" sz="1400" kern="100">
                        <a:effectLst/>
                        <a:latin typeface="幼圆" panose="02010509060101010101" pitchFamily="49" charset="-122"/>
                        <a:ea typeface="幼圆" panose="02010509060101010101" pitchFamily="49" charset="-122"/>
                      </a:endParaRPr>
                    </a:p>
                  </a:txBody>
                  <a:tcPr marL="45484" marR="45484" marT="0" marB="0" anchor="ctr"/>
                </a:tc>
                <a:tc>
                  <a:txBody>
                    <a:bodyPr/>
                    <a:lstStyle/>
                    <a:p>
                      <a:pPr algn="just">
                        <a:spcAft>
                          <a:spcPts val="0"/>
                        </a:spcAft>
                      </a:pPr>
                      <a:r>
                        <a:rPr lang="zh-CN" sz="1400" kern="100">
                          <a:effectLst/>
                          <a:latin typeface="幼圆" panose="02010509060101010101" pitchFamily="49" charset="-122"/>
                          <a:ea typeface="幼圆" panose="02010509060101010101" pitchFamily="49" charset="-122"/>
                        </a:rPr>
                        <a:t>执行测试用例</a:t>
                      </a:r>
                      <a:r>
                        <a:rPr lang="en-US" sz="1400" kern="100">
                          <a:effectLst/>
                          <a:latin typeface="幼圆" panose="02010509060101010101" pitchFamily="49" charset="-122"/>
                          <a:ea typeface="幼圆" panose="02010509060101010101" pitchFamily="49" charset="-122"/>
                        </a:rPr>
                        <a:t>J_002</a:t>
                      </a:r>
                      <a:r>
                        <a:rPr lang="zh-CN" sz="1400" kern="100">
                          <a:effectLst/>
                          <a:latin typeface="幼圆" panose="02010509060101010101" pitchFamily="49" charset="-122"/>
                          <a:ea typeface="幼圆" panose="02010509060101010101" pitchFamily="49" charset="-122"/>
                        </a:rPr>
                        <a:t>，测试结果为无法在平板电脑端登录在线考试系统，与预期结果不符。</a:t>
                      </a:r>
                      <a:endParaRPr lang="zh-CN" sz="1400" kern="100">
                        <a:effectLst/>
                        <a:latin typeface="幼圆" panose="02010509060101010101" pitchFamily="49" charset="-122"/>
                        <a:ea typeface="幼圆" panose="02010509060101010101" pitchFamily="49" charset="-122"/>
                      </a:endParaRPr>
                    </a:p>
                  </a:txBody>
                  <a:tcPr marL="45484" marR="45484" marT="0" marB="0" anchor="ctr"/>
                </a:tc>
                <a:tc>
                  <a:txBody>
                    <a:bodyPr/>
                    <a:lstStyle/>
                    <a:p>
                      <a:pPr algn="ctr">
                        <a:spcAft>
                          <a:spcPts val="0"/>
                        </a:spcAft>
                      </a:pPr>
                      <a:r>
                        <a:rPr lang="zh-CN" sz="1400" kern="100">
                          <a:effectLst/>
                          <a:latin typeface="幼圆" panose="02010509060101010101" pitchFamily="49" charset="-122"/>
                          <a:ea typeface="幼圆" panose="02010509060101010101" pitchFamily="49" charset="-122"/>
                        </a:rPr>
                        <a:t>一般</a:t>
                      </a:r>
                      <a:endParaRPr lang="zh-CN" sz="1400" kern="100">
                        <a:effectLst/>
                        <a:latin typeface="幼圆" panose="02010509060101010101" pitchFamily="49" charset="-122"/>
                        <a:ea typeface="幼圆" panose="02010509060101010101" pitchFamily="49" charset="-122"/>
                      </a:endParaRPr>
                    </a:p>
                  </a:txBody>
                  <a:tcPr marL="45484" marR="45484" marT="0" marB="0" anchor="ctr"/>
                </a:tc>
                <a:tc>
                  <a:txBody>
                    <a:bodyPr/>
                    <a:lstStyle/>
                    <a:p>
                      <a:pPr algn="ctr">
                        <a:spcAft>
                          <a:spcPts val="0"/>
                        </a:spcAft>
                      </a:pPr>
                      <a:r>
                        <a:rPr lang="zh-CN" sz="1400" kern="100">
                          <a:effectLst/>
                          <a:latin typeface="幼圆" panose="02010509060101010101" pitchFamily="49" charset="-122"/>
                          <a:ea typeface="幼圆" panose="02010509060101010101" pitchFamily="49" charset="-122"/>
                        </a:rPr>
                        <a:t>薛蒙蒙</a:t>
                      </a:r>
                      <a:endParaRPr lang="zh-CN" sz="1400" kern="100">
                        <a:effectLst/>
                        <a:latin typeface="幼圆" panose="02010509060101010101" pitchFamily="49" charset="-122"/>
                        <a:ea typeface="幼圆" panose="02010509060101010101" pitchFamily="49" charset="-122"/>
                      </a:endParaRPr>
                    </a:p>
                    <a:p>
                      <a:pPr algn="ctr">
                        <a:spcAft>
                          <a:spcPts val="0"/>
                        </a:spcAft>
                      </a:pPr>
                      <a:r>
                        <a:rPr lang="zh-CN" sz="1400" kern="100">
                          <a:effectLst/>
                          <a:latin typeface="幼圆" panose="02010509060101010101" pitchFamily="49" charset="-122"/>
                          <a:ea typeface="幼圆" panose="02010509060101010101" pitchFamily="49" charset="-122"/>
                        </a:rPr>
                        <a:t>李卓</a:t>
                      </a:r>
                      <a:endParaRPr lang="zh-CN" sz="1400" kern="100">
                        <a:effectLst/>
                        <a:latin typeface="幼圆" panose="02010509060101010101" pitchFamily="49" charset="-122"/>
                        <a:ea typeface="幼圆" panose="02010509060101010101" pitchFamily="49" charset="-122"/>
                      </a:endParaRPr>
                    </a:p>
                  </a:txBody>
                  <a:tcPr marL="45484" marR="45484" marT="0" marB="0" anchor="ctr"/>
                </a:tc>
                <a:tc>
                  <a:txBody>
                    <a:bodyPr/>
                    <a:lstStyle/>
                    <a:p>
                      <a:pPr algn="ctr">
                        <a:spcAft>
                          <a:spcPts val="0"/>
                        </a:spcAft>
                      </a:pPr>
                      <a:r>
                        <a:rPr lang="zh-CN" sz="1400" kern="100">
                          <a:effectLst/>
                          <a:latin typeface="幼圆" panose="02010509060101010101" pitchFamily="49" charset="-122"/>
                          <a:ea typeface="幼圆" panose="02010509060101010101" pitchFamily="49" charset="-122"/>
                        </a:rPr>
                        <a:t>韩冬</a:t>
                      </a:r>
                      <a:endParaRPr lang="zh-CN" sz="1400" kern="100">
                        <a:effectLst/>
                        <a:latin typeface="幼圆" panose="02010509060101010101" pitchFamily="49" charset="-122"/>
                        <a:ea typeface="幼圆" panose="02010509060101010101" pitchFamily="49" charset="-122"/>
                      </a:endParaRPr>
                    </a:p>
                  </a:txBody>
                  <a:tcPr marL="45484" marR="45484" marT="0" marB="0" anchor="ctr"/>
                </a:tc>
              </a:tr>
              <a:tr h="612156">
                <a:tc>
                  <a:txBody>
                    <a:bodyPr/>
                    <a:lstStyle/>
                    <a:p>
                      <a:pPr algn="ctr">
                        <a:spcAft>
                          <a:spcPts val="0"/>
                        </a:spcAft>
                      </a:pPr>
                      <a:r>
                        <a:rPr lang="en-US" sz="1400" kern="100">
                          <a:effectLst/>
                          <a:latin typeface="幼圆" panose="02010509060101010101" pitchFamily="49" charset="-122"/>
                          <a:ea typeface="幼圆" panose="02010509060101010101" pitchFamily="49" charset="-122"/>
                        </a:rPr>
                        <a:t>Bug_008</a:t>
                      </a:r>
                      <a:endParaRPr lang="zh-CN" sz="1400" kern="100">
                        <a:effectLst/>
                        <a:latin typeface="幼圆" panose="02010509060101010101" pitchFamily="49" charset="-122"/>
                        <a:ea typeface="幼圆" panose="02010509060101010101" pitchFamily="49" charset="-122"/>
                      </a:endParaRPr>
                    </a:p>
                  </a:txBody>
                  <a:tcPr marL="45484" marR="45484" marT="0" marB="0" anchor="ctr"/>
                </a:tc>
                <a:tc>
                  <a:txBody>
                    <a:bodyPr/>
                    <a:lstStyle/>
                    <a:p>
                      <a:pPr algn="just">
                        <a:spcAft>
                          <a:spcPts val="0"/>
                        </a:spcAft>
                      </a:pPr>
                      <a:r>
                        <a:rPr lang="zh-CN" sz="1400" kern="100">
                          <a:effectLst/>
                          <a:latin typeface="幼圆" panose="02010509060101010101" pitchFamily="49" charset="-122"/>
                          <a:ea typeface="幼圆" panose="02010509060101010101" pitchFamily="49" charset="-122"/>
                        </a:rPr>
                        <a:t>无法在手机端登录系统。</a:t>
                      </a:r>
                      <a:endParaRPr lang="zh-CN" sz="1400" kern="100">
                        <a:effectLst/>
                        <a:latin typeface="幼圆" panose="02010509060101010101" pitchFamily="49" charset="-122"/>
                        <a:ea typeface="幼圆" panose="02010509060101010101" pitchFamily="49" charset="-122"/>
                      </a:endParaRPr>
                    </a:p>
                  </a:txBody>
                  <a:tcPr marL="45484" marR="45484" marT="0" marB="0" anchor="ctr"/>
                </a:tc>
                <a:tc>
                  <a:txBody>
                    <a:bodyPr/>
                    <a:lstStyle/>
                    <a:p>
                      <a:pPr algn="just">
                        <a:spcAft>
                          <a:spcPts val="0"/>
                        </a:spcAft>
                      </a:pPr>
                      <a:r>
                        <a:rPr lang="zh-CN" sz="1400" kern="100">
                          <a:effectLst/>
                          <a:latin typeface="幼圆" panose="02010509060101010101" pitchFamily="49" charset="-122"/>
                          <a:ea typeface="幼圆" panose="02010509060101010101" pitchFamily="49" charset="-122"/>
                        </a:rPr>
                        <a:t>执行测试用例</a:t>
                      </a:r>
                      <a:r>
                        <a:rPr lang="en-US" sz="1400" kern="100">
                          <a:effectLst/>
                          <a:latin typeface="幼圆" panose="02010509060101010101" pitchFamily="49" charset="-122"/>
                          <a:ea typeface="幼圆" panose="02010509060101010101" pitchFamily="49" charset="-122"/>
                        </a:rPr>
                        <a:t>J_004</a:t>
                      </a:r>
                      <a:r>
                        <a:rPr lang="zh-CN" sz="1400" kern="100">
                          <a:effectLst/>
                          <a:latin typeface="幼圆" panose="02010509060101010101" pitchFamily="49" charset="-122"/>
                          <a:ea typeface="幼圆" panose="02010509060101010101" pitchFamily="49" charset="-122"/>
                        </a:rPr>
                        <a:t>，测试结果为无法在手机端登录系统，与预期结果不符。</a:t>
                      </a:r>
                      <a:endParaRPr lang="zh-CN" sz="1400" kern="100">
                        <a:effectLst/>
                        <a:latin typeface="幼圆" panose="02010509060101010101" pitchFamily="49" charset="-122"/>
                        <a:ea typeface="幼圆" panose="02010509060101010101" pitchFamily="49" charset="-122"/>
                      </a:endParaRPr>
                    </a:p>
                  </a:txBody>
                  <a:tcPr marL="45484" marR="45484" marT="0" marB="0" anchor="ctr"/>
                </a:tc>
                <a:tc>
                  <a:txBody>
                    <a:bodyPr/>
                    <a:lstStyle/>
                    <a:p>
                      <a:pPr algn="ctr">
                        <a:spcAft>
                          <a:spcPts val="0"/>
                        </a:spcAft>
                      </a:pPr>
                      <a:r>
                        <a:rPr lang="zh-CN" sz="1400" kern="100">
                          <a:effectLst/>
                          <a:latin typeface="幼圆" panose="02010509060101010101" pitchFamily="49" charset="-122"/>
                          <a:ea typeface="幼圆" panose="02010509060101010101" pitchFamily="49" charset="-122"/>
                        </a:rPr>
                        <a:t>一般</a:t>
                      </a:r>
                      <a:endParaRPr lang="zh-CN" sz="1400" kern="100">
                        <a:effectLst/>
                        <a:latin typeface="幼圆" panose="02010509060101010101" pitchFamily="49" charset="-122"/>
                        <a:ea typeface="幼圆" panose="02010509060101010101" pitchFamily="49" charset="-122"/>
                      </a:endParaRPr>
                    </a:p>
                  </a:txBody>
                  <a:tcPr marL="45484" marR="45484" marT="0" marB="0" anchor="ctr"/>
                </a:tc>
                <a:tc>
                  <a:txBody>
                    <a:bodyPr/>
                    <a:lstStyle/>
                    <a:p>
                      <a:pPr algn="ctr">
                        <a:spcAft>
                          <a:spcPts val="0"/>
                        </a:spcAft>
                      </a:pPr>
                      <a:r>
                        <a:rPr lang="zh-CN" sz="1400" kern="100">
                          <a:effectLst/>
                          <a:latin typeface="幼圆" panose="02010509060101010101" pitchFamily="49" charset="-122"/>
                          <a:ea typeface="幼圆" panose="02010509060101010101" pitchFamily="49" charset="-122"/>
                        </a:rPr>
                        <a:t>薛蒙蒙</a:t>
                      </a:r>
                      <a:endParaRPr lang="zh-CN" sz="1400" kern="100">
                        <a:effectLst/>
                        <a:latin typeface="幼圆" panose="02010509060101010101" pitchFamily="49" charset="-122"/>
                        <a:ea typeface="幼圆" panose="02010509060101010101" pitchFamily="49" charset="-122"/>
                      </a:endParaRPr>
                    </a:p>
                    <a:p>
                      <a:pPr algn="ctr">
                        <a:spcAft>
                          <a:spcPts val="0"/>
                        </a:spcAft>
                      </a:pPr>
                      <a:r>
                        <a:rPr lang="zh-CN" sz="1400" kern="100">
                          <a:effectLst/>
                          <a:latin typeface="幼圆" panose="02010509060101010101" pitchFamily="49" charset="-122"/>
                          <a:ea typeface="幼圆" panose="02010509060101010101" pitchFamily="49" charset="-122"/>
                        </a:rPr>
                        <a:t>李卓</a:t>
                      </a:r>
                      <a:endParaRPr lang="zh-CN" sz="1400" kern="100">
                        <a:effectLst/>
                        <a:latin typeface="幼圆" panose="02010509060101010101" pitchFamily="49" charset="-122"/>
                        <a:ea typeface="幼圆" panose="02010509060101010101" pitchFamily="49" charset="-122"/>
                      </a:endParaRPr>
                    </a:p>
                  </a:txBody>
                  <a:tcPr marL="45484" marR="45484" marT="0" marB="0" anchor="ctr"/>
                </a:tc>
                <a:tc>
                  <a:txBody>
                    <a:bodyPr/>
                    <a:lstStyle/>
                    <a:p>
                      <a:pPr algn="ctr">
                        <a:spcAft>
                          <a:spcPts val="0"/>
                        </a:spcAft>
                      </a:pPr>
                      <a:r>
                        <a:rPr lang="zh-CN" sz="1400" kern="100" dirty="0">
                          <a:effectLst/>
                          <a:latin typeface="幼圆" panose="02010509060101010101" pitchFamily="49" charset="-122"/>
                          <a:ea typeface="幼圆" panose="02010509060101010101" pitchFamily="49" charset="-122"/>
                        </a:rPr>
                        <a:t>韩冬</a:t>
                      </a:r>
                      <a:endParaRPr lang="zh-CN" sz="1400" kern="100" dirty="0">
                        <a:effectLst/>
                        <a:latin typeface="幼圆" panose="02010509060101010101" pitchFamily="49" charset="-122"/>
                        <a:ea typeface="幼圆" panose="02010509060101010101" pitchFamily="49" charset="-122"/>
                      </a:endParaRPr>
                    </a:p>
                  </a:txBody>
                  <a:tcPr marL="45484" marR="45484" marT="0" marB="0" anchor="ct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barn(inVertical)">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nvSpPr>
        <p:spPr>
          <a:xfrm>
            <a:off x="1922333" y="272228"/>
            <a:ext cx="9167913" cy="5331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rgbClr val="C00000"/>
                </a:solidFill>
                <a:latin typeface="微软雅黑" panose="020B0503020204020204" pitchFamily="34" charset="-122"/>
                <a:ea typeface="微软雅黑" panose="020B0503020204020204" pitchFamily="34" charset="-122"/>
                <a:cs typeface="+mj-cs"/>
              </a:defRPr>
            </a:lvl1pPr>
          </a:lstStyle>
          <a:p>
            <a:pPr marL="0" algn="l" defTabSz="914400" rtl="0" eaLnBrk="1" latinLnBrk="0" hangingPunct="1"/>
            <a:r>
              <a:rPr lang="zh-CN" altLang="en-US" dirty="0" smtClean="0">
                <a:solidFill>
                  <a:srgbClr val="FF0000"/>
                </a:solidFill>
                <a:sym typeface="+mn-ea"/>
              </a:rPr>
              <a:t>测试报告</a:t>
            </a:r>
            <a:endParaRPr lang="zh-CN" altLang="en-US" dirty="0" smtClean="0">
              <a:solidFill>
                <a:srgbClr val="FF0000"/>
              </a:solidFill>
              <a:sym typeface="+mn-ea"/>
            </a:endParaRPr>
          </a:p>
        </p:txBody>
      </p:sp>
      <p:sp>
        <p:nvSpPr>
          <p:cNvPr id="5" name="内容占位符 2"/>
          <p:cNvSpPr txBox="1"/>
          <p:nvPr/>
        </p:nvSpPr>
        <p:spPr>
          <a:xfrm>
            <a:off x="5374909" y="1363798"/>
            <a:ext cx="2200174" cy="73451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缺陷类型汇总</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358402" name="图表 1"/>
          <p:cNvPicPr>
            <a:picLocks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43713" y="2236388"/>
            <a:ext cx="6144613" cy="36350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358402"/>
                                        </p:tgtEl>
                                        <p:attrNameLst>
                                          <p:attrName>style.visibility</p:attrName>
                                        </p:attrNameLst>
                                      </p:cBhvr>
                                      <p:to>
                                        <p:strVal val="visible"/>
                                      </p:to>
                                    </p:set>
                                    <p:animEffect transition="in" filter="wheel(1)">
                                      <p:cBhvr>
                                        <p:cTn id="11" dur="2000"/>
                                        <p:tgtEl>
                                          <p:spTgt spid="3584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nvSpPr>
        <p:spPr>
          <a:xfrm>
            <a:off x="1922333" y="272228"/>
            <a:ext cx="9167913" cy="5331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rgbClr val="C00000"/>
                </a:solidFill>
                <a:latin typeface="微软雅黑" panose="020B0503020204020204" pitchFamily="34" charset="-122"/>
                <a:ea typeface="微软雅黑" panose="020B0503020204020204" pitchFamily="34" charset="-122"/>
                <a:cs typeface="+mj-cs"/>
              </a:defRPr>
            </a:lvl1pPr>
          </a:lstStyle>
          <a:p>
            <a:pPr marL="0" algn="l" defTabSz="914400" rtl="0" eaLnBrk="1" latinLnBrk="0" hangingPunct="1"/>
            <a:r>
              <a:rPr lang="zh-CN" altLang="en-US" dirty="0" smtClean="0">
                <a:solidFill>
                  <a:srgbClr val="FF0000"/>
                </a:solidFill>
                <a:sym typeface="+mn-ea"/>
              </a:rPr>
              <a:t>测试报告</a:t>
            </a:r>
            <a:endParaRPr lang="zh-CN" altLang="en-US" dirty="0" smtClean="0">
              <a:solidFill>
                <a:srgbClr val="FF0000"/>
              </a:solidFill>
              <a:sym typeface="+mn-ea"/>
            </a:endParaRPr>
          </a:p>
        </p:txBody>
      </p:sp>
      <p:sp>
        <p:nvSpPr>
          <p:cNvPr id="5" name="内容占位符 2"/>
          <p:cNvSpPr txBox="1"/>
          <p:nvPr/>
        </p:nvSpPr>
        <p:spPr>
          <a:xfrm>
            <a:off x="5009149" y="1363797"/>
            <a:ext cx="2941318" cy="73451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缺陷按功能分布汇总</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359426" name="图表 1"/>
          <p:cNvPicPr>
            <a:picLocks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80083" y="2098310"/>
            <a:ext cx="6853187" cy="4004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6" presetClass="entr" presetSubtype="16" fill="hold" nodeType="afterEffect">
                                  <p:stCondLst>
                                    <p:cond delay="0"/>
                                  </p:stCondLst>
                                  <p:childTnLst>
                                    <p:set>
                                      <p:cBhvr>
                                        <p:cTn id="10" dur="1" fill="hold">
                                          <p:stCondLst>
                                            <p:cond delay="0"/>
                                          </p:stCondLst>
                                        </p:cTn>
                                        <p:tgtEl>
                                          <p:spTgt spid="359426"/>
                                        </p:tgtEl>
                                        <p:attrNameLst>
                                          <p:attrName>style.visibility</p:attrName>
                                        </p:attrNameLst>
                                      </p:cBhvr>
                                      <p:to>
                                        <p:strVal val="visible"/>
                                      </p:to>
                                    </p:set>
                                    <p:animEffect transition="in" filter="circle(in)">
                                      <p:cBhvr>
                                        <p:cTn id="11" dur="2000"/>
                                        <p:tgtEl>
                                          <p:spTgt spid="3594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nvSpPr>
        <p:spPr>
          <a:xfrm>
            <a:off x="1922333" y="272228"/>
            <a:ext cx="9167913" cy="5331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rgbClr val="C00000"/>
                </a:solidFill>
                <a:latin typeface="微软雅黑" panose="020B0503020204020204" pitchFamily="34" charset="-122"/>
                <a:ea typeface="微软雅黑" panose="020B0503020204020204" pitchFamily="34" charset="-122"/>
                <a:cs typeface="+mj-cs"/>
              </a:defRPr>
            </a:lvl1pPr>
          </a:lstStyle>
          <a:p>
            <a:pPr marL="0" algn="l" defTabSz="914400" rtl="0" eaLnBrk="1" latinLnBrk="0" hangingPunct="1"/>
            <a:r>
              <a:rPr lang="zh-CN" altLang="en-US" dirty="0" smtClean="0">
                <a:solidFill>
                  <a:srgbClr val="FF0000"/>
                </a:solidFill>
                <a:sym typeface="+mn-ea"/>
              </a:rPr>
              <a:t>测试报告</a:t>
            </a:r>
            <a:endParaRPr lang="zh-CN" altLang="en-US" dirty="0" smtClean="0">
              <a:solidFill>
                <a:srgbClr val="FF0000"/>
              </a:solidFill>
              <a:sym typeface="+mn-ea"/>
            </a:endParaRPr>
          </a:p>
        </p:txBody>
      </p:sp>
      <p:sp>
        <p:nvSpPr>
          <p:cNvPr id="5" name="内容占位符 2"/>
          <p:cNvSpPr txBox="1"/>
          <p:nvPr/>
        </p:nvSpPr>
        <p:spPr>
          <a:xfrm>
            <a:off x="5009149" y="1363797"/>
            <a:ext cx="2257925" cy="73451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缺陷时间趋势</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360450" name="图表 1"/>
          <p:cNvPicPr>
            <a:picLocks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43714" y="2148748"/>
            <a:ext cx="6086860" cy="373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55" presetClass="entr" presetSubtype="0" fill="hold" nodeType="afterEffect">
                                  <p:stCondLst>
                                    <p:cond delay="0"/>
                                  </p:stCondLst>
                                  <p:childTnLst>
                                    <p:set>
                                      <p:cBhvr>
                                        <p:cTn id="10" dur="1" fill="hold">
                                          <p:stCondLst>
                                            <p:cond delay="0"/>
                                          </p:stCondLst>
                                        </p:cTn>
                                        <p:tgtEl>
                                          <p:spTgt spid="360450"/>
                                        </p:tgtEl>
                                        <p:attrNameLst>
                                          <p:attrName>style.visibility</p:attrName>
                                        </p:attrNameLst>
                                      </p:cBhvr>
                                      <p:to>
                                        <p:strVal val="visible"/>
                                      </p:to>
                                    </p:set>
                                    <p:anim calcmode="lin" valueType="num">
                                      <p:cBhvr>
                                        <p:cTn id="11" dur="1000" fill="hold"/>
                                        <p:tgtEl>
                                          <p:spTgt spid="360450"/>
                                        </p:tgtEl>
                                        <p:attrNameLst>
                                          <p:attrName>ppt_w</p:attrName>
                                        </p:attrNameLst>
                                      </p:cBhvr>
                                      <p:tavLst>
                                        <p:tav tm="0">
                                          <p:val>
                                            <p:strVal val="#ppt_w*0.70"/>
                                          </p:val>
                                        </p:tav>
                                        <p:tav tm="100000">
                                          <p:val>
                                            <p:strVal val="#ppt_w"/>
                                          </p:val>
                                        </p:tav>
                                      </p:tavLst>
                                    </p:anim>
                                    <p:anim calcmode="lin" valueType="num">
                                      <p:cBhvr>
                                        <p:cTn id="12" dur="1000" fill="hold"/>
                                        <p:tgtEl>
                                          <p:spTgt spid="360450"/>
                                        </p:tgtEl>
                                        <p:attrNameLst>
                                          <p:attrName>ppt_h</p:attrName>
                                        </p:attrNameLst>
                                      </p:cBhvr>
                                      <p:tavLst>
                                        <p:tav tm="0">
                                          <p:val>
                                            <p:strVal val="#ppt_h"/>
                                          </p:val>
                                        </p:tav>
                                        <p:tav tm="100000">
                                          <p:val>
                                            <p:strVal val="#ppt_h"/>
                                          </p:val>
                                        </p:tav>
                                      </p:tavLst>
                                    </p:anim>
                                    <p:animEffect transition="in" filter="fade">
                                      <p:cBhvr>
                                        <p:cTn id="13" dur="1000"/>
                                        <p:tgtEl>
                                          <p:spTgt spid="3604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nvSpPr>
        <p:spPr>
          <a:xfrm>
            <a:off x="1922333" y="272228"/>
            <a:ext cx="9167913" cy="5331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rgbClr val="C00000"/>
                </a:solidFill>
                <a:latin typeface="微软雅黑" panose="020B0503020204020204" pitchFamily="34" charset="-122"/>
                <a:ea typeface="微软雅黑" panose="020B0503020204020204" pitchFamily="34" charset="-122"/>
                <a:cs typeface="+mj-cs"/>
              </a:defRPr>
            </a:lvl1pPr>
          </a:lstStyle>
          <a:p>
            <a:pPr marL="0" algn="l" defTabSz="914400" rtl="0" eaLnBrk="1" latinLnBrk="0" hangingPunct="1"/>
            <a:r>
              <a:rPr lang="zh-CN" altLang="en-US" dirty="0" smtClean="0">
                <a:solidFill>
                  <a:srgbClr val="FF0000"/>
                </a:solidFill>
                <a:sym typeface="+mn-ea"/>
              </a:rPr>
              <a:t>测试报告</a:t>
            </a:r>
            <a:endParaRPr lang="zh-CN" altLang="en-US" dirty="0" smtClean="0">
              <a:solidFill>
                <a:srgbClr val="FF0000"/>
              </a:solidFill>
              <a:sym typeface="+mn-ea"/>
            </a:endParaRPr>
          </a:p>
        </p:txBody>
      </p:sp>
      <p:sp>
        <p:nvSpPr>
          <p:cNvPr id="5" name="内容占位符 2"/>
          <p:cNvSpPr txBox="1"/>
          <p:nvPr/>
        </p:nvSpPr>
        <p:spPr>
          <a:xfrm>
            <a:off x="1284172" y="1229043"/>
            <a:ext cx="2999070" cy="117727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六、测试汇总</a:t>
            </a:r>
            <a:endParaRPr lang="en-US" altLang="zh-CN" sz="24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4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24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、测试问题汇总</a:t>
            </a:r>
            <a:endPar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2" name="表格 1"/>
          <p:cNvGraphicFramePr>
            <a:graphicFrameLocks noGrp="1"/>
          </p:cNvGraphicFramePr>
          <p:nvPr/>
        </p:nvGraphicFramePr>
        <p:xfrm>
          <a:off x="4581631" y="1351805"/>
          <a:ext cx="6231788" cy="4947992"/>
        </p:xfrm>
        <a:graphic>
          <a:graphicData uri="http://schemas.openxmlformats.org/drawingml/2006/table">
            <a:tbl>
              <a:tblPr firstRow="1" firstCol="1" bandRow="1">
                <a:tableStyleId>{5C22544A-7EE6-4342-B048-85BDC9FD1C3A}</a:tableStyleId>
              </a:tblPr>
              <a:tblGrid>
                <a:gridCol w="805116"/>
                <a:gridCol w="1140032"/>
                <a:gridCol w="1450818"/>
                <a:gridCol w="1658495"/>
                <a:gridCol w="1177327"/>
              </a:tblGrid>
              <a:tr h="284490">
                <a:tc>
                  <a:txBody>
                    <a:bodyPr/>
                    <a:lstStyle/>
                    <a:p>
                      <a:pPr algn="ctr">
                        <a:spcAft>
                          <a:spcPts val="0"/>
                        </a:spcAft>
                      </a:pPr>
                      <a:r>
                        <a:rPr lang="zh-CN" sz="1400" kern="100" dirty="0">
                          <a:effectLst/>
                          <a:latin typeface="幼圆" panose="02010509060101010101" pitchFamily="49" charset="-122"/>
                          <a:ea typeface="幼圆" panose="02010509060101010101" pitchFamily="49" charset="-122"/>
                        </a:rPr>
                        <a:t>序号</a:t>
                      </a:r>
                      <a:endParaRPr lang="zh-CN" sz="1400" kern="100" dirty="0">
                        <a:effectLst/>
                        <a:latin typeface="幼圆" panose="02010509060101010101" pitchFamily="49" charset="-122"/>
                        <a:ea typeface="幼圆" panose="02010509060101010101" pitchFamily="49" charset="-122"/>
                      </a:endParaRPr>
                    </a:p>
                  </a:txBody>
                  <a:tcPr marL="68580" marR="68580" marT="0" marB="0"/>
                </a:tc>
                <a:tc>
                  <a:txBody>
                    <a:bodyPr/>
                    <a:lstStyle/>
                    <a:p>
                      <a:pPr algn="ctr">
                        <a:spcAft>
                          <a:spcPts val="0"/>
                        </a:spcAft>
                      </a:pPr>
                      <a:r>
                        <a:rPr lang="zh-CN" sz="1400" kern="100" dirty="0">
                          <a:effectLst/>
                          <a:latin typeface="幼圆" panose="02010509060101010101" pitchFamily="49" charset="-122"/>
                          <a:ea typeface="幼圆" panose="02010509060101010101" pitchFamily="49" charset="-122"/>
                        </a:rPr>
                        <a:t>测试项</a:t>
                      </a:r>
                      <a:endParaRPr lang="zh-CN" sz="1400" kern="100" dirty="0">
                        <a:effectLst/>
                        <a:latin typeface="幼圆" panose="02010509060101010101" pitchFamily="49" charset="-122"/>
                        <a:ea typeface="幼圆" panose="02010509060101010101" pitchFamily="49" charset="-122"/>
                      </a:endParaRPr>
                    </a:p>
                  </a:txBody>
                  <a:tcPr marL="68580" marR="68580" marT="0" marB="0"/>
                </a:tc>
                <a:tc>
                  <a:txBody>
                    <a:bodyPr/>
                    <a:lstStyle/>
                    <a:p>
                      <a:pPr algn="ctr">
                        <a:spcAft>
                          <a:spcPts val="0"/>
                        </a:spcAft>
                      </a:pPr>
                      <a:r>
                        <a:rPr lang="zh-CN" sz="1400" kern="100" dirty="0">
                          <a:effectLst/>
                          <a:latin typeface="幼圆" panose="02010509060101010101" pitchFamily="49" charset="-122"/>
                          <a:ea typeface="幼圆" panose="02010509060101010101" pitchFamily="49" charset="-122"/>
                        </a:rPr>
                        <a:t>测试要点</a:t>
                      </a:r>
                      <a:endParaRPr lang="zh-CN" sz="1400" kern="100" dirty="0">
                        <a:effectLst/>
                        <a:latin typeface="幼圆" panose="02010509060101010101" pitchFamily="49" charset="-122"/>
                        <a:ea typeface="幼圆" panose="02010509060101010101" pitchFamily="49" charset="-122"/>
                      </a:endParaRPr>
                    </a:p>
                  </a:txBody>
                  <a:tcPr marL="68580" marR="68580" marT="0" marB="0"/>
                </a:tc>
                <a:tc>
                  <a:txBody>
                    <a:bodyPr/>
                    <a:lstStyle/>
                    <a:p>
                      <a:pPr algn="ctr">
                        <a:spcAft>
                          <a:spcPts val="0"/>
                        </a:spcAft>
                      </a:pPr>
                      <a:r>
                        <a:rPr lang="zh-CN" sz="1400" kern="100" dirty="0">
                          <a:effectLst/>
                          <a:latin typeface="幼圆" panose="02010509060101010101" pitchFamily="49" charset="-122"/>
                          <a:ea typeface="幼圆" panose="02010509060101010101" pitchFamily="49" charset="-122"/>
                        </a:rPr>
                        <a:t>测试结论</a:t>
                      </a:r>
                      <a:endParaRPr lang="zh-CN" sz="1400" kern="100" dirty="0">
                        <a:effectLst/>
                        <a:latin typeface="幼圆" panose="02010509060101010101" pitchFamily="49" charset="-122"/>
                        <a:ea typeface="幼圆" panose="02010509060101010101" pitchFamily="49" charset="-122"/>
                      </a:endParaRPr>
                    </a:p>
                  </a:txBody>
                  <a:tcPr marL="68580" marR="68580" marT="0" marB="0"/>
                </a:tc>
                <a:tc>
                  <a:txBody>
                    <a:bodyPr/>
                    <a:lstStyle/>
                    <a:p>
                      <a:pPr algn="ctr">
                        <a:spcAft>
                          <a:spcPts val="0"/>
                        </a:spcAft>
                      </a:pPr>
                      <a:r>
                        <a:rPr lang="zh-CN" sz="1400" kern="100" dirty="0">
                          <a:effectLst/>
                          <a:latin typeface="幼圆" panose="02010509060101010101" pitchFamily="49" charset="-122"/>
                          <a:ea typeface="幼圆" panose="02010509060101010101" pitchFamily="49" charset="-122"/>
                        </a:rPr>
                        <a:t>备注</a:t>
                      </a:r>
                      <a:endParaRPr lang="zh-CN" sz="1400" kern="100" dirty="0">
                        <a:effectLst/>
                        <a:latin typeface="幼圆" panose="02010509060101010101" pitchFamily="49" charset="-122"/>
                        <a:ea typeface="幼圆" panose="02010509060101010101" pitchFamily="49" charset="-122"/>
                      </a:endParaRPr>
                    </a:p>
                  </a:txBody>
                  <a:tcPr marL="68580" marR="68580" marT="0" marB="0"/>
                </a:tc>
              </a:tr>
              <a:tr h="1123969">
                <a:tc>
                  <a:txBody>
                    <a:bodyPr/>
                    <a:lstStyle/>
                    <a:p>
                      <a:pPr algn="ctr">
                        <a:spcAft>
                          <a:spcPts val="0"/>
                        </a:spcAft>
                      </a:pPr>
                      <a:r>
                        <a:rPr lang="en-US" sz="1400" kern="100">
                          <a:effectLst/>
                          <a:latin typeface="幼圆" panose="02010509060101010101" pitchFamily="49" charset="-122"/>
                          <a:ea typeface="幼圆" panose="02010509060101010101" pitchFamily="49" charset="-122"/>
                        </a:rPr>
                        <a:t>1</a:t>
                      </a:r>
                      <a:endParaRPr lang="zh-CN" sz="14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ctr">
                        <a:spcAft>
                          <a:spcPts val="0"/>
                        </a:spcAft>
                      </a:pPr>
                      <a:r>
                        <a:rPr lang="zh-CN" sz="1400" kern="100">
                          <a:effectLst/>
                          <a:latin typeface="幼圆" panose="02010509060101010101" pitchFamily="49" charset="-122"/>
                          <a:ea typeface="幼圆" panose="02010509060101010101" pitchFamily="49" charset="-122"/>
                        </a:rPr>
                        <a:t>发布试卷</a:t>
                      </a:r>
                      <a:endParaRPr lang="zh-CN" sz="14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400" kern="100">
                          <a:effectLst/>
                          <a:latin typeface="幼圆" panose="02010509060101010101" pitchFamily="49" charset="-122"/>
                          <a:ea typeface="幼圆" panose="02010509060101010101" pitchFamily="49" charset="-122"/>
                        </a:rPr>
                        <a:t>录入试卷标题</a:t>
                      </a:r>
                      <a:endParaRPr lang="zh-CN" sz="1400" kern="100">
                        <a:effectLst/>
                        <a:latin typeface="幼圆" panose="02010509060101010101" pitchFamily="49" charset="-122"/>
                        <a:ea typeface="幼圆" panose="02010509060101010101" pitchFamily="49" charset="-122"/>
                      </a:endParaRPr>
                    </a:p>
                    <a:p>
                      <a:pPr algn="just">
                        <a:spcAft>
                          <a:spcPts val="0"/>
                        </a:spcAft>
                      </a:pPr>
                      <a:r>
                        <a:rPr lang="zh-CN" sz="1400" kern="100">
                          <a:effectLst/>
                          <a:latin typeface="幼圆" panose="02010509060101010101" pitchFamily="49" charset="-122"/>
                          <a:ea typeface="幼圆" panose="02010509060101010101" pitchFamily="49" charset="-122"/>
                        </a:rPr>
                        <a:t>录入题型</a:t>
                      </a:r>
                      <a:endParaRPr lang="zh-CN" sz="1400" kern="100">
                        <a:effectLst/>
                        <a:latin typeface="幼圆" panose="02010509060101010101" pitchFamily="49" charset="-122"/>
                        <a:ea typeface="幼圆" panose="02010509060101010101" pitchFamily="49" charset="-122"/>
                      </a:endParaRPr>
                    </a:p>
                    <a:p>
                      <a:pPr algn="just">
                        <a:spcAft>
                          <a:spcPts val="0"/>
                        </a:spcAft>
                      </a:pPr>
                      <a:r>
                        <a:rPr lang="zh-CN" sz="1400" kern="100">
                          <a:effectLst/>
                          <a:latin typeface="幼圆" panose="02010509060101010101" pitchFamily="49" charset="-122"/>
                          <a:ea typeface="幼圆" panose="02010509060101010101" pitchFamily="49" charset="-122"/>
                        </a:rPr>
                        <a:t>录入题目</a:t>
                      </a:r>
                      <a:endParaRPr lang="zh-CN" sz="1400" kern="100">
                        <a:effectLst/>
                        <a:latin typeface="幼圆" panose="02010509060101010101" pitchFamily="49" charset="-122"/>
                        <a:ea typeface="幼圆" panose="02010509060101010101" pitchFamily="49" charset="-122"/>
                      </a:endParaRPr>
                    </a:p>
                    <a:p>
                      <a:pPr algn="just">
                        <a:spcAft>
                          <a:spcPts val="0"/>
                        </a:spcAft>
                      </a:pPr>
                      <a:r>
                        <a:rPr lang="zh-CN" sz="1400" kern="100">
                          <a:effectLst/>
                          <a:latin typeface="幼圆" panose="02010509060101010101" pitchFamily="49" charset="-122"/>
                          <a:ea typeface="幼圆" panose="02010509060101010101" pitchFamily="49" charset="-122"/>
                        </a:rPr>
                        <a:t>录入考试时间</a:t>
                      </a:r>
                      <a:endParaRPr lang="zh-CN" sz="1400" kern="100">
                        <a:effectLst/>
                        <a:latin typeface="幼圆" panose="02010509060101010101" pitchFamily="49" charset="-122"/>
                        <a:ea typeface="幼圆" panose="02010509060101010101" pitchFamily="49" charset="-122"/>
                      </a:endParaRPr>
                    </a:p>
                    <a:p>
                      <a:pPr algn="just">
                        <a:spcAft>
                          <a:spcPts val="0"/>
                        </a:spcAft>
                      </a:pPr>
                      <a:r>
                        <a:rPr lang="zh-CN" sz="1400" kern="100">
                          <a:effectLst/>
                          <a:latin typeface="幼圆" panose="02010509060101010101" pitchFamily="49" charset="-122"/>
                          <a:ea typeface="幼圆" panose="02010509060101010101" pitchFamily="49" charset="-122"/>
                        </a:rPr>
                        <a:t>录入答案</a:t>
                      </a:r>
                      <a:endParaRPr lang="zh-CN" sz="14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400" kern="100">
                          <a:effectLst/>
                          <a:latin typeface="幼圆" panose="02010509060101010101" pitchFamily="49" charset="-122"/>
                          <a:ea typeface="幼圆" panose="02010509060101010101" pitchFamily="49" charset="-122"/>
                        </a:rPr>
                        <a:t>试卷发布功能未实现，发现</a:t>
                      </a:r>
                      <a:r>
                        <a:rPr lang="en-US" sz="1400" kern="100">
                          <a:effectLst/>
                          <a:latin typeface="幼圆" panose="02010509060101010101" pitchFamily="49" charset="-122"/>
                          <a:ea typeface="幼圆" panose="02010509060101010101" pitchFamily="49" charset="-122"/>
                        </a:rPr>
                        <a:t>6</a:t>
                      </a:r>
                      <a:r>
                        <a:rPr lang="zh-CN" sz="1400" kern="100">
                          <a:effectLst/>
                          <a:latin typeface="幼圆" panose="02010509060101010101" pitchFamily="49" charset="-122"/>
                          <a:ea typeface="幼圆" panose="02010509060101010101" pitchFamily="49" charset="-122"/>
                        </a:rPr>
                        <a:t>个缺陷。</a:t>
                      </a:r>
                      <a:endParaRPr lang="zh-CN" sz="14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en-US" sz="1400" kern="100">
                          <a:effectLst/>
                          <a:latin typeface="幼圆" panose="02010509060101010101" pitchFamily="49" charset="-122"/>
                          <a:ea typeface="幼圆" panose="02010509060101010101" pitchFamily="49" charset="-122"/>
                        </a:rPr>
                        <a:t> </a:t>
                      </a:r>
                      <a:endParaRPr lang="zh-CN" sz="1400" kern="100">
                        <a:effectLst/>
                        <a:latin typeface="幼圆" panose="02010509060101010101" pitchFamily="49" charset="-122"/>
                        <a:ea typeface="幼圆" panose="02010509060101010101" pitchFamily="49" charset="-122"/>
                      </a:endParaRPr>
                    </a:p>
                  </a:txBody>
                  <a:tcPr marL="68580" marR="68580" marT="0" marB="0"/>
                </a:tc>
              </a:tr>
              <a:tr h="899176">
                <a:tc>
                  <a:txBody>
                    <a:bodyPr/>
                    <a:lstStyle/>
                    <a:p>
                      <a:pPr algn="ctr">
                        <a:spcAft>
                          <a:spcPts val="0"/>
                        </a:spcAft>
                      </a:pPr>
                      <a:r>
                        <a:rPr lang="en-US" sz="1400" kern="100" dirty="0">
                          <a:effectLst/>
                          <a:latin typeface="幼圆" panose="02010509060101010101" pitchFamily="49" charset="-122"/>
                          <a:ea typeface="幼圆" panose="02010509060101010101" pitchFamily="49" charset="-122"/>
                        </a:rPr>
                        <a:t>2</a:t>
                      </a:r>
                      <a:endParaRPr lang="zh-CN" sz="14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ctr">
                        <a:spcAft>
                          <a:spcPts val="0"/>
                        </a:spcAft>
                      </a:pPr>
                      <a:r>
                        <a:rPr lang="zh-CN" sz="1400" kern="100">
                          <a:effectLst/>
                          <a:latin typeface="幼圆" panose="02010509060101010101" pitchFamily="49" charset="-122"/>
                          <a:ea typeface="幼圆" panose="02010509060101010101" pitchFamily="49" charset="-122"/>
                        </a:rPr>
                        <a:t>答题功能</a:t>
                      </a:r>
                      <a:endParaRPr lang="zh-CN" sz="14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400" kern="100">
                          <a:effectLst/>
                          <a:latin typeface="幼圆" panose="02010509060101010101" pitchFamily="49" charset="-122"/>
                          <a:ea typeface="幼圆" panose="02010509060101010101" pitchFamily="49" charset="-122"/>
                        </a:rPr>
                        <a:t>选择试卷</a:t>
                      </a:r>
                      <a:endParaRPr lang="zh-CN" sz="1400" kern="100">
                        <a:effectLst/>
                        <a:latin typeface="幼圆" panose="02010509060101010101" pitchFamily="49" charset="-122"/>
                        <a:ea typeface="幼圆" panose="02010509060101010101" pitchFamily="49" charset="-122"/>
                      </a:endParaRPr>
                    </a:p>
                    <a:p>
                      <a:pPr algn="just">
                        <a:spcAft>
                          <a:spcPts val="0"/>
                        </a:spcAft>
                      </a:pPr>
                      <a:r>
                        <a:rPr lang="zh-CN" sz="1400" kern="100">
                          <a:effectLst/>
                          <a:latin typeface="幼圆" panose="02010509060101010101" pitchFamily="49" charset="-122"/>
                          <a:ea typeface="幼圆" panose="02010509060101010101" pitchFamily="49" charset="-122"/>
                        </a:rPr>
                        <a:t>答题</a:t>
                      </a:r>
                      <a:endParaRPr lang="zh-CN" sz="1400" kern="100">
                        <a:effectLst/>
                        <a:latin typeface="幼圆" panose="02010509060101010101" pitchFamily="49" charset="-122"/>
                        <a:ea typeface="幼圆" panose="02010509060101010101" pitchFamily="49" charset="-122"/>
                      </a:endParaRPr>
                    </a:p>
                    <a:p>
                      <a:pPr algn="just">
                        <a:spcAft>
                          <a:spcPts val="0"/>
                        </a:spcAft>
                      </a:pPr>
                      <a:r>
                        <a:rPr lang="zh-CN" sz="1400" kern="100">
                          <a:effectLst/>
                          <a:latin typeface="幼圆" panose="02010509060101010101" pitchFamily="49" charset="-122"/>
                          <a:ea typeface="幼圆" panose="02010509060101010101" pitchFamily="49" charset="-122"/>
                        </a:rPr>
                        <a:t>交卷</a:t>
                      </a:r>
                      <a:endParaRPr lang="zh-CN" sz="1400" kern="100">
                        <a:effectLst/>
                        <a:latin typeface="幼圆" panose="02010509060101010101" pitchFamily="49" charset="-122"/>
                        <a:ea typeface="幼圆" panose="02010509060101010101" pitchFamily="49" charset="-122"/>
                      </a:endParaRPr>
                    </a:p>
                    <a:p>
                      <a:pPr algn="just">
                        <a:spcAft>
                          <a:spcPts val="0"/>
                        </a:spcAft>
                      </a:pPr>
                      <a:r>
                        <a:rPr lang="zh-CN" sz="1400" kern="100">
                          <a:effectLst/>
                          <a:latin typeface="幼圆" panose="02010509060101010101" pitchFamily="49" charset="-122"/>
                          <a:ea typeface="幼圆" panose="02010509060101010101" pitchFamily="49" charset="-122"/>
                        </a:rPr>
                        <a:t>查看分数</a:t>
                      </a:r>
                      <a:endParaRPr lang="zh-CN" sz="14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400" kern="100">
                          <a:effectLst/>
                          <a:latin typeface="幼圆" panose="02010509060101010101" pitchFamily="49" charset="-122"/>
                          <a:ea typeface="幼圆" panose="02010509060101010101" pitchFamily="49" charset="-122"/>
                        </a:rPr>
                        <a:t>功能完整准确实现。</a:t>
                      </a:r>
                      <a:endParaRPr lang="zh-CN" sz="14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en-US" sz="1400" kern="100">
                          <a:effectLst/>
                          <a:latin typeface="幼圆" panose="02010509060101010101" pitchFamily="49" charset="-122"/>
                          <a:ea typeface="幼圆" panose="02010509060101010101" pitchFamily="49" charset="-122"/>
                        </a:rPr>
                        <a:t> </a:t>
                      </a:r>
                      <a:endParaRPr lang="zh-CN" sz="1400" kern="100">
                        <a:effectLst/>
                        <a:latin typeface="幼圆" panose="02010509060101010101" pitchFamily="49" charset="-122"/>
                        <a:ea typeface="幼圆" panose="02010509060101010101" pitchFamily="49" charset="-122"/>
                      </a:endParaRPr>
                    </a:p>
                  </a:txBody>
                  <a:tcPr marL="68580" marR="68580" marT="0" marB="0"/>
                </a:tc>
              </a:tr>
              <a:tr h="449588">
                <a:tc>
                  <a:txBody>
                    <a:bodyPr/>
                    <a:lstStyle/>
                    <a:p>
                      <a:pPr algn="ctr">
                        <a:spcAft>
                          <a:spcPts val="0"/>
                        </a:spcAft>
                      </a:pPr>
                      <a:r>
                        <a:rPr lang="en-US" sz="1400" kern="100" dirty="0">
                          <a:effectLst/>
                          <a:latin typeface="幼圆" panose="02010509060101010101" pitchFamily="49" charset="-122"/>
                          <a:ea typeface="幼圆" panose="02010509060101010101" pitchFamily="49" charset="-122"/>
                        </a:rPr>
                        <a:t>3</a:t>
                      </a:r>
                      <a:endParaRPr lang="zh-CN" sz="14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ctr">
                        <a:spcAft>
                          <a:spcPts val="0"/>
                        </a:spcAft>
                      </a:pPr>
                      <a:r>
                        <a:rPr lang="zh-CN" sz="1400" kern="100">
                          <a:effectLst/>
                          <a:latin typeface="幼圆" panose="02010509060101010101" pitchFamily="49" charset="-122"/>
                          <a:ea typeface="幼圆" panose="02010509060101010101" pitchFamily="49" charset="-122"/>
                        </a:rPr>
                        <a:t>电脑阅卷</a:t>
                      </a:r>
                      <a:endParaRPr lang="zh-CN" sz="14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400" kern="100">
                          <a:effectLst/>
                          <a:latin typeface="幼圆" panose="02010509060101010101" pitchFamily="49" charset="-122"/>
                          <a:ea typeface="幼圆" panose="02010509060101010101" pitchFamily="49" charset="-122"/>
                        </a:rPr>
                        <a:t>核对答案</a:t>
                      </a:r>
                      <a:endParaRPr lang="zh-CN" sz="1400" kern="100">
                        <a:effectLst/>
                        <a:latin typeface="幼圆" panose="02010509060101010101" pitchFamily="49" charset="-122"/>
                        <a:ea typeface="幼圆" panose="02010509060101010101" pitchFamily="49" charset="-122"/>
                      </a:endParaRPr>
                    </a:p>
                    <a:p>
                      <a:pPr algn="just">
                        <a:spcAft>
                          <a:spcPts val="0"/>
                        </a:spcAft>
                      </a:pPr>
                      <a:r>
                        <a:rPr lang="zh-CN" sz="1400" kern="100">
                          <a:effectLst/>
                          <a:latin typeface="幼圆" panose="02010509060101010101" pitchFamily="49" charset="-122"/>
                          <a:ea typeface="幼圆" panose="02010509060101010101" pitchFamily="49" charset="-122"/>
                        </a:rPr>
                        <a:t>计算分数</a:t>
                      </a:r>
                      <a:endParaRPr lang="zh-CN" sz="14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400" kern="100">
                          <a:effectLst/>
                          <a:latin typeface="幼圆" panose="02010509060101010101" pitchFamily="49" charset="-122"/>
                          <a:ea typeface="幼圆" panose="02010509060101010101" pitchFamily="49" charset="-122"/>
                        </a:rPr>
                        <a:t>功能完整准确实现。</a:t>
                      </a:r>
                      <a:endParaRPr lang="zh-CN" sz="14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en-US" sz="1400" kern="100">
                          <a:effectLst/>
                          <a:latin typeface="幼圆" panose="02010509060101010101" pitchFamily="49" charset="-122"/>
                          <a:ea typeface="幼圆" panose="02010509060101010101" pitchFamily="49" charset="-122"/>
                        </a:rPr>
                        <a:t> </a:t>
                      </a:r>
                      <a:endParaRPr lang="zh-CN" sz="1400" kern="100">
                        <a:effectLst/>
                        <a:latin typeface="幼圆" panose="02010509060101010101" pitchFamily="49" charset="-122"/>
                        <a:ea typeface="幼圆" panose="02010509060101010101" pitchFamily="49" charset="-122"/>
                      </a:endParaRPr>
                    </a:p>
                  </a:txBody>
                  <a:tcPr marL="68580" marR="68580" marT="0" marB="0"/>
                </a:tc>
              </a:tr>
              <a:tr h="1025371">
                <a:tc>
                  <a:txBody>
                    <a:bodyPr/>
                    <a:lstStyle/>
                    <a:p>
                      <a:pPr algn="ctr">
                        <a:spcAft>
                          <a:spcPts val="0"/>
                        </a:spcAft>
                      </a:pPr>
                      <a:r>
                        <a:rPr lang="en-US" sz="1400" kern="100">
                          <a:effectLst/>
                          <a:latin typeface="幼圆" panose="02010509060101010101" pitchFamily="49" charset="-122"/>
                          <a:ea typeface="幼圆" panose="02010509060101010101" pitchFamily="49" charset="-122"/>
                        </a:rPr>
                        <a:t>4</a:t>
                      </a:r>
                      <a:endParaRPr lang="zh-CN" sz="14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400" kern="100">
                          <a:effectLst/>
                          <a:latin typeface="幼圆" panose="02010509060101010101" pitchFamily="49" charset="-122"/>
                          <a:ea typeface="幼圆" panose="02010509060101010101" pitchFamily="49" charset="-122"/>
                        </a:rPr>
                        <a:t>智能终端测试</a:t>
                      </a:r>
                      <a:endParaRPr lang="zh-CN" sz="14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400" kern="100">
                          <a:effectLst/>
                          <a:latin typeface="幼圆" panose="02010509060101010101" pitchFamily="49" charset="-122"/>
                          <a:ea typeface="幼圆" panose="02010509060101010101" pitchFamily="49" charset="-122"/>
                        </a:rPr>
                        <a:t>台式机</a:t>
                      </a:r>
                      <a:endParaRPr lang="zh-CN" sz="1400" kern="100">
                        <a:effectLst/>
                        <a:latin typeface="幼圆" panose="02010509060101010101" pitchFamily="49" charset="-122"/>
                        <a:ea typeface="幼圆" panose="02010509060101010101" pitchFamily="49" charset="-122"/>
                      </a:endParaRPr>
                    </a:p>
                    <a:p>
                      <a:pPr algn="just">
                        <a:spcAft>
                          <a:spcPts val="0"/>
                        </a:spcAft>
                      </a:pPr>
                      <a:r>
                        <a:rPr lang="zh-CN" sz="1400" kern="100">
                          <a:effectLst/>
                          <a:latin typeface="幼圆" panose="02010509060101010101" pitchFamily="49" charset="-122"/>
                          <a:ea typeface="幼圆" panose="02010509060101010101" pitchFamily="49" charset="-122"/>
                        </a:rPr>
                        <a:t>笔记本</a:t>
                      </a:r>
                      <a:endParaRPr lang="zh-CN" sz="1400" kern="100">
                        <a:effectLst/>
                        <a:latin typeface="幼圆" panose="02010509060101010101" pitchFamily="49" charset="-122"/>
                        <a:ea typeface="幼圆" panose="02010509060101010101" pitchFamily="49" charset="-122"/>
                      </a:endParaRPr>
                    </a:p>
                    <a:p>
                      <a:pPr algn="just">
                        <a:spcAft>
                          <a:spcPts val="0"/>
                        </a:spcAft>
                      </a:pPr>
                      <a:r>
                        <a:rPr lang="zh-CN" sz="1400" kern="100">
                          <a:effectLst/>
                          <a:latin typeface="幼圆" panose="02010509060101010101" pitchFamily="49" charset="-122"/>
                          <a:ea typeface="幼圆" panose="02010509060101010101" pitchFamily="49" charset="-122"/>
                        </a:rPr>
                        <a:t>平板</a:t>
                      </a:r>
                      <a:endParaRPr lang="zh-CN" sz="1400" kern="100">
                        <a:effectLst/>
                        <a:latin typeface="幼圆" panose="02010509060101010101" pitchFamily="49" charset="-122"/>
                        <a:ea typeface="幼圆" panose="02010509060101010101" pitchFamily="49" charset="-122"/>
                      </a:endParaRPr>
                    </a:p>
                    <a:p>
                      <a:pPr algn="just">
                        <a:spcAft>
                          <a:spcPts val="0"/>
                        </a:spcAft>
                      </a:pPr>
                      <a:r>
                        <a:rPr lang="zh-CN" sz="1400" kern="100">
                          <a:effectLst/>
                          <a:latin typeface="幼圆" panose="02010509060101010101" pitchFamily="49" charset="-122"/>
                          <a:ea typeface="幼圆" panose="02010509060101010101" pitchFamily="49" charset="-122"/>
                        </a:rPr>
                        <a:t>手机</a:t>
                      </a:r>
                      <a:endParaRPr lang="zh-CN" sz="14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400" kern="100">
                          <a:effectLst/>
                          <a:latin typeface="幼圆" panose="02010509060101010101" pitchFamily="49" charset="-122"/>
                          <a:ea typeface="幼圆" panose="02010509060101010101" pitchFamily="49" charset="-122"/>
                        </a:rPr>
                        <a:t>系统支持台式机、笔记本，但不支持平板与手机。</a:t>
                      </a:r>
                      <a:endParaRPr lang="zh-CN" sz="14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400" kern="100">
                          <a:effectLst/>
                          <a:latin typeface="幼圆" panose="02010509060101010101" pitchFamily="49" charset="-122"/>
                          <a:ea typeface="幼圆" panose="02010509060101010101" pitchFamily="49" charset="-122"/>
                        </a:rPr>
                        <a:t>经过测试人员的其他测试，手机模拟器可以登录系统。</a:t>
                      </a:r>
                      <a:endParaRPr lang="zh-CN" sz="1400" kern="100">
                        <a:effectLst/>
                        <a:latin typeface="幼圆" panose="02010509060101010101" pitchFamily="49" charset="-122"/>
                        <a:ea typeface="幼圆" panose="02010509060101010101" pitchFamily="49" charset="-122"/>
                      </a:endParaRPr>
                    </a:p>
                  </a:txBody>
                  <a:tcPr marL="68580" marR="68580" marT="0" marB="0"/>
                </a:tc>
              </a:tr>
              <a:tr h="1123969">
                <a:tc>
                  <a:txBody>
                    <a:bodyPr/>
                    <a:lstStyle/>
                    <a:p>
                      <a:pPr algn="ctr">
                        <a:spcAft>
                          <a:spcPts val="0"/>
                        </a:spcAft>
                      </a:pPr>
                      <a:r>
                        <a:rPr lang="en-US" sz="1400" kern="100">
                          <a:effectLst/>
                          <a:latin typeface="幼圆" panose="02010509060101010101" pitchFamily="49" charset="-122"/>
                          <a:ea typeface="幼圆" panose="02010509060101010101" pitchFamily="49" charset="-122"/>
                        </a:rPr>
                        <a:t>5</a:t>
                      </a:r>
                      <a:endParaRPr lang="zh-CN" sz="14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ctr">
                        <a:spcAft>
                          <a:spcPts val="0"/>
                        </a:spcAft>
                      </a:pPr>
                      <a:r>
                        <a:rPr lang="zh-CN" sz="1400" kern="100" dirty="0">
                          <a:effectLst/>
                          <a:latin typeface="幼圆" panose="02010509060101010101" pitchFamily="49" charset="-122"/>
                          <a:ea typeface="幼圆" panose="02010509060101010101" pitchFamily="49" charset="-122"/>
                        </a:rPr>
                        <a:t>浏览器测试</a:t>
                      </a:r>
                      <a:endParaRPr lang="zh-CN" sz="14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en-US" sz="1400" kern="100">
                          <a:effectLst/>
                          <a:latin typeface="幼圆" panose="02010509060101010101" pitchFamily="49" charset="-122"/>
                          <a:ea typeface="幼圆" panose="02010509060101010101" pitchFamily="49" charset="-122"/>
                        </a:rPr>
                        <a:t>Google</a:t>
                      </a:r>
                      <a:endParaRPr lang="zh-CN" sz="1400" kern="100">
                        <a:effectLst/>
                        <a:latin typeface="幼圆" panose="02010509060101010101" pitchFamily="49" charset="-122"/>
                        <a:ea typeface="幼圆" panose="02010509060101010101" pitchFamily="49" charset="-122"/>
                      </a:endParaRPr>
                    </a:p>
                    <a:p>
                      <a:pPr algn="just">
                        <a:spcAft>
                          <a:spcPts val="0"/>
                        </a:spcAft>
                      </a:pPr>
                      <a:r>
                        <a:rPr lang="en-US" sz="1400" kern="100">
                          <a:effectLst/>
                          <a:latin typeface="幼圆" panose="02010509060101010101" pitchFamily="49" charset="-122"/>
                          <a:ea typeface="幼圆" panose="02010509060101010101" pitchFamily="49" charset="-122"/>
                        </a:rPr>
                        <a:t>Firefox</a:t>
                      </a:r>
                      <a:endParaRPr lang="zh-CN" sz="1400" kern="100">
                        <a:effectLst/>
                        <a:latin typeface="幼圆" panose="02010509060101010101" pitchFamily="49" charset="-122"/>
                        <a:ea typeface="幼圆" panose="02010509060101010101" pitchFamily="49" charset="-122"/>
                      </a:endParaRPr>
                    </a:p>
                    <a:p>
                      <a:pPr algn="just">
                        <a:spcAft>
                          <a:spcPts val="0"/>
                        </a:spcAft>
                      </a:pPr>
                      <a:r>
                        <a:rPr lang="en-US" sz="1400" kern="100">
                          <a:effectLst/>
                          <a:latin typeface="幼圆" panose="02010509060101010101" pitchFamily="49" charset="-122"/>
                          <a:ea typeface="幼圆" panose="02010509060101010101" pitchFamily="49" charset="-122"/>
                        </a:rPr>
                        <a:t>IE</a:t>
                      </a:r>
                      <a:endParaRPr lang="zh-CN" sz="1400" kern="100">
                        <a:effectLst/>
                        <a:latin typeface="幼圆" panose="02010509060101010101" pitchFamily="49" charset="-122"/>
                        <a:ea typeface="幼圆" panose="02010509060101010101" pitchFamily="49" charset="-122"/>
                      </a:endParaRPr>
                    </a:p>
                    <a:p>
                      <a:pPr algn="just">
                        <a:spcAft>
                          <a:spcPts val="0"/>
                        </a:spcAft>
                      </a:pPr>
                      <a:r>
                        <a:rPr lang="en-US" sz="1400" kern="100">
                          <a:effectLst/>
                          <a:latin typeface="幼圆" panose="02010509060101010101" pitchFamily="49" charset="-122"/>
                          <a:ea typeface="幼圆" panose="02010509060101010101" pitchFamily="49" charset="-122"/>
                        </a:rPr>
                        <a:t>Opera</a:t>
                      </a:r>
                      <a:endParaRPr lang="zh-CN" sz="1400" kern="100">
                        <a:effectLst/>
                        <a:latin typeface="幼圆" panose="02010509060101010101" pitchFamily="49" charset="-122"/>
                        <a:ea typeface="幼圆" panose="02010509060101010101" pitchFamily="49" charset="-122"/>
                      </a:endParaRPr>
                    </a:p>
                    <a:p>
                      <a:pPr algn="just">
                        <a:spcAft>
                          <a:spcPts val="0"/>
                        </a:spcAft>
                      </a:pPr>
                      <a:r>
                        <a:rPr lang="en-US" sz="1400" kern="100">
                          <a:effectLst/>
                          <a:latin typeface="幼圆" panose="02010509060101010101" pitchFamily="49" charset="-122"/>
                          <a:ea typeface="幼圆" panose="02010509060101010101" pitchFamily="49" charset="-122"/>
                        </a:rPr>
                        <a:t>Safari</a:t>
                      </a:r>
                      <a:endParaRPr lang="zh-CN" sz="14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400" kern="100">
                          <a:effectLst/>
                          <a:latin typeface="幼圆" panose="02010509060101010101" pitchFamily="49" charset="-122"/>
                          <a:ea typeface="幼圆" panose="02010509060101010101" pitchFamily="49" charset="-122"/>
                        </a:rPr>
                        <a:t>支持所列出的浏览器。</a:t>
                      </a:r>
                      <a:endParaRPr lang="zh-CN" sz="14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en-US" sz="1400" kern="100" dirty="0">
                          <a:effectLst/>
                          <a:latin typeface="幼圆" panose="02010509060101010101" pitchFamily="49" charset="-122"/>
                          <a:ea typeface="幼圆" panose="02010509060101010101" pitchFamily="49" charset="-122"/>
                        </a:rPr>
                        <a:t> </a:t>
                      </a:r>
                      <a:endParaRPr lang="zh-CN" sz="1400" kern="100" dirty="0">
                        <a:effectLst/>
                        <a:latin typeface="幼圆" panose="02010509060101010101" pitchFamily="49" charset="-122"/>
                        <a:ea typeface="幼圆" panose="02010509060101010101" pitchFamily="49" charset="-122"/>
                      </a:endParaRPr>
                    </a:p>
                  </a:txBody>
                  <a:tcPr marL="68580" marR="68580" marT="0" marB="0"/>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arn(inVertical)">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nvSpPr>
        <p:spPr>
          <a:xfrm>
            <a:off x="1922333" y="272228"/>
            <a:ext cx="9167913" cy="5331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rgbClr val="C00000"/>
                </a:solidFill>
                <a:latin typeface="微软雅黑" panose="020B0503020204020204" pitchFamily="34" charset="-122"/>
                <a:ea typeface="微软雅黑" panose="020B0503020204020204" pitchFamily="34" charset="-122"/>
                <a:cs typeface="+mj-cs"/>
              </a:defRPr>
            </a:lvl1pPr>
          </a:lstStyle>
          <a:p>
            <a:pPr marL="0" algn="l" defTabSz="914400" rtl="0" eaLnBrk="1" latinLnBrk="0" hangingPunct="1"/>
            <a:r>
              <a:rPr lang="zh-CN" altLang="en-US" dirty="0" smtClean="0">
                <a:solidFill>
                  <a:srgbClr val="FF0000"/>
                </a:solidFill>
                <a:sym typeface="+mn-ea"/>
              </a:rPr>
              <a:t>测试报告</a:t>
            </a:r>
            <a:endParaRPr lang="zh-CN" altLang="en-US" dirty="0" smtClean="0">
              <a:solidFill>
                <a:srgbClr val="FF0000"/>
              </a:solidFill>
              <a:sym typeface="+mn-ea"/>
            </a:endParaRPr>
          </a:p>
        </p:txBody>
      </p:sp>
      <p:sp>
        <p:nvSpPr>
          <p:cNvPr id="5" name="内容占位符 2"/>
          <p:cNvSpPr txBox="1"/>
          <p:nvPr/>
        </p:nvSpPr>
        <p:spPr>
          <a:xfrm>
            <a:off x="2011680" y="1161673"/>
            <a:ext cx="8662736" cy="1186891"/>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24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、差异分析</a:t>
            </a:r>
            <a:endParaRPr lang="zh-CN" altLang="en-US" sz="24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测试过程中存在的差异如下所示。</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4" name="组合 3"/>
          <p:cNvGrpSpPr/>
          <p:nvPr/>
        </p:nvGrpSpPr>
        <p:grpSpPr>
          <a:xfrm>
            <a:off x="1366787" y="2458050"/>
            <a:ext cx="10077650" cy="3445946"/>
            <a:chOff x="1366787" y="2400300"/>
            <a:chExt cx="10077650" cy="3445946"/>
          </a:xfrm>
        </p:grpSpPr>
        <p:pic>
          <p:nvPicPr>
            <p:cNvPr id="363523"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66787" y="2400300"/>
              <a:ext cx="10077649" cy="34459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1645919" y="2444819"/>
              <a:ext cx="9798518" cy="3397718"/>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zh-CN" altLang="en-US" sz="20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软件</a:t>
              </a:r>
              <a:r>
                <a:rPr lang="zh-CN"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需求说明表明，系统可以让教师发布试卷，但系统在实现时只能在源代码中嵌入试卷，没有让教师发布试卷的入口。</a:t>
              </a:r>
              <a:endParaRPr lang="zh-CN"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zh-CN" altLang="en-US" sz="20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测试计划</a:t>
              </a:r>
              <a:r>
                <a:rPr lang="zh-CN"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以</a:t>
              </a:r>
              <a:r>
                <a:rPr lang="en-US"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Python</a:t>
              </a:r>
              <a:r>
                <a:rPr lang="zh-CN"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脚本自动化测试为主，但在实际测试中是以手工测试为主。</a:t>
              </a:r>
              <a:endParaRPr lang="zh-CN"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zh-CN" altLang="en-US" sz="20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a:t>
              </a:r>
              <a:r>
                <a:rPr lang="zh-CN"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智能终端兼容性测试中，平板与手机无法登录系统，测试人员额外使用手机模拟器进行测试，则可以登录系统，完成答题交卷。</a:t>
              </a:r>
              <a:endParaRPr lang="zh-CN"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en-US" sz="20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a:t>
              </a:r>
              <a:r>
                <a:rPr lang="zh-CN"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测试“发布试卷”功能模块时，由于测试用例</a:t>
              </a:r>
              <a:r>
                <a:rPr lang="en-US"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T_001</a:t>
              </a:r>
              <a:r>
                <a:rPr lang="zh-CN"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已经发现没有管理员登录入口缺陷，因此没有再执行测试用例</a:t>
              </a:r>
              <a:r>
                <a:rPr lang="en-US"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T_002~T_006</a:t>
              </a:r>
              <a:r>
                <a:rPr lang="zh-CN"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nvSpPr>
        <p:spPr>
          <a:xfrm>
            <a:off x="1922333" y="272228"/>
            <a:ext cx="9167913" cy="5331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rgbClr val="C00000"/>
                </a:solidFill>
                <a:latin typeface="微软雅黑" panose="020B0503020204020204" pitchFamily="34" charset="-122"/>
                <a:ea typeface="微软雅黑" panose="020B0503020204020204" pitchFamily="34" charset="-122"/>
                <a:cs typeface="+mj-cs"/>
              </a:defRPr>
            </a:lvl1pPr>
          </a:lstStyle>
          <a:p>
            <a:pPr marL="0" algn="l" defTabSz="914400" rtl="0" eaLnBrk="1" latinLnBrk="0" hangingPunct="1"/>
            <a:r>
              <a:rPr lang="zh-CN" altLang="en-US" dirty="0" smtClean="0">
                <a:solidFill>
                  <a:srgbClr val="FF0000"/>
                </a:solidFill>
                <a:sym typeface="+mn-ea"/>
              </a:rPr>
              <a:t>测试报告</a:t>
            </a:r>
            <a:endParaRPr lang="zh-CN" altLang="en-US" dirty="0" smtClean="0">
              <a:solidFill>
                <a:srgbClr val="FF0000"/>
              </a:solidFill>
              <a:sym typeface="+mn-ea"/>
            </a:endParaRPr>
          </a:p>
        </p:txBody>
      </p:sp>
      <p:sp>
        <p:nvSpPr>
          <p:cNvPr id="18" name="内容占位符 2"/>
          <p:cNvSpPr txBox="1"/>
          <p:nvPr/>
        </p:nvSpPr>
        <p:spPr>
          <a:xfrm>
            <a:off x="2011680" y="1161673"/>
            <a:ext cx="8662736" cy="1215767"/>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24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、差异分析</a:t>
            </a:r>
            <a:endParaRPr lang="en-US" altLang="zh-CN" sz="24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en-US"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对上述差异进行分析。</a:t>
            </a:r>
            <a:endParaRPr lang="en-US" altLang="zh-CN"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9" name="组合 18"/>
          <p:cNvGrpSpPr/>
          <p:nvPr/>
        </p:nvGrpSpPr>
        <p:grpSpPr>
          <a:xfrm>
            <a:off x="1357161" y="2502569"/>
            <a:ext cx="10154653" cy="3003082"/>
            <a:chOff x="1357161" y="2502569"/>
            <a:chExt cx="10154653" cy="3003082"/>
          </a:xfrm>
        </p:grpSpPr>
        <p:pic>
          <p:nvPicPr>
            <p:cNvPr id="2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57161" y="2502569"/>
              <a:ext cx="10154653" cy="298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 name="内容占位符 2"/>
            <p:cNvSpPr txBox="1"/>
            <p:nvPr/>
          </p:nvSpPr>
          <p:spPr>
            <a:xfrm>
              <a:off x="1645919" y="2502569"/>
              <a:ext cx="9798518" cy="3003082"/>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zh-CN" altLang="en-US" sz="20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软件</a:t>
              </a:r>
              <a:r>
                <a:rPr lang="zh-CN"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实现与需求不符，不能满足用户需求，会造成系统可用性下降，达不到教学使用的目的。</a:t>
              </a:r>
              <a:endParaRPr lang="zh-CN"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en-US" sz="20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a:t>
              </a:r>
              <a:r>
                <a:rPr lang="zh-CN"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测试中，以手工测试为主，可以达到更高的准确度，但效率略低。</a:t>
              </a:r>
              <a:endParaRPr lang="zh-CN"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en-US" sz="20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手机</a:t>
              </a:r>
              <a:r>
                <a:rPr lang="zh-CN"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模拟器可以登录系统，表明系统设计没有问题。</a:t>
              </a:r>
              <a:endParaRPr lang="zh-CN"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en-US" sz="20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测试用例</a:t>
              </a:r>
              <a:r>
                <a:rPr lang="en-US"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T_002~T_006</a:t>
              </a:r>
              <a:r>
                <a:rPr lang="zh-CN"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未执行，不表明录入试卷标题、题型、题目、考试时间、答案功能未实现。</a:t>
              </a:r>
              <a:endParaRPr lang="zh-CN"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up)">
                                      <p:cBhvr>
                                        <p:cTn id="7" dur="500"/>
                                        <p:tgtEl>
                                          <p:spTgt spid="18"/>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right)">
                                      <p:cBhvr>
                                        <p:cTn id="1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nvSpPr>
        <p:spPr>
          <a:xfrm>
            <a:off x="1922333" y="272228"/>
            <a:ext cx="9167913" cy="5331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rgbClr val="C00000"/>
                </a:solidFill>
                <a:latin typeface="微软雅黑" panose="020B0503020204020204" pitchFamily="34" charset="-122"/>
                <a:ea typeface="微软雅黑" panose="020B0503020204020204" pitchFamily="34" charset="-122"/>
                <a:cs typeface="+mj-cs"/>
              </a:defRPr>
            </a:lvl1pPr>
          </a:lstStyle>
          <a:p>
            <a:pPr marL="0" algn="l" defTabSz="914400" rtl="0" eaLnBrk="1" latinLnBrk="0" hangingPunct="1"/>
            <a:r>
              <a:rPr lang="zh-CN" altLang="en-US" dirty="0" smtClean="0">
                <a:solidFill>
                  <a:srgbClr val="FF0000"/>
                </a:solidFill>
                <a:sym typeface="+mn-ea"/>
              </a:rPr>
              <a:t>测试报告</a:t>
            </a:r>
            <a:endParaRPr lang="zh-CN" altLang="en-US" dirty="0" smtClean="0">
              <a:solidFill>
                <a:srgbClr val="FF0000"/>
              </a:solidFill>
              <a:sym typeface="+mn-ea"/>
            </a:endParaRPr>
          </a:p>
        </p:txBody>
      </p:sp>
      <p:sp>
        <p:nvSpPr>
          <p:cNvPr id="5" name="内容占位符 2"/>
          <p:cNvSpPr txBox="1"/>
          <p:nvPr/>
        </p:nvSpPr>
        <p:spPr>
          <a:xfrm>
            <a:off x="1905799" y="1440806"/>
            <a:ext cx="5380523" cy="417072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七、测试总结和评价</a:t>
            </a:r>
            <a:endParaRPr lang="en-US" altLang="zh-CN" sz="24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本</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报告主要对整个测试过程和结果进行总结。整个测试过程包括系统的功能测试和兼容性测试，软件缺陷主要集中在功能测试中的“发布试卷”模块，发现了</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6</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个严重缺陷。此外在智能终端的兼容性测试中，发现了</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个一般缺陷。</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9"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571077" y="1461884"/>
            <a:ext cx="3555799" cy="437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1000"/>
                                        <p:tgtEl>
                                          <p:spTgt spid="9"/>
                                        </p:tgtEl>
                                      </p:cBhvr>
                                    </p:animEffect>
                                    <p:anim calcmode="lin" valueType="num">
                                      <p:cBhvr>
                                        <p:cTn id="12" dur="1000" fill="hold"/>
                                        <p:tgtEl>
                                          <p:spTgt spid="9"/>
                                        </p:tgtEl>
                                        <p:attrNameLst>
                                          <p:attrName>ppt_x</p:attrName>
                                        </p:attrNameLst>
                                      </p:cBhvr>
                                      <p:tavLst>
                                        <p:tav tm="0">
                                          <p:val>
                                            <p:strVal val="#ppt_x"/>
                                          </p:val>
                                        </p:tav>
                                        <p:tav tm="100000">
                                          <p:val>
                                            <p:strVal val="#ppt_x"/>
                                          </p:val>
                                        </p:tav>
                                      </p:tavLst>
                                    </p:anim>
                                    <p:anim calcmode="lin" valueType="num">
                                      <p:cBhvr>
                                        <p:cTn id="1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nvSpPr>
        <p:spPr>
          <a:xfrm>
            <a:off x="1922333" y="272228"/>
            <a:ext cx="9167913" cy="5331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rgbClr val="C00000"/>
                </a:solidFill>
                <a:latin typeface="微软雅黑" panose="020B0503020204020204" pitchFamily="34" charset="-122"/>
                <a:ea typeface="微软雅黑" panose="020B0503020204020204" pitchFamily="34" charset="-122"/>
                <a:cs typeface="+mj-cs"/>
              </a:defRPr>
            </a:lvl1pPr>
          </a:lstStyle>
          <a:p>
            <a:pPr marL="0" algn="l" defTabSz="914400" rtl="0" eaLnBrk="1" latinLnBrk="0" hangingPunct="1"/>
            <a:r>
              <a:rPr lang="zh-CN" altLang="en-US" dirty="0" smtClean="0">
                <a:solidFill>
                  <a:srgbClr val="FF0000"/>
                </a:solidFill>
                <a:sym typeface="+mn-ea"/>
              </a:rPr>
              <a:t>测试报告</a:t>
            </a:r>
            <a:endParaRPr lang="zh-CN" altLang="en-US" dirty="0" smtClean="0">
              <a:solidFill>
                <a:srgbClr val="FF0000"/>
              </a:solidFill>
              <a:sym typeface="+mn-ea"/>
            </a:endParaRPr>
          </a:p>
        </p:txBody>
      </p:sp>
      <p:sp>
        <p:nvSpPr>
          <p:cNvPr id="2" name="内容占位符 2"/>
          <p:cNvSpPr txBox="1"/>
          <p:nvPr/>
        </p:nvSpPr>
        <p:spPr>
          <a:xfrm>
            <a:off x="1905799" y="1652556"/>
            <a:ext cx="9047750" cy="3140819"/>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七、测试总结和评价</a:t>
            </a:r>
            <a:endParaRPr lang="en-US" altLang="zh-CN" sz="24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其他</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未及测试而可能存在的缺陷如下：</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zh-CN" altLang="en-US"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保存</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功能：学生答题交卷完成之后，答过的试卷与分数是否可以长期保存以供查阅。</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en-US"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删除</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功能：如果教师发布了错误试题，是否可以将其删除。</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nvSpPr>
        <p:spPr>
          <a:xfrm>
            <a:off x="1922333" y="272228"/>
            <a:ext cx="9167913" cy="5331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rgbClr val="C00000"/>
                </a:solidFill>
                <a:latin typeface="微软雅黑" panose="020B0503020204020204" pitchFamily="34" charset="-122"/>
                <a:ea typeface="微软雅黑" panose="020B0503020204020204" pitchFamily="34" charset="-122"/>
                <a:cs typeface="+mj-cs"/>
              </a:defRPr>
            </a:lvl1pPr>
          </a:lstStyle>
          <a:p>
            <a:pPr marL="0" algn="l" defTabSz="914400" rtl="0" eaLnBrk="1" latinLnBrk="0" hangingPunct="1"/>
            <a:r>
              <a:rPr lang="zh-CN" altLang="en-US" dirty="0" smtClean="0">
                <a:solidFill>
                  <a:srgbClr val="FF0000"/>
                </a:solidFill>
                <a:sym typeface="+mn-ea"/>
              </a:rPr>
              <a:t>测试报告</a:t>
            </a:r>
            <a:endParaRPr lang="zh-CN" altLang="en-US" dirty="0" smtClean="0">
              <a:solidFill>
                <a:srgbClr val="FF0000"/>
              </a:solidFill>
              <a:sym typeface="+mn-ea"/>
            </a:endParaRPr>
          </a:p>
        </p:txBody>
      </p:sp>
      <p:sp>
        <p:nvSpPr>
          <p:cNvPr id="5" name="内容占位符 2"/>
          <p:cNvSpPr txBox="1"/>
          <p:nvPr/>
        </p:nvSpPr>
        <p:spPr>
          <a:xfrm>
            <a:off x="6095999" y="1806562"/>
            <a:ext cx="4995514" cy="3419958"/>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结论</a:t>
            </a:r>
            <a:r>
              <a:rPr lang="zh-CN" altLang="en-US"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由于</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“在线考试系统”存在较多严重缺陷，整个“发布试卷”功能没有实现，这些缺陷是用户明确提出的需求，因此该系统未通过本次测试，不能予以发布。</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36557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64065" y="1585760"/>
            <a:ext cx="2914401" cy="41758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365570"/>
                                        </p:tgtEl>
                                        <p:attrNameLst>
                                          <p:attrName>style.visibility</p:attrName>
                                        </p:attrNameLst>
                                      </p:cBhvr>
                                      <p:to>
                                        <p:strVal val="visible"/>
                                      </p:to>
                                    </p:set>
                                    <p:animEffect transition="in" filter="fade">
                                      <p:cBhvr>
                                        <p:cTn id="11" dur="1000"/>
                                        <p:tgtEl>
                                          <p:spTgt spid="365570"/>
                                        </p:tgtEl>
                                      </p:cBhvr>
                                    </p:animEffect>
                                    <p:anim calcmode="lin" valueType="num">
                                      <p:cBhvr>
                                        <p:cTn id="12" dur="1000" fill="hold"/>
                                        <p:tgtEl>
                                          <p:spTgt spid="365570"/>
                                        </p:tgtEl>
                                        <p:attrNameLst>
                                          <p:attrName>ppt_x</p:attrName>
                                        </p:attrNameLst>
                                      </p:cBhvr>
                                      <p:tavLst>
                                        <p:tav tm="0">
                                          <p:val>
                                            <p:strVal val="#ppt_x"/>
                                          </p:val>
                                        </p:tav>
                                        <p:tav tm="100000">
                                          <p:val>
                                            <p:strVal val="#ppt_x"/>
                                          </p:val>
                                        </p:tav>
                                      </p:tavLst>
                                    </p:anim>
                                    <p:anim calcmode="lin" valueType="num">
                                      <p:cBhvr>
                                        <p:cTn id="13" dur="1000" fill="hold"/>
                                        <p:tgtEl>
                                          <p:spTgt spid="36557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nvSpPr>
        <p:spPr>
          <a:xfrm>
            <a:off x="1922333" y="272228"/>
            <a:ext cx="9167913" cy="5331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rgbClr val="C00000"/>
                </a:solidFill>
                <a:latin typeface="微软雅黑" panose="020B0503020204020204" pitchFamily="34" charset="-122"/>
                <a:ea typeface="微软雅黑" panose="020B0503020204020204" pitchFamily="34" charset="-122"/>
                <a:cs typeface="+mj-cs"/>
              </a:defRPr>
            </a:lvl1pPr>
          </a:lstStyle>
          <a:p>
            <a:pPr marL="0" algn="l" defTabSz="914400" rtl="0" eaLnBrk="1" latinLnBrk="0" hangingPunct="1"/>
            <a:r>
              <a:rPr lang="zh-CN" altLang="en-US" dirty="0" smtClean="0">
                <a:solidFill>
                  <a:srgbClr val="FF0000"/>
                </a:solidFill>
                <a:sym typeface="+mn-ea"/>
              </a:rPr>
              <a:t>测试报告</a:t>
            </a:r>
            <a:endParaRPr lang="zh-CN" altLang="en-US" dirty="0" smtClean="0">
              <a:solidFill>
                <a:srgbClr val="FF0000"/>
              </a:solidFill>
              <a:sym typeface="+mn-ea"/>
            </a:endParaRPr>
          </a:p>
        </p:txBody>
      </p:sp>
      <p:sp>
        <p:nvSpPr>
          <p:cNvPr id="2" name="内容占位符 2"/>
          <p:cNvSpPr txBox="1"/>
          <p:nvPr/>
        </p:nvSpPr>
        <p:spPr>
          <a:xfrm>
            <a:off x="1665166" y="1508179"/>
            <a:ext cx="9663764" cy="4016722"/>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八、建议</a:t>
            </a:r>
            <a:endParaRPr lang="en-US" altLang="zh-CN"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）实现“发布试卷”功能，让教师可以管理员身份登录发布试卷，录入项包括试卷标题、题型、题目、考试时间、答案。</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）建议丰富题目类型，不能只有判断、单选、多选、填空</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种题型。</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）完善系统使其兼容平板与手机智能终端。</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）确认系统具有保存试卷与分数的功能。</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5</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）在实现“发布试卷”功能时，确认教师可以删除错误试题。</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5"/>
          <p:cNvSpPr>
            <a:spLocks noGrp="1"/>
          </p:cNvSpPr>
          <p:nvPr/>
        </p:nvSpPr>
        <p:spPr>
          <a:xfrm>
            <a:off x="0" y="2704288"/>
            <a:ext cx="12192000" cy="629505"/>
          </a:xfrm>
          <a:prstGeom prst="rect">
            <a:avLst/>
          </a:prstGeom>
        </p:spPr>
        <p:txBody>
          <a:bodyPr anchor="b"/>
          <a:lstStyle>
            <a:lvl1pPr algn="ctr" defTabSz="914400" rtl="0" eaLnBrk="1" latinLnBrk="0" hangingPunct="1">
              <a:lnSpc>
                <a:spcPct val="90000"/>
              </a:lnSpc>
              <a:spcBef>
                <a:spcPct val="0"/>
              </a:spcBef>
              <a:buNone/>
              <a:defRPr sz="3600" b="1" kern="1200">
                <a:solidFill>
                  <a:srgbClr val="C00000"/>
                </a:solidFill>
                <a:latin typeface="微软雅黑" panose="020B0503020204020204" pitchFamily="34" charset="-122"/>
                <a:ea typeface="微软雅黑" panose="020B0503020204020204" pitchFamily="34" charset="-122"/>
                <a:cs typeface="+mj-cs"/>
              </a:defRPr>
            </a:lvl1pPr>
          </a:lstStyle>
          <a:p>
            <a:r>
              <a:rPr lang="zh-CN" altLang="en-US" b="0" spc="200" dirty="0">
                <a:solidFill>
                  <a:srgbClr val="FF0000"/>
                </a:solidFill>
                <a:effectLst>
                  <a:outerShdw blurRad="38100" dist="38100" dir="2700000" algn="tl">
                    <a:srgbClr val="000000">
                      <a:alpha val="43137"/>
                    </a:srgbClr>
                  </a:outerShdw>
                </a:effectLst>
                <a:latin typeface="Arial" panose="020B0604020202020204" pitchFamily="34" charset="0"/>
                <a:ea typeface="汉仪旗黑-85S" panose="00020600040101010101" pitchFamily="18" charset="-122"/>
                <a:cs typeface="+mn-cs"/>
              </a:rPr>
              <a:t>缺陷</a:t>
            </a:r>
            <a:r>
              <a:rPr lang="zh-CN" altLang="en-US" b="0" spc="200" dirty="0">
                <a:solidFill>
                  <a:srgbClr val="FF0000"/>
                </a:solidFill>
                <a:effectLst>
                  <a:outerShdw blurRad="38100" dist="38100" dir="2700000" algn="tl">
                    <a:srgbClr val="000000">
                      <a:alpha val="43137"/>
                    </a:srgbClr>
                  </a:outerShdw>
                </a:effectLst>
                <a:latin typeface="Arial" panose="020B0604020202020204" pitchFamily="34" charset="0"/>
                <a:ea typeface="汉仪旗黑-85S" panose="00020600040101010101" pitchFamily="18" charset="-122"/>
                <a:cs typeface="+mn-cs"/>
              </a:rPr>
              <a:t>报告</a:t>
            </a:r>
            <a:endParaRPr lang="zh-CN" altLang="en-US" b="0" spc="200" dirty="0">
              <a:solidFill>
                <a:srgbClr val="FF0000"/>
              </a:solidFill>
              <a:effectLst>
                <a:outerShdw blurRad="38100" dist="38100" dir="2700000" algn="tl">
                  <a:srgbClr val="000000">
                    <a:alpha val="43137"/>
                  </a:srgbClr>
                </a:outerShdw>
              </a:effectLst>
              <a:latin typeface="Arial" panose="020B0604020202020204" pitchFamily="34" charset="0"/>
              <a:ea typeface="汉仪旗黑-85S" panose="00020600040101010101" pitchFamily="18"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nvSpPr>
        <p:spPr>
          <a:xfrm>
            <a:off x="1922333" y="272228"/>
            <a:ext cx="9167913" cy="5331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rgbClr val="C00000"/>
                </a:solidFill>
                <a:latin typeface="微软雅黑" panose="020B0503020204020204" pitchFamily="34" charset="-122"/>
                <a:ea typeface="微软雅黑" panose="020B0503020204020204" pitchFamily="34" charset="-122"/>
                <a:cs typeface="+mj-cs"/>
              </a:defRPr>
            </a:lvl1pPr>
          </a:lstStyle>
          <a:p>
            <a:pPr marL="0" algn="l" defTabSz="914400" rtl="0" eaLnBrk="1" latinLnBrk="0" hangingPunct="1"/>
            <a:r>
              <a:rPr lang="zh-CN" altLang="en-US" dirty="0" smtClean="0">
                <a:solidFill>
                  <a:srgbClr val="FF0000"/>
                </a:solidFill>
                <a:sym typeface="+mn-ea"/>
              </a:rPr>
              <a:t>缺陷报告</a:t>
            </a:r>
            <a:endParaRPr lang="zh-CN" altLang="en-US" dirty="0" smtClean="0">
              <a:solidFill>
                <a:srgbClr val="FF0000"/>
              </a:solidFill>
              <a:sym typeface="+mn-ea"/>
            </a:endParaRPr>
          </a:p>
        </p:txBody>
      </p:sp>
      <p:sp>
        <p:nvSpPr>
          <p:cNvPr id="5" name="内容占位符 2"/>
          <p:cNvSpPr txBox="1"/>
          <p:nvPr/>
        </p:nvSpPr>
        <p:spPr>
          <a:xfrm>
            <a:off x="5120641" y="1152047"/>
            <a:ext cx="2829826" cy="724882"/>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Bug_001</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缺陷报告</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2" name="表格 1"/>
          <p:cNvGraphicFramePr>
            <a:graphicFrameLocks noGrp="1"/>
          </p:cNvGraphicFramePr>
          <p:nvPr>
            <p:custDataLst>
              <p:tags r:id="rId1"/>
            </p:custDataLst>
          </p:nvPr>
        </p:nvGraphicFramePr>
        <p:xfrm>
          <a:off x="2348560" y="1780674"/>
          <a:ext cx="8287352" cy="4417995"/>
        </p:xfrm>
        <a:graphic>
          <a:graphicData uri="http://schemas.openxmlformats.org/drawingml/2006/table">
            <a:tbl>
              <a:tblPr firstRow="1" firstCol="1" bandRow="1">
                <a:tableStyleId>{5C22544A-7EE6-4342-B048-85BDC9FD1C3A}</a:tableStyleId>
              </a:tblPr>
              <a:tblGrid>
                <a:gridCol w="2173460"/>
                <a:gridCol w="6113892"/>
              </a:tblGrid>
              <a:tr h="348206">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缺陷</a:t>
                      </a:r>
                      <a:r>
                        <a:rPr lang="en-US" sz="1600" kern="100" dirty="0">
                          <a:effectLst/>
                          <a:latin typeface="幼圆" panose="02010509060101010101" pitchFamily="49" charset="-122"/>
                          <a:ea typeface="幼圆" panose="02010509060101010101" pitchFamily="49" charset="-122"/>
                        </a:rPr>
                        <a:t>ID</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en-US" sz="1600" kern="100" dirty="0">
                          <a:effectLst/>
                          <a:latin typeface="幼圆" panose="02010509060101010101" pitchFamily="49" charset="-122"/>
                          <a:ea typeface="幼圆" panose="02010509060101010101" pitchFamily="49" charset="-122"/>
                        </a:rPr>
                        <a:t>Bug_001</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251956">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测试软件名称</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在线考试系统</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251956">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测试软件版本</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en-US" sz="1600" kern="100" dirty="0">
                          <a:effectLst/>
                          <a:latin typeface="幼圆" panose="02010509060101010101" pitchFamily="49" charset="-122"/>
                          <a:ea typeface="幼圆" panose="02010509060101010101" pitchFamily="49" charset="-122"/>
                        </a:rPr>
                        <a:t>1.0</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251956">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缺陷发现日期</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en-US" sz="1600" kern="100">
                          <a:effectLst/>
                          <a:latin typeface="幼圆" panose="02010509060101010101" pitchFamily="49" charset="-122"/>
                          <a:ea typeface="幼圆" panose="02010509060101010101" pitchFamily="49" charset="-122"/>
                        </a:rPr>
                        <a:t>2019.05.06</a:t>
                      </a:r>
                      <a:endParaRPr lang="zh-CN" sz="1600" kern="100">
                        <a:effectLst/>
                        <a:latin typeface="幼圆" panose="02010509060101010101" pitchFamily="49" charset="-122"/>
                        <a:ea typeface="幼圆" panose="02010509060101010101" pitchFamily="49" charset="-122"/>
                      </a:endParaRPr>
                    </a:p>
                  </a:txBody>
                  <a:tcPr marL="68580" marR="68580" marT="0" marB="0" anchor="ctr"/>
                </a:tc>
              </a:tr>
              <a:tr h="251956">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测试人员</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a:effectLst/>
                          <a:latin typeface="幼圆" panose="02010509060101010101" pitchFamily="49" charset="-122"/>
                          <a:ea typeface="幼圆" panose="02010509060101010101" pitchFamily="49" charset="-122"/>
                        </a:rPr>
                        <a:t>薛蒙蒙</a:t>
                      </a:r>
                      <a:r>
                        <a:rPr lang="en-US" sz="1600" kern="100">
                          <a:effectLst/>
                          <a:latin typeface="幼圆" panose="02010509060101010101" pitchFamily="49" charset="-122"/>
                          <a:ea typeface="幼圆" panose="02010509060101010101" pitchFamily="49" charset="-122"/>
                        </a:rPr>
                        <a:t>   </a:t>
                      </a:r>
                      <a:r>
                        <a:rPr lang="zh-CN" sz="1600" kern="100">
                          <a:effectLst/>
                          <a:latin typeface="幼圆" panose="02010509060101010101" pitchFamily="49" charset="-122"/>
                          <a:ea typeface="幼圆" panose="02010509060101010101" pitchFamily="49" charset="-122"/>
                        </a:rPr>
                        <a:t>李卓</a:t>
                      </a:r>
                      <a:endParaRPr lang="zh-CN" sz="1600" kern="100">
                        <a:effectLst/>
                        <a:latin typeface="幼圆" panose="02010509060101010101" pitchFamily="49" charset="-122"/>
                        <a:ea typeface="幼圆" panose="02010509060101010101" pitchFamily="49" charset="-122"/>
                      </a:endParaRPr>
                    </a:p>
                  </a:txBody>
                  <a:tcPr marL="68580" marR="68580" marT="0" marB="0" anchor="ctr"/>
                </a:tc>
              </a:tr>
              <a:tr h="251956">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缺陷描述</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a:effectLst/>
                          <a:latin typeface="幼圆" panose="02010509060101010101" pitchFamily="49" charset="-122"/>
                          <a:ea typeface="幼圆" panose="02010509060101010101" pitchFamily="49" charset="-122"/>
                        </a:rPr>
                        <a:t>该版本系统没有管理员登录入口，无法完成试卷的录入与发布。</a:t>
                      </a:r>
                      <a:endParaRPr lang="zh-CN" sz="1600" kern="100">
                        <a:effectLst/>
                        <a:latin typeface="幼圆" panose="02010509060101010101" pitchFamily="49" charset="-122"/>
                        <a:ea typeface="幼圆" panose="02010509060101010101" pitchFamily="49" charset="-122"/>
                      </a:endParaRPr>
                    </a:p>
                  </a:txBody>
                  <a:tcPr marL="68580" marR="68580" marT="0" marB="0" anchor="ctr"/>
                </a:tc>
              </a:tr>
              <a:tr h="251956">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附件</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a:effectLst/>
                          <a:latin typeface="幼圆" panose="02010509060101010101" pitchFamily="49" charset="-122"/>
                          <a:ea typeface="幼圆" panose="02010509060101010101" pitchFamily="49" charset="-122"/>
                        </a:rPr>
                        <a:t>无</a:t>
                      </a:r>
                      <a:endParaRPr lang="zh-CN" sz="1600" kern="100">
                        <a:effectLst/>
                        <a:latin typeface="幼圆" panose="02010509060101010101" pitchFamily="49" charset="-122"/>
                        <a:ea typeface="幼圆" panose="02010509060101010101" pitchFamily="49" charset="-122"/>
                      </a:endParaRPr>
                    </a:p>
                  </a:txBody>
                  <a:tcPr marL="68580" marR="68580" marT="0" marB="0" anchor="ctr"/>
                </a:tc>
              </a:tr>
              <a:tr h="251956">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缺陷类型</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a:effectLst/>
                          <a:latin typeface="幼圆" panose="02010509060101010101" pitchFamily="49" charset="-122"/>
                          <a:ea typeface="幼圆" panose="02010509060101010101" pitchFamily="49" charset="-122"/>
                        </a:rPr>
                        <a:t>功能类型缺陷</a:t>
                      </a:r>
                      <a:endParaRPr lang="zh-CN" sz="1600" kern="100">
                        <a:effectLst/>
                        <a:latin typeface="幼圆" panose="02010509060101010101" pitchFamily="49" charset="-122"/>
                        <a:ea typeface="幼圆" panose="02010509060101010101" pitchFamily="49" charset="-122"/>
                      </a:endParaRPr>
                    </a:p>
                  </a:txBody>
                  <a:tcPr marL="68580" marR="68580" marT="0" marB="0" anchor="ctr"/>
                </a:tc>
              </a:tr>
              <a:tr h="251956">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缺陷严重程度</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严重</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251956">
                <a:tc>
                  <a:txBody>
                    <a:bodyPr/>
                    <a:lstStyle/>
                    <a:p>
                      <a:pPr algn="just">
                        <a:spcAft>
                          <a:spcPts val="0"/>
                        </a:spcAft>
                      </a:pPr>
                      <a:r>
                        <a:rPr lang="zh-CN" sz="1600" kern="100">
                          <a:effectLst/>
                          <a:latin typeface="幼圆" panose="02010509060101010101" pitchFamily="49" charset="-122"/>
                          <a:ea typeface="幼圆" panose="02010509060101010101" pitchFamily="49" charset="-122"/>
                        </a:rPr>
                        <a:t>缺陷优先级</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立即解决</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755867">
                <a:tc>
                  <a:txBody>
                    <a:bodyPr/>
                    <a:lstStyle/>
                    <a:p>
                      <a:pPr algn="just">
                        <a:spcAft>
                          <a:spcPts val="0"/>
                        </a:spcAft>
                      </a:pPr>
                      <a:r>
                        <a:rPr lang="zh-CN" sz="1600" kern="100">
                          <a:effectLst/>
                          <a:latin typeface="幼圆" panose="02010509060101010101" pitchFamily="49" charset="-122"/>
                          <a:ea typeface="幼圆" panose="02010509060101010101" pitchFamily="49" charset="-122"/>
                        </a:rPr>
                        <a:t>测试环境</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处理器：</a:t>
                      </a:r>
                      <a:r>
                        <a:rPr lang="en-US" sz="1600" kern="100" dirty="0">
                          <a:effectLst/>
                          <a:latin typeface="幼圆" panose="02010509060101010101" pitchFamily="49" charset="-122"/>
                          <a:ea typeface="幼圆" panose="02010509060101010101" pitchFamily="49" charset="-122"/>
                        </a:rPr>
                        <a:t>Intel(R) Core(TM) i3-4160 CPU @ 3.6GHz 3.60GHz</a:t>
                      </a:r>
                      <a:endParaRPr lang="zh-CN" sz="1600" kern="100" dirty="0">
                        <a:effectLst/>
                        <a:latin typeface="幼圆" panose="02010509060101010101" pitchFamily="49" charset="-122"/>
                        <a:ea typeface="幼圆" panose="02010509060101010101" pitchFamily="49" charset="-122"/>
                      </a:endParaRPr>
                    </a:p>
                    <a:p>
                      <a:pPr algn="just">
                        <a:spcAft>
                          <a:spcPts val="0"/>
                        </a:spcAft>
                      </a:pPr>
                      <a:r>
                        <a:rPr lang="zh-CN" sz="1600" kern="100" dirty="0">
                          <a:effectLst/>
                          <a:latin typeface="幼圆" panose="02010509060101010101" pitchFamily="49" charset="-122"/>
                          <a:ea typeface="幼圆" panose="02010509060101010101" pitchFamily="49" charset="-122"/>
                        </a:rPr>
                        <a:t>内存：</a:t>
                      </a:r>
                      <a:r>
                        <a:rPr lang="en-US" sz="1600" kern="100" dirty="0">
                          <a:effectLst/>
                          <a:latin typeface="幼圆" panose="02010509060101010101" pitchFamily="49" charset="-122"/>
                          <a:ea typeface="幼圆" panose="02010509060101010101" pitchFamily="49" charset="-122"/>
                        </a:rPr>
                        <a:t>8.0GB</a:t>
                      </a:r>
                      <a:endParaRPr lang="zh-CN" sz="1600" kern="100" dirty="0">
                        <a:effectLst/>
                        <a:latin typeface="幼圆" panose="02010509060101010101" pitchFamily="49" charset="-122"/>
                        <a:ea typeface="幼圆" panose="02010509060101010101" pitchFamily="49" charset="-122"/>
                      </a:endParaRPr>
                    </a:p>
                    <a:p>
                      <a:pPr algn="just">
                        <a:spcAft>
                          <a:spcPts val="0"/>
                        </a:spcAft>
                      </a:pPr>
                      <a:r>
                        <a:rPr lang="zh-CN" sz="1600" kern="100" dirty="0">
                          <a:effectLst/>
                          <a:latin typeface="幼圆" panose="02010509060101010101" pitchFamily="49" charset="-122"/>
                          <a:ea typeface="幼圆" panose="02010509060101010101" pitchFamily="49" charset="-122"/>
                        </a:rPr>
                        <a:t>系统类型：</a:t>
                      </a:r>
                      <a:r>
                        <a:rPr lang="en-US" sz="1600" kern="100" dirty="0">
                          <a:effectLst/>
                          <a:latin typeface="幼圆" panose="02010509060101010101" pitchFamily="49" charset="-122"/>
                          <a:ea typeface="幼圆" panose="02010509060101010101" pitchFamily="49" charset="-122"/>
                        </a:rPr>
                        <a:t>windows10 64</a:t>
                      </a:r>
                      <a:r>
                        <a:rPr lang="zh-CN" sz="1600" kern="100" dirty="0">
                          <a:effectLst/>
                          <a:latin typeface="幼圆" panose="02010509060101010101" pitchFamily="49" charset="-122"/>
                          <a:ea typeface="幼圆" panose="02010509060101010101" pitchFamily="49" charset="-122"/>
                        </a:rPr>
                        <a:t>操作系统</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755867">
                <a:tc>
                  <a:txBody>
                    <a:bodyPr/>
                    <a:lstStyle/>
                    <a:p>
                      <a:pPr algn="just">
                        <a:spcAft>
                          <a:spcPts val="0"/>
                        </a:spcAft>
                      </a:pPr>
                      <a:r>
                        <a:rPr lang="zh-CN" sz="1600" kern="100">
                          <a:effectLst/>
                          <a:latin typeface="幼圆" panose="02010509060101010101" pitchFamily="49" charset="-122"/>
                          <a:ea typeface="幼圆" panose="02010509060101010101" pitchFamily="49" charset="-122"/>
                        </a:rPr>
                        <a:t>重现步骤</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marL="342900" lvl="0" indent="-342900" algn="just">
                        <a:spcAft>
                          <a:spcPts val="0"/>
                        </a:spcAft>
                        <a:buFont typeface="+mj-lt"/>
                        <a:buAutoNum type="arabicPeriod"/>
                      </a:pPr>
                      <a:r>
                        <a:rPr lang="zh-CN" sz="1600" kern="100" dirty="0">
                          <a:effectLst/>
                          <a:latin typeface="幼圆" panose="02010509060101010101" pitchFamily="49" charset="-122"/>
                          <a:ea typeface="幼圆" panose="02010509060101010101" pitchFamily="49" charset="-122"/>
                        </a:rPr>
                        <a:t>管理员登录系统。</a:t>
                      </a:r>
                      <a:endParaRPr lang="zh-CN" sz="1600" kern="100" dirty="0">
                        <a:effectLst/>
                        <a:latin typeface="幼圆" panose="02010509060101010101" pitchFamily="49" charset="-122"/>
                        <a:ea typeface="幼圆" panose="02010509060101010101" pitchFamily="49" charset="-122"/>
                      </a:endParaRPr>
                    </a:p>
                    <a:p>
                      <a:pPr marL="342900" lvl="0" indent="-342900" algn="just">
                        <a:spcAft>
                          <a:spcPts val="0"/>
                        </a:spcAft>
                        <a:buFont typeface="+mj-lt"/>
                        <a:buAutoNum type="arabicPeriod"/>
                      </a:pPr>
                      <a:r>
                        <a:rPr lang="zh-CN" sz="1600" kern="100" dirty="0">
                          <a:effectLst/>
                          <a:latin typeface="幼圆" panose="02010509060101010101" pitchFamily="49" charset="-122"/>
                          <a:ea typeface="幼圆" panose="02010509060101010101" pitchFamily="49" charset="-122"/>
                        </a:rPr>
                        <a:t>单击【发布试卷】按钮。</a:t>
                      </a:r>
                      <a:endParaRPr lang="zh-CN" sz="1600" kern="100" dirty="0">
                        <a:effectLst/>
                        <a:latin typeface="幼圆" panose="02010509060101010101" pitchFamily="49" charset="-122"/>
                        <a:ea typeface="幼圆" panose="02010509060101010101" pitchFamily="49" charset="-122"/>
                      </a:endParaRPr>
                    </a:p>
                    <a:p>
                      <a:pPr marL="342900" lvl="0" indent="-342900" algn="just">
                        <a:spcAft>
                          <a:spcPts val="0"/>
                        </a:spcAft>
                        <a:buFont typeface="+mj-lt"/>
                        <a:buAutoNum type="arabicPeriod"/>
                      </a:pPr>
                      <a:r>
                        <a:rPr lang="zh-CN" sz="1600" kern="100" dirty="0">
                          <a:effectLst/>
                          <a:latin typeface="幼圆" panose="02010509060101010101" pitchFamily="49" charset="-122"/>
                          <a:ea typeface="幼圆" panose="02010509060101010101" pitchFamily="49" charset="-122"/>
                        </a:rPr>
                        <a:t>单击【发布】按钮。</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290451">
                <a:tc>
                  <a:txBody>
                    <a:bodyPr/>
                    <a:lstStyle/>
                    <a:p>
                      <a:pPr algn="just">
                        <a:spcAft>
                          <a:spcPts val="0"/>
                        </a:spcAft>
                      </a:pPr>
                      <a:r>
                        <a:rPr lang="zh-CN" sz="1600" kern="100">
                          <a:effectLst/>
                          <a:latin typeface="幼圆" panose="02010509060101010101" pitchFamily="49" charset="-122"/>
                          <a:ea typeface="幼圆" panose="02010509060101010101" pitchFamily="49" charset="-122"/>
                        </a:rPr>
                        <a:t>备注</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无</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arn(inVertical)">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nvSpPr>
        <p:spPr>
          <a:xfrm>
            <a:off x="1922333" y="272228"/>
            <a:ext cx="9167913" cy="5331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rgbClr val="C00000"/>
                </a:solidFill>
                <a:latin typeface="微软雅黑" panose="020B0503020204020204" pitchFamily="34" charset="-122"/>
                <a:ea typeface="微软雅黑" panose="020B0503020204020204" pitchFamily="34" charset="-122"/>
                <a:cs typeface="+mj-cs"/>
              </a:defRPr>
            </a:lvl1pPr>
          </a:lstStyle>
          <a:p>
            <a:pPr marL="0" algn="l" defTabSz="914400" rtl="0" eaLnBrk="1" latinLnBrk="0" hangingPunct="1"/>
            <a:r>
              <a:rPr lang="zh-CN" altLang="en-US" dirty="0" smtClean="0">
                <a:solidFill>
                  <a:srgbClr val="FF0000"/>
                </a:solidFill>
                <a:sym typeface="+mn-ea"/>
              </a:rPr>
              <a:t>缺陷报告</a:t>
            </a:r>
            <a:endParaRPr lang="zh-CN" altLang="en-US" dirty="0" smtClean="0">
              <a:solidFill>
                <a:srgbClr val="FF0000"/>
              </a:solidFill>
              <a:sym typeface="+mn-ea"/>
            </a:endParaRPr>
          </a:p>
        </p:txBody>
      </p:sp>
      <p:sp>
        <p:nvSpPr>
          <p:cNvPr id="2" name="内容占位符 2"/>
          <p:cNvSpPr txBox="1"/>
          <p:nvPr/>
        </p:nvSpPr>
        <p:spPr>
          <a:xfrm>
            <a:off x="5120641" y="1152047"/>
            <a:ext cx="2829826" cy="724882"/>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Bug_002</a:t>
            </a:r>
            <a:r>
              <a:rPr lang="zh-CN" altLang="zh-CN"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缺陷</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报告</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6" name="表格 5"/>
          <p:cNvGraphicFramePr>
            <a:graphicFrameLocks noGrp="1"/>
          </p:cNvGraphicFramePr>
          <p:nvPr>
            <p:custDataLst>
              <p:tags r:id="rId1"/>
            </p:custDataLst>
          </p:nvPr>
        </p:nvGraphicFramePr>
        <p:xfrm>
          <a:off x="2127185" y="1771049"/>
          <a:ext cx="8787865" cy="4629751"/>
        </p:xfrm>
        <a:graphic>
          <a:graphicData uri="http://schemas.openxmlformats.org/drawingml/2006/table">
            <a:tbl>
              <a:tblPr firstRow="1" firstCol="1" bandRow="1">
                <a:tableStyleId>{5C22544A-7EE6-4342-B048-85BDC9FD1C3A}</a:tableStyleId>
              </a:tblPr>
              <a:tblGrid>
                <a:gridCol w="2279483"/>
                <a:gridCol w="6508382"/>
              </a:tblGrid>
              <a:tr h="349720">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缺陷</a:t>
                      </a:r>
                      <a:r>
                        <a:rPr lang="en-US" sz="1600" kern="100" dirty="0">
                          <a:effectLst/>
                          <a:latin typeface="幼圆" panose="02010509060101010101" pitchFamily="49" charset="-122"/>
                          <a:ea typeface="幼圆" panose="02010509060101010101" pitchFamily="49" charset="-122"/>
                        </a:rPr>
                        <a:t>ID</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en-US" sz="1600" kern="100" dirty="0">
                          <a:effectLst/>
                          <a:latin typeface="幼圆" panose="02010509060101010101" pitchFamily="49" charset="-122"/>
                          <a:ea typeface="幼圆" panose="02010509060101010101" pitchFamily="49" charset="-122"/>
                        </a:rPr>
                        <a:t>Bug_002</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237740">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测试软件名称</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在线考试系统</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237740">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测试软件版本</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en-US" sz="1600" kern="100">
                          <a:effectLst/>
                          <a:latin typeface="幼圆" panose="02010509060101010101" pitchFamily="49" charset="-122"/>
                          <a:ea typeface="幼圆" panose="02010509060101010101" pitchFamily="49" charset="-122"/>
                        </a:rPr>
                        <a:t>1.0</a:t>
                      </a:r>
                      <a:endParaRPr lang="zh-CN" sz="1600" kern="100">
                        <a:effectLst/>
                        <a:latin typeface="幼圆" panose="02010509060101010101" pitchFamily="49" charset="-122"/>
                        <a:ea typeface="幼圆" panose="02010509060101010101" pitchFamily="49" charset="-122"/>
                      </a:endParaRPr>
                    </a:p>
                  </a:txBody>
                  <a:tcPr marL="68580" marR="68580" marT="0" marB="0" anchor="ctr"/>
                </a:tc>
              </a:tr>
              <a:tr h="237740">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缺陷发现日期</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en-US" sz="1600" kern="100">
                          <a:effectLst/>
                          <a:latin typeface="幼圆" panose="02010509060101010101" pitchFamily="49" charset="-122"/>
                          <a:ea typeface="幼圆" panose="02010509060101010101" pitchFamily="49" charset="-122"/>
                        </a:rPr>
                        <a:t>2019.05.06</a:t>
                      </a:r>
                      <a:endParaRPr lang="zh-CN" sz="1600" kern="100">
                        <a:effectLst/>
                        <a:latin typeface="幼圆" panose="02010509060101010101" pitchFamily="49" charset="-122"/>
                        <a:ea typeface="幼圆" panose="02010509060101010101" pitchFamily="49" charset="-122"/>
                      </a:endParaRPr>
                    </a:p>
                  </a:txBody>
                  <a:tcPr marL="68580" marR="68580" marT="0" marB="0" anchor="ctr"/>
                </a:tc>
              </a:tr>
              <a:tr h="237740">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测试人员</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薛蒙蒙</a:t>
                      </a:r>
                      <a:r>
                        <a:rPr lang="en-US" sz="1600" kern="100" dirty="0">
                          <a:effectLst/>
                          <a:latin typeface="幼圆" panose="02010509060101010101" pitchFamily="49" charset="-122"/>
                          <a:ea typeface="幼圆" panose="02010509060101010101" pitchFamily="49" charset="-122"/>
                        </a:rPr>
                        <a:t>   </a:t>
                      </a:r>
                      <a:r>
                        <a:rPr lang="zh-CN" sz="1600" kern="100" dirty="0">
                          <a:effectLst/>
                          <a:latin typeface="幼圆" panose="02010509060101010101" pitchFamily="49" charset="-122"/>
                          <a:ea typeface="幼圆" panose="02010509060101010101" pitchFamily="49" charset="-122"/>
                        </a:rPr>
                        <a:t>李卓</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237740">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缺陷描述</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无法录入试卷标题。</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237740">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附件</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无</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237740">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缺陷类型</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功能类型缺陷</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237740">
                <a:tc>
                  <a:txBody>
                    <a:bodyPr/>
                    <a:lstStyle/>
                    <a:p>
                      <a:pPr algn="just">
                        <a:spcAft>
                          <a:spcPts val="0"/>
                        </a:spcAft>
                      </a:pPr>
                      <a:r>
                        <a:rPr lang="zh-CN" sz="1600" kern="100">
                          <a:effectLst/>
                          <a:latin typeface="幼圆" panose="02010509060101010101" pitchFamily="49" charset="-122"/>
                          <a:ea typeface="幼圆" panose="02010509060101010101" pitchFamily="49" charset="-122"/>
                        </a:rPr>
                        <a:t>缺陷严重程度</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严重</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237740">
                <a:tc>
                  <a:txBody>
                    <a:bodyPr/>
                    <a:lstStyle/>
                    <a:p>
                      <a:pPr algn="just">
                        <a:spcAft>
                          <a:spcPts val="0"/>
                        </a:spcAft>
                      </a:pPr>
                      <a:r>
                        <a:rPr lang="zh-CN" sz="1600" kern="100">
                          <a:effectLst/>
                          <a:latin typeface="幼圆" panose="02010509060101010101" pitchFamily="49" charset="-122"/>
                          <a:ea typeface="幼圆" panose="02010509060101010101" pitchFamily="49" charset="-122"/>
                        </a:rPr>
                        <a:t>缺陷优先级</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立即解决</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713220">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测试环境</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处理器：</a:t>
                      </a:r>
                      <a:r>
                        <a:rPr lang="en-US" sz="1600" kern="100" dirty="0">
                          <a:effectLst/>
                          <a:latin typeface="幼圆" panose="02010509060101010101" pitchFamily="49" charset="-122"/>
                          <a:ea typeface="幼圆" panose="02010509060101010101" pitchFamily="49" charset="-122"/>
                        </a:rPr>
                        <a:t>Intel(R) Core(TM) i3-4160 CPU @ 3.6GHz 3.60GHz</a:t>
                      </a:r>
                      <a:endParaRPr lang="zh-CN" sz="1600" kern="100" dirty="0">
                        <a:effectLst/>
                        <a:latin typeface="幼圆" panose="02010509060101010101" pitchFamily="49" charset="-122"/>
                        <a:ea typeface="幼圆" panose="02010509060101010101" pitchFamily="49" charset="-122"/>
                      </a:endParaRPr>
                    </a:p>
                    <a:p>
                      <a:pPr algn="just">
                        <a:spcAft>
                          <a:spcPts val="0"/>
                        </a:spcAft>
                      </a:pPr>
                      <a:r>
                        <a:rPr lang="zh-CN" sz="1600" kern="100" dirty="0">
                          <a:effectLst/>
                          <a:latin typeface="幼圆" panose="02010509060101010101" pitchFamily="49" charset="-122"/>
                          <a:ea typeface="幼圆" panose="02010509060101010101" pitchFamily="49" charset="-122"/>
                        </a:rPr>
                        <a:t>内存：</a:t>
                      </a:r>
                      <a:r>
                        <a:rPr lang="en-US" sz="1600" kern="100" dirty="0">
                          <a:effectLst/>
                          <a:latin typeface="幼圆" panose="02010509060101010101" pitchFamily="49" charset="-122"/>
                          <a:ea typeface="幼圆" panose="02010509060101010101" pitchFamily="49" charset="-122"/>
                        </a:rPr>
                        <a:t>8.0GB</a:t>
                      </a:r>
                      <a:endParaRPr lang="zh-CN" sz="1600" kern="100" dirty="0">
                        <a:effectLst/>
                        <a:latin typeface="幼圆" panose="02010509060101010101" pitchFamily="49" charset="-122"/>
                        <a:ea typeface="幼圆" panose="02010509060101010101" pitchFamily="49" charset="-122"/>
                      </a:endParaRPr>
                    </a:p>
                    <a:p>
                      <a:pPr algn="just">
                        <a:spcAft>
                          <a:spcPts val="0"/>
                        </a:spcAft>
                      </a:pPr>
                      <a:r>
                        <a:rPr lang="zh-CN" sz="1600" kern="100" dirty="0">
                          <a:effectLst/>
                          <a:latin typeface="幼圆" panose="02010509060101010101" pitchFamily="49" charset="-122"/>
                          <a:ea typeface="幼圆" panose="02010509060101010101" pitchFamily="49" charset="-122"/>
                        </a:rPr>
                        <a:t>系统类型：</a:t>
                      </a:r>
                      <a:r>
                        <a:rPr lang="en-US" sz="1600" kern="100" dirty="0">
                          <a:effectLst/>
                          <a:latin typeface="幼圆" panose="02010509060101010101" pitchFamily="49" charset="-122"/>
                          <a:ea typeface="幼圆" panose="02010509060101010101" pitchFamily="49" charset="-122"/>
                        </a:rPr>
                        <a:t>windows10 64</a:t>
                      </a:r>
                      <a:r>
                        <a:rPr lang="zh-CN" sz="1600" kern="100" dirty="0">
                          <a:effectLst/>
                          <a:latin typeface="幼圆" panose="02010509060101010101" pitchFamily="49" charset="-122"/>
                          <a:ea typeface="幼圆" panose="02010509060101010101" pitchFamily="49" charset="-122"/>
                        </a:rPr>
                        <a:t>操作系统</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713220">
                <a:tc>
                  <a:txBody>
                    <a:bodyPr/>
                    <a:lstStyle/>
                    <a:p>
                      <a:pPr algn="just">
                        <a:spcAft>
                          <a:spcPts val="0"/>
                        </a:spcAft>
                      </a:pPr>
                      <a:r>
                        <a:rPr lang="zh-CN" sz="1600" kern="100">
                          <a:effectLst/>
                          <a:latin typeface="幼圆" panose="02010509060101010101" pitchFamily="49" charset="-122"/>
                          <a:ea typeface="幼圆" panose="02010509060101010101" pitchFamily="49" charset="-122"/>
                        </a:rPr>
                        <a:t>重现步骤</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marL="342900" lvl="0" indent="-342900" algn="just">
                        <a:spcAft>
                          <a:spcPts val="0"/>
                        </a:spcAft>
                        <a:buFont typeface="+mj-lt"/>
                        <a:buAutoNum type="arabicPeriod"/>
                      </a:pPr>
                      <a:r>
                        <a:rPr lang="zh-CN" sz="1600" kern="100" dirty="0">
                          <a:effectLst/>
                          <a:latin typeface="幼圆" panose="02010509060101010101" pitchFamily="49" charset="-122"/>
                          <a:ea typeface="幼圆" panose="02010509060101010101" pitchFamily="49" charset="-122"/>
                        </a:rPr>
                        <a:t>管理员登录系统。</a:t>
                      </a:r>
                      <a:endParaRPr lang="zh-CN" sz="1600" kern="100" dirty="0">
                        <a:effectLst/>
                        <a:latin typeface="幼圆" panose="02010509060101010101" pitchFamily="49" charset="-122"/>
                        <a:ea typeface="幼圆" panose="02010509060101010101" pitchFamily="49" charset="-122"/>
                      </a:endParaRPr>
                    </a:p>
                    <a:p>
                      <a:pPr marL="342900" lvl="0" indent="-342900" algn="just">
                        <a:spcAft>
                          <a:spcPts val="0"/>
                        </a:spcAft>
                        <a:buFont typeface="+mj-lt"/>
                        <a:buAutoNum type="arabicPeriod"/>
                      </a:pPr>
                      <a:r>
                        <a:rPr lang="zh-CN" sz="1600" kern="100" dirty="0">
                          <a:effectLst/>
                          <a:latin typeface="幼圆" panose="02010509060101010101" pitchFamily="49" charset="-122"/>
                          <a:ea typeface="幼圆" panose="02010509060101010101" pitchFamily="49" charset="-122"/>
                        </a:rPr>
                        <a:t>单击【发布试卷】按钮。</a:t>
                      </a:r>
                      <a:endParaRPr lang="zh-CN" sz="1600" kern="100" dirty="0">
                        <a:effectLst/>
                        <a:latin typeface="幼圆" panose="02010509060101010101" pitchFamily="49" charset="-122"/>
                        <a:ea typeface="幼圆" panose="02010509060101010101" pitchFamily="49" charset="-122"/>
                      </a:endParaRPr>
                    </a:p>
                    <a:p>
                      <a:pPr marL="342900" lvl="0" indent="-342900" algn="just">
                        <a:spcAft>
                          <a:spcPts val="0"/>
                        </a:spcAft>
                        <a:buFont typeface="+mj-lt"/>
                        <a:buAutoNum type="arabicPeriod"/>
                      </a:pPr>
                      <a:r>
                        <a:rPr lang="zh-CN" sz="1600" kern="100" dirty="0">
                          <a:effectLst/>
                          <a:latin typeface="幼圆" panose="02010509060101010101" pitchFamily="49" charset="-122"/>
                          <a:ea typeface="幼圆" panose="02010509060101010101" pitchFamily="49" charset="-122"/>
                        </a:rPr>
                        <a:t>单击【发布】按钮。</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622431">
                <a:tc>
                  <a:txBody>
                    <a:bodyPr/>
                    <a:lstStyle/>
                    <a:p>
                      <a:pPr algn="just">
                        <a:spcAft>
                          <a:spcPts val="0"/>
                        </a:spcAft>
                      </a:pPr>
                      <a:r>
                        <a:rPr lang="zh-CN" sz="1600" kern="100">
                          <a:effectLst/>
                          <a:latin typeface="幼圆" panose="02010509060101010101" pitchFamily="49" charset="-122"/>
                          <a:ea typeface="幼圆" panose="02010509060101010101" pitchFamily="49" charset="-122"/>
                        </a:rPr>
                        <a:t>备注</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本缺陷应当由测试用例</a:t>
                      </a:r>
                      <a:r>
                        <a:rPr lang="en-US" sz="1600" kern="100" dirty="0">
                          <a:effectLst/>
                          <a:latin typeface="幼圆" panose="02010509060101010101" pitchFamily="49" charset="-122"/>
                          <a:ea typeface="幼圆" panose="02010509060101010101" pitchFamily="49" charset="-122"/>
                        </a:rPr>
                        <a:t>T_002</a:t>
                      </a:r>
                      <a:r>
                        <a:rPr lang="zh-CN" sz="1600" kern="100" dirty="0">
                          <a:effectLst/>
                          <a:latin typeface="幼圆" panose="02010509060101010101" pitchFamily="49" charset="-122"/>
                          <a:ea typeface="幼圆" panose="02010509060101010101" pitchFamily="49" charset="-122"/>
                        </a:rPr>
                        <a:t>测试得出，但测试用例</a:t>
                      </a:r>
                      <a:r>
                        <a:rPr lang="en-US" sz="1600" kern="100" dirty="0">
                          <a:effectLst/>
                          <a:latin typeface="幼圆" panose="02010509060101010101" pitchFamily="49" charset="-122"/>
                          <a:ea typeface="幼圆" panose="02010509060101010101" pitchFamily="49" charset="-122"/>
                        </a:rPr>
                        <a:t>T_001</a:t>
                      </a:r>
                      <a:r>
                        <a:rPr lang="zh-CN" sz="1600" kern="100" dirty="0">
                          <a:effectLst/>
                          <a:latin typeface="幼圆" panose="02010509060101010101" pitchFamily="49" charset="-122"/>
                          <a:ea typeface="幼圆" panose="02010509060101010101" pitchFamily="49" charset="-122"/>
                        </a:rPr>
                        <a:t>已经测试得出本系统没有管理员入口，没有管理员登录入口便无法录入试卷标题。</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arn(inVertical)">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内容占位符 2"/>
          <p:cNvSpPr txBox="1"/>
          <p:nvPr/>
        </p:nvSpPr>
        <p:spPr>
          <a:xfrm>
            <a:off x="5120641" y="1152047"/>
            <a:ext cx="2829826" cy="724882"/>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Bug_003</a:t>
            </a:r>
            <a:r>
              <a:rPr lang="zh-CN" altLang="zh-CN"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缺陷</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报告</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2" name="表格 1"/>
          <p:cNvGraphicFramePr>
            <a:graphicFrameLocks noGrp="1"/>
          </p:cNvGraphicFramePr>
          <p:nvPr>
            <p:custDataLst>
              <p:tags r:id="rId1"/>
            </p:custDataLst>
          </p:nvPr>
        </p:nvGraphicFramePr>
        <p:xfrm>
          <a:off x="2223437" y="1771053"/>
          <a:ext cx="8884117" cy="4591245"/>
        </p:xfrm>
        <a:graphic>
          <a:graphicData uri="http://schemas.openxmlformats.org/drawingml/2006/table">
            <a:tbl>
              <a:tblPr firstRow="1" firstCol="1" bandRow="1">
                <a:tableStyleId>{5C22544A-7EE6-4342-B048-85BDC9FD1C3A}</a:tableStyleId>
              </a:tblPr>
              <a:tblGrid>
                <a:gridCol w="1982804"/>
                <a:gridCol w="6901313"/>
              </a:tblGrid>
              <a:tr h="356130">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缺陷</a:t>
                      </a:r>
                      <a:r>
                        <a:rPr lang="en-US" sz="1600" kern="100" dirty="0">
                          <a:effectLst/>
                          <a:latin typeface="幼圆" panose="02010509060101010101" pitchFamily="49" charset="-122"/>
                          <a:ea typeface="幼圆" panose="02010509060101010101" pitchFamily="49" charset="-122"/>
                        </a:rPr>
                        <a:t>ID</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en-US" sz="1600" kern="100" dirty="0">
                          <a:effectLst/>
                          <a:latin typeface="幼圆" panose="02010509060101010101" pitchFamily="49" charset="-122"/>
                          <a:ea typeface="幼圆" panose="02010509060101010101" pitchFamily="49" charset="-122"/>
                        </a:rPr>
                        <a:t>Bug_003</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213782">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测试软件名称</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a:effectLst/>
                          <a:latin typeface="幼圆" panose="02010509060101010101" pitchFamily="49" charset="-122"/>
                          <a:ea typeface="幼圆" panose="02010509060101010101" pitchFamily="49" charset="-122"/>
                        </a:rPr>
                        <a:t>在线考试系统</a:t>
                      </a:r>
                      <a:endParaRPr lang="zh-CN" sz="1600" kern="100">
                        <a:effectLst/>
                        <a:latin typeface="幼圆" panose="02010509060101010101" pitchFamily="49" charset="-122"/>
                        <a:ea typeface="幼圆" panose="02010509060101010101" pitchFamily="49" charset="-122"/>
                      </a:endParaRPr>
                    </a:p>
                  </a:txBody>
                  <a:tcPr marL="68580" marR="68580" marT="0" marB="0" anchor="ctr"/>
                </a:tc>
              </a:tr>
              <a:tr h="213782">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测试软件版本</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en-US" sz="1600" kern="100" dirty="0">
                          <a:effectLst/>
                          <a:latin typeface="幼圆" panose="02010509060101010101" pitchFamily="49" charset="-122"/>
                          <a:ea typeface="幼圆" panose="02010509060101010101" pitchFamily="49" charset="-122"/>
                        </a:rPr>
                        <a:t>1.0</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213782">
                <a:tc>
                  <a:txBody>
                    <a:bodyPr/>
                    <a:lstStyle/>
                    <a:p>
                      <a:pPr algn="just">
                        <a:spcAft>
                          <a:spcPts val="0"/>
                        </a:spcAft>
                      </a:pPr>
                      <a:r>
                        <a:rPr lang="zh-CN" sz="1600" kern="100">
                          <a:effectLst/>
                          <a:latin typeface="幼圆" panose="02010509060101010101" pitchFamily="49" charset="-122"/>
                          <a:ea typeface="幼圆" panose="02010509060101010101" pitchFamily="49" charset="-122"/>
                        </a:rPr>
                        <a:t>缺陷发现日期</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en-US" sz="1600" kern="100" dirty="0">
                          <a:effectLst/>
                          <a:latin typeface="幼圆" panose="02010509060101010101" pitchFamily="49" charset="-122"/>
                          <a:ea typeface="幼圆" panose="02010509060101010101" pitchFamily="49" charset="-122"/>
                        </a:rPr>
                        <a:t>2019.05.06</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213782">
                <a:tc>
                  <a:txBody>
                    <a:bodyPr/>
                    <a:lstStyle/>
                    <a:p>
                      <a:pPr algn="just">
                        <a:spcAft>
                          <a:spcPts val="0"/>
                        </a:spcAft>
                      </a:pPr>
                      <a:r>
                        <a:rPr lang="zh-CN" sz="1600" kern="100">
                          <a:effectLst/>
                          <a:latin typeface="幼圆" panose="02010509060101010101" pitchFamily="49" charset="-122"/>
                          <a:ea typeface="幼圆" panose="02010509060101010101" pitchFamily="49" charset="-122"/>
                        </a:rPr>
                        <a:t>测试人员</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薛蒙蒙</a:t>
                      </a:r>
                      <a:r>
                        <a:rPr lang="en-US" sz="1600" kern="100" dirty="0">
                          <a:effectLst/>
                          <a:latin typeface="幼圆" panose="02010509060101010101" pitchFamily="49" charset="-122"/>
                          <a:ea typeface="幼圆" panose="02010509060101010101" pitchFamily="49" charset="-122"/>
                        </a:rPr>
                        <a:t>   </a:t>
                      </a:r>
                      <a:r>
                        <a:rPr lang="zh-CN" sz="1600" kern="100" dirty="0">
                          <a:effectLst/>
                          <a:latin typeface="幼圆" panose="02010509060101010101" pitchFamily="49" charset="-122"/>
                          <a:ea typeface="幼圆" panose="02010509060101010101" pitchFamily="49" charset="-122"/>
                        </a:rPr>
                        <a:t>李卓</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213782">
                <a:tc>
                  <a:txBody>
                    <a:bodyPr/>
                    <a:lstStyle/>
                    <a:p>
                      <a:pPr algn="just">
                        <a:spcAft>
                          <a:spcPts val="0"/>
                        </a:spcAft>
                      </a:pPr>
                      <a:r>
                        <a:rPr lang="zh-CN" sz="1600" kern="100">
                          <a:effectLst/>
                          <a:latin typeface="幼圆" panose="02010509060101010101" pitchFamily="49" charset="-122"/>
                          <a:ea typeface="幼圆" panose="02010509060101010101" pitchFamily="49" charset="-122"/>
                        </a:rPr>
                        <a:t>缺陷描述</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无法录入题型。</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213782">
                <a:tc>
                  <a:txBody>
                    <a:bodyPr/>
                    <a:lstStyle/>
                    <a:p>
                      <a:pPr algn="just">
                        <a:spcAft>
                          <a:spcPts val="0"/>
                        </a:spcAft>
                      </a:pPr>
                      <a:r>
                        <a:rPr lang="zh-CN" sz="1600" kern="100">
                          <a:effectLst/>
                          <a:latin typeface="幼圆" panose="02010509060101010101" pitchFamily="49" charset="-122"/>
                          <a:ea typeface="幼圆" panose="02010509060101010101" pitchFamily="49" charset="-122"/>
                        </a:rPr>
                        <a:t>附件</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无</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213782">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缺陷类型</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功能类型缺陷</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213782">
                <a:tc>
                  <a:txBody>
                    <a:bodyPr/>
                    <a:lstStyle/>
                    <a:p>
                      <a:pPr algn="just">
                        <a:spcAft>
                          <a:spcPts val="0"/>
                        </a:spcAft>
                      </a:pPr>
                      <a:r>
                        <a:rPr lang="zh-CN" sz="1600" kern="100">
                          <a:effectLst/>
                          <a:latin typeface="幼圆" panose="02010509060101010101" pitchFamily="49" charset="-122"/>
                          <a:ea typeface="幼圆" panose="02010509060101010101" pitchFamily="49" charset="-122"/>
                        </a:rPr>
                        <a:t>缺陷严重程度</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严重</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213782">
                <a:tc>
                  <a:txBody>
                    <a:bodyPr/>
                    <a:lstStyle/>
                    <a:p>
                      <a:pPr algn="just">
                        <a:spcAft>
                          <a:spcPts val="0"/>
                        </a:spcAft>
                      </a:pPr>
                      <a:r>
                        <a:rPr lang="zh-CN" sz="1600" kern="100">
                          <a:effectLst/>
                          <a:latin typeface="幼圆" panose="02010509060101010101" pitchFamily="49" charset="-122"/>
                          <a:ea typeface="幼圆" panose="02010509060101010101" pitchFamily="49" charset="-122"/>
                        </a:rPr>
                        <a:t>缺陷优先级</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立即解决</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641345">
                <a:tc>
                  <a:txBody>
                    <a:bodyPr/>
                    <a:lstStyle/>
                    <a:p>
                      <a:pPr algn="just">
                        <a:spcAft>
                          <a:spcPts val="0"/>
                        </a:spcAft>
                      </a:pPr>
                      <a:r>
                        <a:rPr lang="zh-CN" sz="1600" kern="100">
                          <a:effectLst/>
                          <a:latin typeface="幼圆" panose="02010509060101010101" pitchFamily="49" charset="-122"/>
                          <a:ea typeface="幼圆" panose="02010509060101010101" pitchFamily="49" charset="-122"/>
                        </a:rPr>
                        <a:t>测试环境</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处理器：</a:t>
                      </a:r>
                      <a:r>
                        <a:rPr lang="en-US" sz="1600" kern="100" dirty="0">
                          <a:effectLst/>
                          <a:latin typeface="幼圆" panose="02010509060101010101" pitchFamily="49" charset="-122"/>
                          <a:ea typeface="幼圆" panose="02010509060101010101" pitchFamily="49" charset="-122"/>
                        </a:rPr>
                        <a:t>Intel(R) Core(TM) i3-4160 CPU @ 3.6GHz 3.60GHz</a:t>
                      </a:r>
                      <a:endParaRPr lang="zh-CN" sz="1600" kern="100" dirty="0">
                        <a:effectLst/>
                        <a:latin typeface="幼圆" panose="02010509060101010101" pitchFamily="49" charset="-122"/>
                        <a:ea typeface="幼圆" panose="02010509060101010101" pitchFamily="49" charset="-122"/>
                      </a:endParaRPr>
                    </a:p>
                    <a:p>
                      <a:pPr algn="just">
                        <a:spcAft>
                          <a:spcPts val="0"/>
                        </a:spcAft>
                      </a:pPr>
                      <a:r>
                        <a:rPr lang="zh-CN" sz="1600" kern="100" dirty="0">
                          <a:effectLst/>
                          <a:latin typeface="幼圆" panose="02010509060101010101" pitchFamily="49" charset="-122"/>
                          <a:ea typeface="幼圆" panose="02010509060101010101" pitchFamily="49" charset="-122"/>
                        </a:rPr>
                        <a:t>内存：</a:t>
                      </a:r>
                      <a:r>
                        <a:rPr lang="en-US" sz="1600" kern="100" dirty="0">
                          <a:effectLst/>
                          <a:latin typeface="幼圆" panose="02010509060101010101" pitchFamily="49" charset="-122"/>
                          <a:ea typeface="幼圆" panose="02010509060101010101" pitchFamily="49" charset="-122"/>
                        </a:rPr>
                        <a:t>8.0GB</a:t>
                      </a:r>
                      <a:endParaRPr lang="zh-CN" sz="1600" kern="100" dirty="0">
                        <a:effectLst/>
                        <a:latin typeface="幼圆" panose="02010509060101010101" pitchFamily="49" charset="-122"/>
                        <a:ea typeface="幼圆" panose="02010509060101010101" pitchFamily="49" charset="-122"/>
                      </a:endParaRPr>
                    </a:p>
                    <a:p>
                      <a:pPr algn="just">
                        <a:spcAft>
                          <a:spcPts val="0"/>
                        </a:spcAft>
                      </a:pPr>
                      <a:r>
                        <a:rPr lang="zh-CN" sz="1600" kern="100" dirty="0">
                          <a:effectLst/>
                          <a:latin typeface="幼圆" panose="02010509060101010101" pitchFamily="49" charset="-122"/>
                          <a:ea typeface="幼圆" panose="02010509060101010101" pitchFamily="49" charset="-122"/>
                        </a:rPr>
                        <a:t>系统类型：</a:t>
                      </a:r>
                      <a:r>
                        <a:rPr lang="en-US" sz="1600" kern="100" dirty="0">
                          <a:effectLst/>
                          <a:latin typeface="幼圆" panose="02010509060101010101" pitchFamily="49" charset="-122"/>
                          <a:ea typeface="幼圆" panose="02010509060101010101" pitchFamily="49" charset="-122"/>
                        </a:rPr>
                        <a:t>windows10 64</a:t>
                      </a:r>
                      <a:r>
                        <a:rPr lang="zh-CN" sz="1600" kern="100" dirty="0">
                          <a:effectLst/>
                          <a:latin typeface="幼圆" panose="02010509060101010101" pitchFamily="49" charset="-122"/>
                          <a:ea typeface="幼圆" panose="02010509060101010101" pitchFamily="49" charset="-122"/>
                        </a:rPr>
                        <a:t>操作系统</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641345">
                <a:tc>
                  <a:txBody>
                    <a:bodyPr/>
                    <a:lstStyle/>
                    <a:p>
                      <a:pPr algn="just">
                        <a:spcAft>
                          <a:spcPts val="0"/>
                        </a:spcAft>
                      </a:pPr>
                      <a:r>
                        <a:rPr lang="zh-CN" sz="1600" kern="100">
                          <a:effectLst/>
                          <a:latin typeface="幼圆" panose="02010509060101010101" pitchFamily="49" charset="-122"/>
                          <a:ea typeface="幼圆" panose="02010509060101010101" pitchFamily="49" charset="-122"/>
                        </a:rPr>
                        <a:t>重现步骤</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marL="342900" lvl="0" indent="-342900" algn="just">
                        <a:spcAft>
                          <a:spcPts val="0"/>
                        </a:spcAft>
                        <a:buFont typeface="+mj-lt"/>
                        <a:buAutoNum type="arabicPeriod"/>
                      </a:pPr>
                      <a:r>
                        <a:rPr lang="zh-CN" sz="1600" kern="100" dirty="0">
                          <a:effectLst/>
                          <a:latin typeface="幼圆" panose="02010509060101010101" pitchFamily="49" charset="-122"/>
                          <a:ea typeface="幼圆" panose="02010509060101010101" pitchFamily="49" charset="-122"/>
                        </a:rPr>
                        <a:t>管理员登录系统。</a:t>
                      </a:r>
                      <a:endParaRPr lang="zh-CN" sz="1600" kern="100" dirty="0">
                        <a:effectLst/>
                        <a:latin typeface="幼圆" panose="02010509060101010101" pitchFamily="49" charset="-122"/>
                        <a:ea typeface="幼圆" panose="02010509060101010101" pitchFamily="49" charset="-122"/>
                      </a:endParaRPr>
                    </a:p>
                    <a:p>
                      <a:pPr marL="342900" lvl="0" indent="-342900" algn="just">
                        <a:spcAft>
                          <a:spcPts val="0"/>
                        </a:spcAft>
                        <a:buFont typeface="+mj-lt"/>
                        <a:buAutoNum type="arabicPeriod"/>
                      </a:pPr>
                      <a:r>
                        <a:rPr lang="zh-CN" sz="1600" kern="100" dirty="0">
                          <a:effectLst/>
                          <a:latin typeface="幼圆" panose="02010509060101010101" pitchFamily="49" charset="-122"/>
                          <a:ea typeface="幼圆" panose="02010509060101010101" pitchFamily="49" charset="-122"/>
                        </a:rPr>
                        <a:t>单击【发布试卷】按钮。</a:t>
                      </a:r>
                      <a:endParaRPr lang="zh-CN" sz="1600" kern="100" dirty="0">
                        <a:effectLst/>
                        <a:latin typeface="幼圆" panose="02010509060101010101" pitchFamily="49" charset="-122"/>
                        <a:ea typeface="幼圆" panose="02010509060101010101" pitchFamily="49" charset="-122"/>
                      </a:endParaRPr>
                    </a:p>
                    <a:p>
                      <a:pPr marL="342900" lvl="0" indent="-342900" algn="just">
                        <a:spcAft>
                          <a:spcPts val="0"/>
                        </a:spcAft>
                        <a:buFont typeface="+mj-lt"/>
                        <a:buAutoNum type="arabicPeriod"/>
                      </a:pPr>
                      <a:r>
                        <a:rPr lang="zh-CN" sz="1600" kern="100" dirty="0">
                          <a:effectLst/>
                          <a:latin typeface="幼圆" panose="02010509060101010101" pitchFamily="49" charset="-122"/>
                          <a:ea typeface="幼圆" panose="02010509060101010101" pitchFamily="49" charset="-122"/>
                        </a:rPr>
                        <a:t>单击【发布】按钮。</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577515">
                <a:tc>
                  <a:txBody>
                    <a:bodyPr/>
                    <a:lstStyle/>
                    <a:p>
                      <a:pPr algn="just">
                        <a:spcAft>
                          <a:spcPts val="0"/>
                        </a:spcAft>
                      </a:pPr>
                      <a:r>
                        <a:rPr lang="zh-CN" sz="1600" kern="100">
                          <a:effectLst/>
                          <a:latin typeface="幼圆" panose="02010509060101010101" pitchFamily="49" charset="-122"/>
                          <a:ea typeface="幼圆" panose="02010509060101010101" pitchFamily="49" charset="-122"/>
                        </a:rPr>
                        <a:t>备注</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本缺陷应当由测试用例</a:t>
                      </a:r>
                      <a:r>
                        <a:rPr lang="en-US" sz="1600" kern="100" dirty="0">
                          <a:effectLst/>
                          <a:latin typeface="幼圆" panose="02010509060101010101" pitchFamily="49" charset="-122"/>
                          <a:ea typeface="幼圆" panose="02010509060101010101" pitchFamily="49" charset="-122"/>
                        </a:rPr>
                        <a:t>T_003</a:t>
                      </a:r>
                      <a:r>
                        <a:rPr lang="zh-CN" sz="1600" kern="100" dirty="0">
                          <a:effectLst/>
                          <a:latin typeface="幼圆" panose="02010509060101010101" pitchFamily="49" charset="-122"/>
                          <a:ea typeface="幼圆" panose="02010509060101010101" pitchFamily="49" charset="-122"/>
                        </a:rPr>
                        <a:t>测试得出，但测试用例</a:t>
                      </a:r>
                      <a:r>
                        <a:rPr lang="en-US" sz="1600" kern="100" dirty="0">
                          <a:effectLst/>
                          <a:latin typeface="幼圆" panose="02010509060101010101" pitchFamily="49" charset="-122"/>
                          <a:ea typeface="幼圆" panose="02010509060101010101" pitchFamily="49" charset="-122"/>
                        </a:rPr>
                        <a:t>T_001</a:t>
                      </a:r>
                      <a:r>
                        <a:rPr lang="zh-CN" sz="1600" kern="100" dirty="0">
                          <a:effectLst/>
                          <a:latin typeface="幼圆" panose="02010509060101010101" pitchFamily="49" charset="-122"/>
                          <a:ea typeface="幼圆" panose="02010509060101010101" pitchFamily="49" charset="-122"/>
                        </a:rPr>
                        <a:t>已经测试得出本系统没有管理员入口，没有管理员登录入口便无法录入题型。</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bl>
          </a:graphicData>
        </a:graphic>
      </p:graphicFrame>
      <p:sp>
        <p:nvSpPr>
          <p:cNvPr id="4" name="标题 2"/>
          <p:cNvSpPr>
            <a:spLocks noGrp="1"/>
          </p:cNvSpPr>
          <p:nvPr/>
        </p:nvSpPr>
        <p:spPr>
          <a:xfrm>
            <a:off x="1922333" y="272228"/>
            <a:ext cx="9167913" cy="5331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rgbClr val="C00000"/>
                </a:solidFill>
                <a:latin typeface="微软雅黑" panose="020B0503020204020204" pitchFamily="34" charset="-122"/>
                <a:ea typeface="微软雅黑" panose="020B0503020204020204" pitchFamily="34" charset="-122"/>
                <a:cs typeface="+mj-cs"/>
              </a:defRPr>
            </a:lvl1pPr>
          </a:lstStyle>
          <a:p>
            <a:pPr marL="0" algn="l" defTabSz="914400" rtl="0" eaLnBrk="1" latinLnBrk="0" hangingPunct="1"/>
            <a:r>
              <a:rPr lang="zh-CN" altLang="en-US" dirty="0" smtClean="0">
                <a:solidFill>
                  <a:srgbClr val="FF0000"/>
                </a:solidFill>
                <a:sym typeface="+mn-ea"/>
              </a:rPr>
              <a:t>缺陷报告</a:t>
            </a:r>
            <a:endParaRPr lang="zh-CN" altLang="en-US" dirty="0" smtClean="0">
              <a:solidFill>
                <a:srgbClr val="FF0000"/>
              </a:solidFill>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内容占位符 2"/>
          <p:cNvSpPr txBox="1"/>
          <p:nvPr/>
        </p:nvSpPr>
        <p:spPr>
          <a:xfrm>
            <a:off x="5120641" y="1152047"/>
            <a:ext cx="2829826" cy="724882"/>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Bug_004</a:t>
            </a:r>
            <a:r>
              <a:rPr lang="zh-CN" altLang="zh-CN"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缺陷</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报告</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4" name="表格 3"/>
          <p:cNvGraphicFramePr>
            <a:graphicFrameLocks noGrp="1"/>
          </p:cNvGraphicFramePr>
          <p:nvPr>
            <p:custDataLst>
              <p:tags r:id="rId1"/>
            </p:custDataLst>
          </p:nvPr>
        </p:nvGraphicFramePr>
        <p:xfrm>
          <a:off x="1944302" y="1771050"/>
          <a:ext cx="8778240" cy="4533499"/>
        </p:xfrm>
        <a:graphic>
          <a:graphicData uri="http://schemas.openxmlformats.org/drawingml/2006/table">
            <a:tbl>
              <a:tblPr firstRow="1" firstCol="1" bandRow="1">
                <a:tableStyleId>{5C22544A-7EE6-4342-B048-85BDC9FD1C3A}</a:tableStyleId>
              </a:tblPr>
              <a:tblGrid>
                <a:gridCol w="2302202"/>
                <a:gridCol w="6476038"/>
              </a:tblGrid>
              <a:tr h="301598">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缺陷</a:t>
                      </a:r>
                      <a:r>
                        <a:rPr lang="en-US" sz="1600" kern="100" dirty="0">
                          <a:effectLst/>
                          <a:latin typeface="幼圆" panose="02010509060101010101" pitchFamily="49" charset="-122"/>
                          <a:ea typeface="幼圆" panose="02010509060101010101" pitchFamily="49" charset="-122"/>
                        </a:rPr>
                        <a:t>ID</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en-US" sz="1600" kern="100" dirty="0">
                          <a:effectLst/>
                          <a:latin typeface="幼圆" panose="02010509060101010101" pitchFamily="49" charset="-122"/>
                          <a:ea typeface="幼圆" panose="02010509060101010101" pitchFamily="49" charset="-122"/>
                        </a:rPr>
                        <a:t>Bug_004</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223407">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测试软件名称</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a:effectLst/>
                          <a:latin typeface="幼圆" panose="02010509060101010101" pitchFamily="49" charset="-122"/>
                          <a:ea typeface="幼圆" panose="02010509060101010101" pitchFamily="49" charset="-122"/>
                        </a:rPr>
                        <a:t>在线考试系统</a:t>
                      </a:r>
                      <a:endParaRPr lang="zh-CN" sz="1600" kern="100">
                        <a:effectLst/>
                        <a:latin typeface="幼圆" panose="02010509060101010101" pitchFamily="49" charset="-122"/>
                        <a:ea typeface="幼圆" panose="02010509060101010101" pitchFamily="49" charset="-122"/>
                      </a:endParaRPr>
                    </a:p>
                  </a:txBody>
                  <a:tcPr marL="68580" marR="68580" marT="0" marB="0" anchor="ctr"/>
                </a:tc>
              </a:tr>
              <a:tr h="223407">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测试软件版本</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en-US" sz="1600" kern="100">
                          <a:effectLst/>
                          <a:latin typeface="幼圆" panose="02010509060101010101" pitchFamily="49" charset="-122"/>
                          <a:ea typeface="幼圆" panose="02010509060101010101" pitchFamily="49" charset="-122"/>
                        </a:rPr>
                        <a:t>1.0</a:t>
                      </a:r>
                      <a:endParaRPr lang="zh-CN" sz="1600" kern="100">
                        <a:effectLst/>
                        <a:latin typeface="幼圆" panose="02010509060101010101" pitchFamily="49" charset="-122"/>
                        <a:ea typeface="幼圆" panose="02010509060101010101" pitchFamily="49" charset="-122"/>
                      </a:endParaRPr>
                    </a:p>
                  </a:txBody>
                  <a:tcPr marL="68580" marR="68580" marT="0" marB="0" anchor="ctr"/>
                </a:tc>
              </a:tr>
              <a:tr h="223407">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缺陷发现日期</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en-US" sz="1600" kern="100">
                          <a:effectLst/>
                          <a:latin typeface="幼圆" panose="02010509060101010101" pitchFamily="49" charset="-122"/>
                          <a:ea typeface="幼圆" panose="02010509060101010101" pitchFamily="49" charset="-122"/>
                        </a:rPr>
                        <a:t>2019.05.06</a:t>
                      </a:r>
                      <a:endParaRPr lang="zh-CN" sz="1600" kern="100">
                        <a:effectLst/>
                        <a:latin typeface="幼圆" panose="02010509060101010101" pitchFamily="49" charset="-122"/>
                        <a:ea typeface="幼圆" panose="02010509060101010101" pitchFamily="49" charset="-122"/>
                      </a:endParaRPr>
                    </a:p>
                  </a:txBody>
                  <a:tcPr marL="68580" marR="68580" marT="0" marB="0" anchor="ctr"/>
                </a:tc>
              </a:tr>
              <a:tr h="223407">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测试人员</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薛蒙蒙</a:t>
                      </a:r>
                      <a:r>
                        <a:rPr lang="en-US" sz="1600" kern="100" dirty="0">
                          <a:effectLst/>
                          <a:latin typeface="幼圆" panose="02010509060101010101" pitchFamily="49" charset="-122"/>
                          <a:ea typeface="幼圆" panose="02010509060101010101" pitchFamily="49" charset="-122"/>
                        </a:rPr>
                        <a:t>   </a:t>
                      </a:r>
                      <a:r>
                        <a:rPr lang="zh-CN" sz="1600" kern="100" dirty="0">
                          <a:effectLst/>
                          <a:latin typeface="幼圆" panose="02010509060101010101" pitchFamily="49" charset="-122"/>
                          <a:ea typeface="幼圆" panose="02010509060101010101" pitchFamily="49" charset="-122"/>
                        </a:rPr>
                        <a:t>李卓</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223407">
                <a:tc>
                  <a:txBody>
                    <a:bodyPr/>
                    <a:lstStyle/>
                    <a:p>
                      <a:pPr algn="just">
                        <a:spcAft>
                          <a:spcPts val="0"/>
                        </a:spcAft>
                      </a:pPr>
                      <a:r>
                        <a:rPr lang="zh-CN" sz="1600" kern="100">
                          <a:effectLst/>
                          <a:latin typeface="幼圆" panose="02010509060101010101" pitchFamily="49" charset="-122"/>
                          <a:ea typeface="幼圆" panose="02010509060101010101" pitchFamily="49" charset="-122"/>
                        </a:rPr>
                        <a:t>缺陷描述</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无法录入题目。</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223407">
                <a:tc>
                  <a:txBody>
                    <a:bodyPr/>
                    <a:lstStyle/>
                    <a:p>
                      <a:pPr algn="just">
                        <a:spcAft>
                          <a:spcPts val="0"/>
                        </a:spcAft>
                      </a:pPr>
                      <a:r>
                        <a:rPr lang="zh-CN" sz="1600" kern="100">
                          <a:effectLst/>
                          <a:latin typeface="幼圆" panose="02010509060101010101" pitchFamily="49" charset="-122"/>
                          <a:ea typeface="幼圆" panose="02010509060101010101" pitchFamily="49" charset="-122"/>
                        </a:rPr>
                        <a:t>附件</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无</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223407">
                <a:tc>
                  <a:txBody>
                    <a:bodyPr/>
                    <a:lstStyle/>
                    <a:p>
                      <a:pPr algn="just">
                        <a:spcAft>
                          <a:spcPts val="0"/>
                        </a:spcAft>
                      </a:pPr>
                      <a:r>
                        <a:rPr lang="zh-CN" sz="1600" kern="100">
                          <a:effectLst/>
                          <a:latin typeface="幼圆" panose="02010509060101010101" pitchFamily="49" charset="-122"/>
                          <a:ea typeface="幼圆" panose="02010509060101010101" pitchFamily="49" charset="-122"/>
                        </a:rPr>
                        <a:t>缺陷类型</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功能类型缺陷</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223407">
                <a:tc>
                  <a:txBody>
                    <a:bodyPr/>
                    <a:lstStyle/>
                    <a:p>
                      <a:pPr algn="just">
                        <a:spcAft>
                          <a:spcPts val="0"/>
                        </a:spcAft>
                      </a:pPr>
                      <a:r>
                        <a:rPr lang="zh-CN" sz="1600" kern="100">
                          <a:effectLst/>
                          <a:latin typeface="幼圆" panose="02010509060101010101" pitchFamily="49" charset="-122"/>
                          <a:ea typeface="幼圆" panose="02010509060101010101" pitchFamily="49" charset="-122"/>
                        </a:rPr>
                        <a:t>缺陷严重程度</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严重</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223407">
                <a:tc>
                  <a:txBody>
                    <a:bodyPr/>
                    <a:lstStyle/>
                    <a:p>
                      <a:pPr algn="just">
                        <a:spcAft>
                          <a:spcPts val="0"/>
                        </a:spcAft>
                      </a:pPr>
                      <a:r>
                        <a:rPr lang="zh-CN" sz="1600" kern="100">
                          <a:effectLst/>
                          <a:latin typeface="幼圆" panose="02010509060101010101" pitchFamily="49" charset="-122"/>
                          <a:ea typeface="幼圆" panose="02010509060101010101" pitchFamily="49" charset="-122"/>
                        </a:rPr>
                        <a:t>缺陷优先级</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立即解决</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670221">
                <a:tc>
                  <a:txBody>
                    <a:bodyPr/>
                    <a:lstStyle/>
                    <a:p>
                      <a:pPr algn="just">
                        <a:spcAft>
                          <a:spcPts val="0"/>
                        </a:spcAft>
                      </a:pPr>
                      <a:r>
                        <a:rPr lang="zh-CN" sz="1600" kern="100">
                          <a:effectLst/>
                          <a:latin typeface="幼圆" panose="02010509060101010101" pitchFamily="49" charset="-122"/>
                          <a:ea typeface="幼圆" panose="02010509060101010101" pitchFamily="49" charset="-122"/>
                        </a:rPr>
                        <a:t>测试环境</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处理器：</a:t>
                      </a:r>
                      <a:r>
                        <a:rPr lang="en-US" sz="1600" kern="100" dirty="0">
                          <a:effectLst/>
                          <a:latin typeface="幼圆" panose="02010509060101010101" pitchFamily="49" charset="-122"/>
                          <a:ea typeface="幼圆" panose="02010509060101010101" pitchFamily="49" charset="-122"/>
                        </a:rPr>
                        <a:t>Intel(R) Core(TM) i3-4160 CPU @ 3.6GHz 3.60GHz</a:t>
                      </a:r>
                      <a:endParaRPr lang="zh-CN" sz="1600" kern="100" dirty="0">
                        <a:effectLst/>
                        <a:latin typeface="幼圆" panose="02010509060101010101" pitchFamily="49" charset="-122"/>
                        <a:ea typeface="幼圆" panose="02010509060101010101" pitchFamily="49" charset="-122"/>
                      </a:endParaRPr>
                    </a:p>
                    <a:p>
                      <a:pPr algn="just">
                        <a:spcAft>
                          <a:spcPts val="0"/>
                        </a:spcAft>
                      </a:pPr>
                      <a:r>
                        <a:rPr lang="zh-CN" sz="1600" kern="100" dirty="0">
                          <a:effectLst/>
                          <a:latin typeface="幼圆" panose="02010509060101010101" pitchFamily="49" charset="-122"/>
                          <a:ea typeface="幼圆" panose="02010509060101010101" pitchFamily="49" charset="-122"/>
                        </a:rPr>
                        <a:t>内存：</a:t>
                      </a:r>
                      <a:r>
                        <a:rPr lang="en-US" sz="1600" kern="100" dirty="0">
                          <a:effectLst/>
                          <a:latin typeface="幼圆" panose="02010509060101010101" pitchFamily="49" charset="-122"/>
                          <a:ea typeface="幼圆" panose="02010509060101010101" pitchFamily="49" charset="-122"/>
                        </a:rPr>
                        <a:t>8.0GB</a:t>
                      </a:r>
                      <a:endParaRPr lang="zh-CN" sz="1600" kern="100" dirty="0">
                        <a:effectLst/>
                        <a:latin typeface="幼圆" panose="02010509060101010101" pitchFamily="49" charset="-122"/>
                        <a:ea typeface="幼圆" panose="02010509060101010101" pitchFamily="49" charset="-122"/>
                      </a:endParaRPr>
                    </a:p>
                    <a:p>
                      <a:pPr algn="just">
                        <a:spcAft>
                          <a:spcPts val="0"/>
                        </a:spcAft>
                      </a:pPr>
                      <a:r>
                        <a:rPr lang="zh-CN" sz="1600" kern="100" dirty="0">
                          <a:effectLst/>
                          <a:latin typeface="幼圆" panose="02010509060101010101" pitchFamily="49" charset="-122"/>
                          <a:ea typeface="幼圆" panose="02010509060101010101" pitchFamily="49" charset="-122"/>
                        </a:rPr>
                        <a:t>系统类型：</a:t>
                      </a:r>
                      <a:r>
                        <a:rPr lang="en-US" sz="1600" kern="100" dirty="0">
                          <a:effectLst/>
                          <a:latin typeface="幼圆" panose="02010509060101010101" pitchFamily="49" charset="-122"/>
                          <a:ea typeface="幼圆" panose="02010509060101010101" pitchFamily="49" charset="-122"/>
                        </a:rPr>
                        <a:t>windows10 64</a:t>
                      </a:r>
                      <a:r>
                        <a:rPr lang="zh-CN" sz="1600" kern="100" dirty="0">
                          <a:effectLst/>
                          <a:latin typeface="幼圆" panose="02010509060101010101" pitchFamily="49" charset="-122"/>
                          <a:ea typeface="幼圆" panose="02010509060101010101" pitchFamily="49" charset="-122"/>
                        </a:rPr>
                        <a:t>操作系统</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670221">
                <a:tc>
                  <a:txBody>
                    <a:bodyPr/>
                    <a:lstStyle/>
                    <a:p>
                      <a:pPr algn="just">
                        <a:spcAft>
                          <a:spcPts val="0"/>
                        </a:spcAft>
                      </a:pPr>
                      <a:r>
                        <a:rPr lang="zh-CN" sz="1600" kern="100">
                          <a:effectLst/>
                          <a:latin typeface="幼圆" panose="02010509060101010101" pitchFamily="49" charset="-122"/>
                          <a:ea typeface="幼圆" panose="02010509060101010101" pitchFamily="49" charset="-122"/>
                        </a:rPr>
                        <a:t>重现步骤</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marL="342900" lvl="0" indent="-342900" algn="just">
                        <a:spcAft>
                          <a:spcPts val="0"/>
                        </a:spcAft>
                        <a:buFont typeface="+mj-lt"/>
                        <a:buAutoNum type="arabicPeriod"/>
                      </a:pPr>
                      <a:r>
                        <a:rPr lang="zh-CN" sz="1600" kern="100" dirty="0">
                          <a:effectLst/>
                          <a:latin typeface="幼圆" panose="02010509060101010101" pitchFamily="49" charset="-122"/>
                          <a:ea typeface="幼圆" panose="02010509060101010101" pitchFamily="49" charset="-122"/>
                        </a:rPr>
                        <a:t>管理员登录系统。</a:t>
                      </a:r>
                      <a:endParaRPr lang="zh-CN" sz="1600" kern="100" dirty="0">
                        <a:effectLst/>
                        <a:latin typeface="幼圆" panose="02010509060101010101" pitchFamily="49" charset="-122"/>
                        <a:ea typeface="幼圆" panose="02010509060101010101" pitchFamily="49" charset="-122"/>
                      </a:endParaRPr>
                    </a:p>
                    <a:p>
                      <a:pPr marL="342900" lvl="0" indent="-342900" algn="just">
                        <a:spcAft>
                          <a:spcPts val="0"/>
                        </a:spcAft>
                        <a:buFont typeface="+mj-lt"/>
                        <a:buAutoNum type="arabicPeriod"/>
                      </a:pPr>
                      <a:r>
                        <a:rPr lang="zh-CN" sz="1600" kern="100" dirty="0">
                          <a:effectLst/>
                          <a:latin typeface="幼圆" panose="02010509060101010101" pitchFamily="49" charset="-122"/>
                          <a:ea typeface="幼圆" panose="02010509060101010101" pitchFamily="49" charset="-122"/>
                        </a:rPr>
                        <a:t>单击【发布试卷】按钮。</a:t>
                      </a:r>
                      <a:endParaRPr lang="zh-CN" sz="1600" kern="100" dirty="0">
                        <a:effectLst/>
                        <a:latin typeface="幼圆" panose="02010509060101010101" pitchFamily="49" charset="-122"/>
                        <a:ea typeface="幼圆" panose="02010509060101010101" pitchFamily="49" charset="-122"/>
                      </a:endParaRPr>
                    </a:p>
                    <a:p>
                      <a:pPr marL="342900" lvl="0" indent="-342900" algn="just">
                        <a:spcAft>
                          <a:spcPts val="0"/>
                        </a:spcAft>
                        <a:buFont typeface="+mj-lt"/>
                        <a:buAutoNum type="arabicPeriod"/>
                      </a:pPr>
                      <a:r>
                        <a:rPr lang="zh-CN" sz="1600" kern="100" dirty="0">
                          <a:effectLst/>
                          <a:latin typeface="幼圆" panose="02010509060101010101" pitchFamily="49" charset="-122"/>
                          <a:ea typeface="幼圆" panose="02010509060101010101" pitchFamily="49" charset="-122"/>
                        </a:rPr>
                        <a:t>单击【发布】按钮。</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574301">
                <a:tc>
                  <a:txBody>
                    <a:bodyPr/>
                    <a:lstStyle/>
                    <a:p>
                      <a:pPr algn="just">
                        <a:spcAft>
                          <a:spcPts val="0"/>
                        </a:spcAft>
                      </a:pPr>
                      <a:r>
                        <a:rPr lang="zh-CN" sz="1600" kern="100">
                          <a:effectLst/>
                          <a:latin typeface="幼圆" panose="02010509060101010101" pitchFamily="49" charset="-122"/>
                          <a:ea typeface="幼圆" panose="02010509060101010101" pitchFamily="49" charset="-122"/>
                        </a:rPr>
                        <a:t>备注</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本缺陷应当由测试用例</a:t>
                      </a:r>
                      <a:r>
                        <a:rPr lang="en-US" sz="1600" kern="100" dirty="0">
                          <a:effectLst/>
                          <a:latin typeface="幼圆" panose="02010509060101010101" pitchFamily="49" charset="-122"/>
                          <a:ea typeface="幼圆" panose="02010509060101010101" pitchFamily="49" charset="-122"/>
                        </a:rPr>
                        <a:t>T_004</a:t>
                      </a:r>
                      <a:r>
                        <a:rPr lang="zh-CN" sz="1600" kern="100" dirty="0">
                          <a:effectLst/>
                          <a:latin typeface="幼圆" panose="02010509060101010101" pitchFamily="49" charset="-122"/>
                          <a:ea typeface="幼圆" panose="02010509060101010101" pitchFamily="49" charset="-122"/>
                        </a:rPr>
                        <a:t>测试得出，但测试用例</a:t>
                      </a:r>
                      <a:r>
                        <a:rPr lang="en-US" sz="1600" kern="100" dirty="0">
                          <a:effectLst/>
                          <a:latin typeface="幼圆" panose="02010509060101010101" pitchFamily="49" charset="-122"/>
                          <a:ea typeface="幼圆" panose="02010509060101010101" pitchFamily="49" charset="-122"/>
                        </a:rPr>
                        <a:t>T_001</a:t>
                      </a:r>
                      <a:r>
                        <a:rPr lang="zh-CN" sz="1600" kern="100" dirty="0">
                          <a:effectLst/>
                          <a:latin typeface="幼圆" panose="02010509060101010101" pitchFamily="49" charset="-122"/>
                          <a:ea typeface="幼圆" panose="02010509060101010101" pitchFamily="49" charset="-122"/>
                        </a:rPr>
                        <a:t>已经测试得出本系统没有管理员入口，没有管理员登录入口便无法录入题目。</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bl>
          </a:graphicData>
        </a:graphic>
      </p:graphicFrame>
      <p:sp>
        <p:nvSpPr>
          <p:cNvPr id="2" name="标题 2"/>
          <p:cNvSpPr>
            <a:spLocks noGrp="1"/>
          </p:cNvSpPr>
          <p:nvPr/>
        </p:nvSpPr>
        <p:spPr>
          <a:xfrm>
            <a:off x="1922333" y="272228"/>
            <a:ext cx="9167913" cy="5331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rgbClr val="C00000"/>
                </a:solidFill>
                <a:latin typeface="微软雅黑" panose="020B0503020204020204" pitchFamily="34" charset="-122"/>
                <a:ea typeface="微软雅黑" panose="020B0503020204020204" pitchFamily="34" charset="-122"/>
                <a:cs typeface="+mj-cs"/>
              </a:defRPr>
            </a:lvl1pPr>
          </a:lstStyle>
          <a:p>
            <a:pPr marL="0" algn="l" defTabSz="914400" rtl="0" eaLnBrk="1" latinLnBrk="0" hangingPunct="1"/>
            <a:r>
              <a:rPr lang="zh-CN" altLang="en-US" dirty="0" smtClean="0">
                <a:solidFill>
                  <a:srgbClr val="FF0000"/>
                </a:solidFill>
                <a:sym typeface="+mn-ea"/>
              </a:rPr>
              <a:t>缺陷报告</a:t>
            </a:r>
            <a:endParaRPr lang="zh-CN" altLang="en-US" dirty="0" smtClean="0">
              <a:solidFill>
                <a:srgbClr val="FF0000"/>
              </a:solidFill>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barn(inVertical)">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2"/>
          <p:cNvSpPr txBox="1"/>
          <p:nvPr/>
        </p:nvSpPr>
        <p:spPr>
          <a:xfrm>
            <a:off x="5120641" y="1152047"/>
            <a:ext cx="2829826" cy="724882"/>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Bug_005</a:t>
            </a:r>
            <a:r>
              <a:rPr lang="zh-CN" altLang="zh-CN"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缺陷</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报告</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6" name="表格 5"/>
          <p:cNvGraphicFramePr>
            <a:graphicFrameLocks noGrp="1"/>
          </p:cNvGraphicFramePr>
          <p:nvPr>
            <p:custDataLst>
              <p:tags r:id="rId1"/>
            </p:custDataLst>
          </p:nvPr>
        </p:nvGraphicFramePr>
        <p:xfrm>
          <a:off x="2146434" y="1751794"/>
          <a:ext cx="8778240" cy="4543128"/>
        </p:xfrm>
        <a:graphic>
          <a:graphicData uri="http://schemas.openxmlformats.org/drawingml/2006/table">
            <a:tbl>
              <a:tblPr firstRow="1" firstCol="1" bandRow="1">
                <a:tableStyleId>{5C22544A-7EE6-4342-B048-85BDC9FD1C3A}</a:tableStyleId>
              </a:tblPr>
              <a:tblGrid>
                <a:gridCol w="2302202"/>
                <a:gridCol w="6476038"/>
              </a:tblGrid>
              <a:tr h="298387">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缺陷</a:t>
                      </a:r>
                      <a:r>
                        <a:rPr lang="en-US" sz="1600" kern="100" dirty="0">
                          <a:effectLst/>
                          <a:latin typeface="幼圆" panose="02010509060101010101" pitchFamily="49" charset="-122"/>
                          <a:ea typeface="幼圆" panose="02010509060101010101" pitchFamily="49" charset="-122"/>
                        </a:rPr>
                        <a:t>ID</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en-US" sz="1600" kern="100">
                          <a:effectLst/>
                          <a:latin typeface="幼圆" panose="02010509060101010101" pitchFamily="49" charset="-122"/>
                          <a:ea typeface="幼圆" panose="02010509060101010101" pitchFamily="49" charset="-122"/>
                        </a:rPr>
                        <a:t>Bug_005</a:t>
                      </a:r>
                      <a:endParaRPr lang="zh-CN" sz="1600" kern="100">
                        <a:effectLst/>
                        <a:latin typeface="幼圆" panose="02010509060101010101" pitchFamily="49" charset="-122"/>
                        <a:ea typeface="幼圆" panose="02010509060101010101" pitchFamily="49" charset="-122"/>
                      </a:endParaRPr>
                    </a:p>
                  </a:txBody>
                  <a:tcPr marL="68580" marR="68580" marT="0" marB="0" anchor="ctr"/>
                </a:tc>
              </a:tr>
              <a:tr h="237086">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测试软件名称</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a:effectLst/>
                          <a:latin typeface="幼圆" panose="02010509060101010101" pitchFamily="49" charset="-122"/>
                          <a:ea typeface="幼圆" panose="02010509060101010101" pitchFamily="49" charset="-122"/>
                        </a:rPr>
                        <a:t>在线考试系统</a:t>
                      </a:r>
                      <a:endParaRPr lang="zh-CN" sz="1600" kern="100">
                        <a:effectLst/>
                        <a:latin typeface="幼圆" panose="02010509060101010101" pitchFamily="49" charset="-122"/>
                        <a:ea typeface="幼圆" panose="02010509060101010101" pitchFamily="49" charset="-122"/>
                      </a:endParaRPr>
                    </a:p>
                  </a:txBody>
                  <a:tcPr marL="68580" marR="68580" marT="0" marB="0" anchor="ctr"/>
                </a:tc>
              </a:tr>
              <a:tr h="237086">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测试软件版本</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en-US" sz="1600" kern="100">
                          <a:effectLst/>
                          <a:latin typeface="幼圆" panose="02010509060101010101" pitchFamily="49" charset="-122"/>
                          <a:ea typeface="幼圆" panose="02010509060101010101" pitchFamily="49" charset="-122"/>
                        </a:rPr>
                        <a:t>1.0</a:t>
                      </a:r>
                      <a:endParaRPr lang="zh-CN" sz="1600" kern="100">
                        <a:effectLst/>
                        <a:latin typeface="幼圆" panose="02010509060101010101" pitchFamily="49" charset="-122"/>
                        <a:ea typeface="幼圆" panose="02010509060101010101" pitchFamily="49" charset="-122"/>
                      </a:endParaRPr>
                    </a:p>
                  </a:txBody>
                  <a:tcPr marL="68580" marR="68580" marT="0" marB="0" anchor="ctr"/>
                </a:tc>
              </a:tr>
              <a:tr h="237086">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缺陷发现日期</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en-US" sz="1600" kern="100" dirty="0">
                          <a:effectLst/>
                          <a:latin typeface="幼圆" panose="02010509060101010101" pitchFamily="49" charset="-122"/>
                          <a:ea typeface="幼圆" panose="02010509060101010101" pitchFamily="49" charset="-122"/>
                        </a:rPr>
                        <a:t>2019.05.06</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237086">
                <a:tc>
                  <a:txBody>
                    <a:bodyPr/>
                    <a:lstStyle/>
                    <a:p>
                      <a:pPr algn="just">
                        <a:spcAft>
                          <a:spcPts val="0"/>
                        </a:spcAft>
                      </a:pPr>
                      <a:r>
                        <a:rPr lang="zh-CN" sz="1600" kern="100">
                          <a:effectLst/>
                          <a:latin typeface="幼圆" panose="02010509060101010101" pitchFamily="49" charset="-122"/>
                          <a:ea typeface="幼圆" panose="02010509060101010101" pitchFamily="49" charset="-122"/>
                        </a:rPr>
                        <a:t>测试人员</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薛蒙蒙</a:t>
                      </a:r>
                      <a:r>
                        <a:rPr lang="en-US" sz="1600" kern="100" dirty="0">
                          <a:effectLst/>
                          <a:latin typeface="幼圆" panose="02010509060101010101" pitchFamily="49" charset="-122"/>
                          <a:ea typeface="幼圆" panose="02010509060101010101" pitchFamily="49" charset="-122"/>
                        </a:rPr>
                        <a:t>   </a:t>
                      </a:r>
                      <a:r>
                        <a:rPr lang="zh-CN" sz="1600" kern="100" dirty="0">
                          <a:effectLst/>
                          <a:latin typeface="幼圆" panose="02010509060101010101" pitchFamily="49" charset="-122"/>
                          <a:ea typeface="幼圆" panose="02010509060101010101" pitchFamily="49" charset="-122"/>
                        </a:rPr>
                        <a:t>李卓</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237086">
                <a:tc>
                  <a:txBody>
                    <a:bodyPr/>
                    <a:lstStyle/>
                    <a:p>
                      <a:pPr algn="just">
                        <a:spcAft>
                          <a:spcPts val="0"/>
                        </a:spcAft>
                      </a:pPr>
                      <a:r>
                        <a:rPr lang="zh-CN" sz="1600" kern="100">
                          <a:effectLst/>
                          <a:latin typeface="幼圆" panose="02010509060101010101" pitchFamily="49" charset="-122"/>
                          <a:ea typeface="幼圆" panose="02010509060101010101" pitchFamily="49" charset="-122"/>
                        </a:rPr>
                        <a:t>缺陷描述</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无法录入考试时间。</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237086">
                <a:tc>
                  <a:txBody>
                    <a:bodyPr/>
                    <a:lstStyle/>
                    <a:p>
                      <a:pPr algn="just">
                        <a:spcAft>
                          <a:spcPts val="0"/>
                        </a:spcAft>
                      </a:pPr>
                      <a:r>
                        <a:rPr lang="zh-CN" sz="1600" kern="100">
                          <a:effectLst/>
                          <a:latin typeface="幼圆" panose="02010509060101010101" pitchFamily="49" charset="-122"/>
                          <a:ea typeface="幼圆" panose="02010509060101010101" pitchFamily="49" charset="-122"/>
                        </a:rPr>
                        <a:t>附件</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无</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237086">
                <a:tc>
                  <a:txBody>
                    <a:bodyPr/>
                    <a:lstStyle/>
                    <a:p>
                      <a:pPr algn="just">
                        <a:spcAft>
                          <a:spcPts val="0"/>
                        </a:spcAft>
                      </a:pPr>
                      <a:r>
                        <a:rPr lang="zh-CN" sz="1600" kern="100">
                          <a:effectLst/>
                          <a:latin typeface="幼圆" panose="02010509060101010101" pitchFamily="49" charset="-122"/>
                          <a:ea typeface="幼圆" panose="02010509060101010101" pitchFamily="49" charset="-122"/>
                        </a:rPr>
                        <a:t>缺陷类型</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功能类型缺陷</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237086">
                <a:tc>
                  <a:txBody>
                    <a:bodyPr/>
                    <a:lstStyle/>
                    <a:p>
                      <a:pPr algn="just">
                        <a:spcAft>
                          <a:spcPts val="0"/>
                        </a:spcAft>
                      </a:pPr>
                      <a:r>
                        <a:rPr lang="zh-CN" sz="1600" kern="100">
                          <a:effectLst/>
                          <a:latin typeface="幼圆" panose="02010509060101010101" pitchFamily="49" charset="-122"/>
                          <a:ea typeface="幼圆" panose="02010509060101010101" pitchFamily="49" charset="-122"/>
                        </a:rPr>
                        <a:t>缺陷严重程度</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严重</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237086">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缺陷优先级</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立即解决</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711255">
                <a:tc>
                  <a:txBody>
                    <a:bodyPr/>
                    <a:lstStyle/>
                    <a:p>
                      <a:pPr algn="just">
                        <a:spcAft>
                          <a:spcPts val="0"/>
                        </a:spcAft>
                      </a:pPr>
                      <a:r>
                        <a:rPr lang="zh-CN" sz="1600" kern="100">
                          <a:effectLst/>
                          <a:latin typeface="幼圆" panose="02010509060101010101" pitchFamily="49" charset="-122"/>
                          <a:ea typeface="幼圆" panose="02010509060101010101" pitchFamily="49" charset="-122"/>
                        </a:rPr>
                        <a:t>测试环境</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处理器：</a:t>
                      </a:r>
                      <a:r>
                        <a:rPr lang="en-US" sz="1600" kern="100" dirty="0">
                          <a:effectLst/>
                          <a:latin typeface="幼圆" panose="02010509060101010101" pitchFamily="49" charset="-122"/>
                          <a:ea typeface="幼圆" panose="02010509060101010101" pitchFamily="49" charset="-122"/>
                        </a:rPr>
                        <a:t>Intel(R) Core(TM) i3-4160 CPU @ 3.6GHz 3.60GHz</a:t>
                      </a:r>
                      <a:endParaRPr lang="zh-CN" sz="1600" kern="100" dirty="0">
                        <a:effectLst/>
                        <a:latin typeface="幼圆" panose="02010509060101010101" pitchFamily="49" charset="-122"/>
                        <a:ea typeface="幼圆" panose="02010509060101010101" pitchFamily="49" charset="-122"/>
                      </a:endParaRPr>
                    </a:p>
                    <a:p>
                      <a:pPr algn="just">
                        <a:spcAft>
                          <a:spcPts val="0"/>
                        </a:spcAft>
                      </a:pPr>
                      <a:r>
                        <a:rPr lang="zh-CN" sz="1600" kern="100" dirty="0">
                          <a:effectLst/>
                          <a:latin typeface="幼圆" panose="02010509060101010101" pitchFamily="49" charset="-122"/>
                          <a:ea typeface="幼圆" panose="02010509060101010101" pitchFamily="49" charset="-122"/>
                        </a:rPr>
                        <a:t>内存：</a:t>
                      </a:r>
                      <a:r>
                        <a:rPr lang="en-US" sz="1600" kern="100" dirty="0">
                          <a:effectLst/>
                          <a:latin typeface="幼圆" panose="02010509060101010101" pitchFamily="49" charset="-122"/>
                          <a:ea typeface="幼圆" panose="02010509060101010101" pitchFamily="49" charset="-122"/>
                        </a:rPr>
                        <a:t>8.0GB</a:t>
                      </a:r>
                      <a:endParaRPr lang="zh-CN" sz="1600" kern="100" dirty="0">
                        <a:effectLst/>
                        <a:latin typeface="幼圆" panose="02010509060101010101" pitchFamily="49" charset="-122"/>
                        <a:ea typeface="幼圆" panose="02010509060101010101" pitchFamily="49" charset="-122"/>
                      </a:endParaRPr>
                    </a:p>
                    <a:p>
                      <a:pPr algn="just">
                        <a:spcAft>
                          <a:spcPts val="0"/>
                        </a:spcAft>
                      </a:pPr>
                      <a:r>
                        <a:rPr lang="zh-CN" sz="1600" kern="100" dirty="0">
                          <a:effectLst/>
                          <a:latin typeface="幼圆" panose="02010509060101010101" pitchFamily="49" charset="-122"/>
                          <a:ea typeface="幼圆" panose="02010509060101010101" pitchFamily="49" charset="-122"/>
                        </a:rPr>
                        <a:t>系统类型：</a:t>
                      </a:r>
                      <a:r>
                        <a:rPr lang="en-US" sz="1600" kern="100" dirty="0">
                          <a:effectLst/>
                          <a:latin typeface="幼圆" panose="02010509060101010101" pitchFamily="49" charset="-122"/>
                          <a:ea typeface="幼圆" panose="02010509060101010101" pitchFamily="49" charset="-122"/>
                        </a:rPr>
                        <a:t>windows10 64</a:t>
                      </a:r>
                      <a:r>
                        <a:rPr lang="zh-CN" sz="1600" kern="100" dirty="0">
                          <a:effectLst/>
                          <a:latin typeface="幼圆" panose="02010509060101010101" pitchFamily="49" charset="-122"/>
                          <a:ea typeface="幼圆" panose="02010509060101010101" pitchFamily="49" charset="-122"/>
                        </a:rPr>
                        <a:t>操作系统</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711255">
                <a:tc>
                  <a:txBody>
                    <a:bodyPr/>
                    <a:lstStyle/>
                    <a:p>
                      <a:pPr algn="just">
                        <a:spcAft>
                          <a:spcPts val="0"/>
                        </a:spcAft>
                      </a:pPr>
                      <a:r>
                        <a:rPr lang="zh-CN" sz="1600" kern="100">
                          <a:effectLst/>
                          <a:latin typeface="幼圆" panose="02010509060101010101" pitchFamily="49" charset="-122"/>
                          <a:ea typeface="幼圆" panose="02010509060101010101" pitchFamily="49" charset="-122"/>
                        </a:rPr>
                        <a:t>重现步骤</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marL="342900" lvl="0" indent="-342900" algn="just">
                        <a:spcAft>
                          <a:spcPts val="0"/>
                        </a:spcAft>
                        <a:buFont typeface="+mj-lt"/>
                        <a:buAutoNum type="arabicPeriod"/>
                      </a:pPr>
                      <a:r>
                        <a:rPr lang="zh-CN" sz="1600" kern="100" dirty="0">
                          <a:effectLst/>
                          <a:latin typeface="幼圆" panose="02010509060101010101" pitchFamily="49" charset="-122"/>
                          <a:ea typeface="幼圆" panose="02010509060101010101" pitchFamily="49" charset="-122"/>
                        </a:rPr>
                        <a:t>管理员登录系统。</a:t>
                      </a:r>
                      <a:endParaRPr lang="zh-CN" sz="1600" kern="100" dirty="0">
                        <a:effectLst/>
                        <a:latin typeface="幼圆" panose="02010509060101010101" pitchFamily="49" charset="-122"/>
                        <a:ea typeface="幼圆" panose="02010509060101010101" pitchFamily="49" charset="-122"/>
                      </a:endParaRPr>
                    </a:p>
                    <a:p>
                      <a:pPr marL="342900" lvl="0" indent="-342900" algn="just">
                        <a:spcAft>
                          <a:spcPts val="0"/>
                        </a:spcAft>
                        <a:buFont typeface="+mj-lt"/>
                        <a:buAutoNum type="arabicPeriod"/>
                      </a:pPr>
                      <a:r>
                        <a:rPr lang="zh-CN" sz="1600" kern="100" dirty="0">
                          <a:effectLst/>
                          <a:latin typeface="幼圆" panose="02010509060101010101" pitchFamily="49" charset="-122"/>
                          <a:ea typeface="幼圆" panose="02010509060101010101" pitchFamily="49" charset="-122"/>
                        </a:rPr>
                        <a:t>单击【发布试卷】按钮。</a:t>
                      </a:r>
                      <a:endParaRPr lang="zh-CN" sz="1600" kern="100" dirty="0">
                        <a:effectLst/>
                        <a:latin typeface="幼圆" panose="02010509060101010101" pitchFamily="49" charset="-122"/>
                        <a:ea typeface="幼圆" panose="02010509060101010101" pitchFamily="49" charset="-122"/>
                      </a:endParaRPr>
                    </a:p>
                    <a:p>
                      <a:pPr marL="342900" lvl="0" indent="-342900" algn="just">
                        <a:spcAft>
                          <a:spcPts val="0"/>
                        </a:spcAft>
                        <a:buFont typeface="+mj-lt"/>
                        <a:buAutoNum type="arabicPeriod"/>
                      </a:pPr>
                      <a:r>
                        <a:rPr lang="zh-CN" sz="1600" kern="100" dirty="0">
                          <a:effectLst/>
                          <a:latin typeface="幼圆" panose="02010509060101010101" pitchFamily="49" charset="-122"/>
                          <a:ea typeface="幼圆" panose="02010509060101010101" pitchFamily="49" charset="-122"/>
                        </a:rPr>
                        <a:t>单击【发布】按钮。</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587141">
                <a:tc>
                  <a:txBody>
                    <a:bodyPr/>
                    <a:lstStyle/>
                    <a:p>
                      <a:pPr algn="just">
                        <a:spcAft>
                          <a:spcPts val="0"/>
                        </a:spcAft>
                      </a:pPr>
                      <a:r>
                        <a:rPr lang="zh-CN" sz="1600" kern="100">
                          <a:effectLst/>
                          <a:latin typeface="幼圆" panose="02010509060101010101" pitchFamily="49" charset="-122"/>
                          <a:ea typeface="幼圆" panose="02010509060101010101" pitchFamily="49" charset="-122"/>
                        </a:rPr>
                        <a:t>备注</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本缺陷应当由测试用例</a:t>
                      </a:r>
                      <a:r>
                        <a:rPr lang="en-US" sz="1600" kern="100" dirty="0">
                          <a:effectLst/>
                          <a:latin typeface="幼圆" panose="02010509060101010101" pitchFamily="49" charset="-122"/>
                          <a:ea typeface="幼圆" panose="02010509060101010101" pitchFamily="49" charset="-122"/>
                        </a:rPr>
                        <a:t>T_005</a:t>
                      </a:r>
                      <a:r>
                        <a:rPr lang="zh-CN" sz="1600" kern="100" dirty="0">
                          <a:effectLst/>
                          <a:latin typeface="幼圆" panose="02010509060101010101" pitchFamily="49" charset="-122"/>
                          <a:ea typeface="幼圆" panose="02010509060101010101" pitchFamily="49" charset="-122"/>
                        </a:rPr>
                        <a:t>测试得出，但测试用例</a:t>
                      </a:r>
                      <a:r>
                        <a:rPr lang="en-US" sz="1600" kern="100" dirty="0">
                          <a:effectLst/>
                          <a:latin typeface="幼圆" panose="02010509060101010101" pitchFamily="49" charset="-122"/>
                          <a:ea typeface="幼圆" panose="02010509060101010101" pitchFamily="49" charset="-122"/>
                        </a:rPr>
                        <a:t>T_001</a:t>
                      </a:r>
                      <a:r>
                        <a:rPr lang="zh-CN" sz="1600" kern="100" dirty="0">
                          <a:effectLst/>
                          <a:latin typeface="幼圆" panose="02010509060101010101" pitchFamily="49" charset="-122"/>
                          <a:ea typeface="幼圆" panose="02010509060101010101" pitchFamily="49" charset="-122"/>
                        </a:rPr>
                        <a:t>已经测试得出本系统没有管理员入口，没有管理员登录入口便无法录入考试时间。</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bl>
          </a:graphicData>
        </a:graphic>
      </p:graphicFrame>
      <p:sp>
        <p:nvSpPr>
          <p:cNvPr id="7" name="标题 2"/>
          <p:cNvSpPr>
            <a:spLocks noGrp="1"/>
          </p:cNvSpPr>
          <p:nvPr/>
        </p:nvSpPr>
        <p:spPr>
          <a:xfrm>
            <a:off x="1922333" y="272228"/>
            <a:ext cx="9167913" cy="5331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rgbClr val="C00000"/>
                </a:solidFill>
                <a:latin typeface="微软雅黑" panose="020B0503020204020204" pitchFamily="34" charset="-122"/>
                <a:ea typeface="微软雅黑" panose="020B0503020204020204" pitchFamily="34" charset="-122"/>
                <a:cs typeface="+mj-cs"/>
              </a:defRPr>
            </a:lvl1pPr>
          </a:lstStyle>
          <a:p>
            <a:pPr marL="0" algn="l" defTabSz="914400" rtl="0" eaLnBrk="1" latinLnBrk="0" hangingPunct="1"/>
            <a:r>
              <a:rPr lang="zh-CN" altLang="en-US" dirty="0" smtClean="0">
                <a:solidFill>
                  <a:srgbClr val="FF0000"/>
                </a:solidFill>
                <a:sym typeface="+mn-ea"/>
              </a:rPr>
              <a:t>缺陷报告</a:t>
            </a:r>
            <a:endParaRPr lang="zh-CN" altLang="en-US" dirty="0" smtClean="0">
              <a:solidFill>
                <a:srgbClr val="FF0000"/>
              </a:solidFill>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arn(inVertical)">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内容占位符 2"/>
          <p:cNvSpPr txBox="1"/>
          <p:nvPr/>
        </p:nvSpPr>
        <p:spPr>
          <a:xfrm>
            <a:off x="5120641" y="1152047"/>
            <a:ext cx="2829826" cy="724882"/>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Bug_006</a:t>
            </a:r>
            <a:r>
              <a:rPr lang="zh-CN" altLang="zh-CN"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缺陷</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报告</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4" name="表格 3"/>
          <p:cNvGraphicFramePr>
            <a:graphicFrameLocks noGrp="1"/>
          </p:cNvGraphicFramePr>
          <p:nvPr/>
        </p:nvGraphicFramePr>
        <p:xfrm>
          <a:off x="2175309" y="1751799"/>
          <a:ext cx="8961120" cy="4514247"/>
        </p:xfrm>
        <a:graphic>
          <a:graphicData uri="http://schemas.openxmlformats.org/drawingml/2006/table">
            <a:tbl>
              <a:tblPr firstRow="1" firstCol="1" bandRow="1">
                <a:tableStyleId>{5C22544A-7EE6-4342-B048-85BDC9FD1C3A}</a:tableStyleId>
              </a:tblPr>
              <a:tblGrid>
                <a:gridCol w="2350165"/>
                <a:gridCol w="6610955"/>
              </a:tblGrid>
              <a:tr h="298382">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缺陷</a:t>
                      </a:r>
                      <a:r>
                        <a:rPr lang="en-US" sz="1600" kern="100" dirty="0">
                          <a:effectLst/>
                          <a:latin typeface="幼圆" panose="02010509060101010101" pitchFamily="49" charset="-122"/>
                          <a:ea typeface="幼圆" panose="02010509060101010101" pitchFamily="49" charset="-122"/>
                        </a:rPr>
                        <a:t>ID</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en-US" sz="1600" kern="100">
                          <a:effectLst/>
                          <a:latin typeface="幼圆" panose="02010509060101010101" pitchFamily="49" charset="-122"/>
                          <a:ea typeface="幼圆" panose="02010509060101010101" pitchFamily="49" charset="-122"/>
                        </a:rPr>
                        <a:t>Bug_006</a:t>
                      </a:r>
                      <a:endParaRPr lang="zh-CN" sz="1600" kern="100">
                        <a:effectLst/>
                        <a:latin typeface="幼圆" panose="02010509060101010101" pitchFamily="49" charset="-122"/>
                        <a:ea typeface="幼圆" panose="02010509060101010101" pitchFamily="49" charset="-122"/>
                      </a:endParaRPr>
                    </a:p>
                  </a:txBody>
                  <a:tcPr marL="68580" marR="68580" marT="0" marB="0" anchor="ctr"/>
                </a:tc>
              </a:tr>
              <a:tr h="233033">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测试软件名称</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a:effectLst/>
                          <a:latin typeface="幼圆" panose="02010509060101010101" pitchFamily="49" charset="-122"/>
                          <a:ea typeface="幼圆" panose="02010509060101010101" pitchFamily="49" charset="-122"/>
                        </a:rPr>
                        <a:t>在线考试系统</a:t>
                      </a:r>
                      <a:endParaRPr lang="zh-CN" sz="1600" kern="100">
                        <a:effectLst/>
                        <a:latin typeface="幼圆" panose="02010509060101010101" pitchFamily="49" charset="-122"/>
                        <a:ea typeface="幼圆" panose="02010509060101010101" pitchFamily="49" charset="-122"/>
                      </a:endParaRPr>
                    </a:p>
                  </a:txBody>
                  <a:tcPr marL="68580" marR="68580" marT="0" marB="0" anchor="ctr"/>
                </a:tc>
              </a:tr>
              <a:tr h="233033">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测试软件版本</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en-US" sz="1600" kern="100">
                          <a:effectLst/>
                          <a:latin typeface="幼圆" panose="02010509060101010101" pitchFamily="49" charset="-122"/>
                          <a:ea typeface="幼圆" panose="02010509060101010101" pitchFamily="49" charset="-122"/>
                        </a:rPr>
                        <a:t>1.0</a:t>
                      </a:r>
                      <a:endParaRPr lang="zh-CN" sz="1600" kern="100">
                        <a:effectLst/>
                        <a:latin typeface="幼圆" panose="02010509060101010101" pitchFamily="49" charset="-122"/>
                        <a:ea typeface="幼圆" panose="02010509060101010101" pitchFamily="49" charset="-122"/>
                      </a:endParaRPr>
                    </a:p>
                  </a:txBody>
                  <a:tcPr marL="68580" marR="68580" marT="0" marB="0" anchor="ctr"/>
                </a:tc>
              </a:tr>
              <a:tr h="233033">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缺陷发现日期</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en-US" sz="1600" kern="100">
                          <a:effectLst/>
                          <a:latin typeface="幼圆" panose="02010509060101010101" pitchFamily="49" charset="-122"/>
                          <a:ea typeface="幼圆" panose="02010509060101010101" pitchFamily="49" charset="-122"/>
                        </a:rPr>
                        <a:t>2019.05.06</a:t>
                      </a:r>
                      <a:endParaRPr lang="zh-CN" sz="1600" kern="100">
                        <a:effectLst/>
                        <a:latin typeface="幼圆" panose="02010509060101010101" pitchFamily="49" charset="-122"/>
                        <a:ea typeface="幼圆" panose="02010509060101010101" pitchFamily="49" charset="-122"/>
                      </a:endParaRPr>
                    </a:p>
                  </a:txBody>
                  <a:tcPr marL="68580" marR="68580" marT="0" marB="0" anchor="ctr"/>
                </a:tc>
              </a:tr>
              <a:tr h="233033">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测试人员</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a:effectLst/>
                          <a:latin typeface="幼圆" panose="02010509060101010101" pitchFamily="49" charset="-122"/>
                          <a:ea typeface="幼圆" panose="02010509060101010101" pitchFamily="49" charset="-122"/>
                        </a:rPr>
                        <a:t>薛蒙蒙</a:t>
                      </a:r>
                      <a:r>
                        <a:rPr lang="en-US" sz="1600" kern="100">
                          <a:effectLst/>
                          <a:latin typeface="幼圆" panose="02010509060101010101" pitchFamily="49" charset="-122"/>
                          <a:ea typeface="幼圆" panose="02010509060101010101" pitchFamily="49" charset="-122"/>
                        </a:rPr>
                        <a:t>   </a:t>
                      </a:r>
                      <a:r>
                        <a:rPr lang="zh-CN" sz="1600" kern="100">
                          <a:effectLst/>
                          <a:latin typeface="幼圆" panose="02010509060101010101" pitchFamily="49" charset="-122"/>
                          <a:ea typeface="幼圆" panose="02010509060101010101" pitchFamily="49" charset="-122"/>
                        </a:rPr>
                        <a:t>李卓</a:t>
                      </a:r>
                      <a:endParaRPr lang="zh-CN" sz="1600" kern="100">
                        <a:effectLst/>
                        <a:latin typeface="幼圆" panose="02010509060101010101" pitchFamily="49" charset="-122"/>
                        <a:ea typeface="幼圆" panose="02010509060101010101" pitchFamily="49" charset="-122"/>
                      </a:endParaRPr>
                    </a:p>
                  </a:txBody>
                  <a:tcPr marL="68580" marR="68580" marT="0" marB="0" anchor="ctr"/>
                </a:tc>
              </a:tr>
              <a:tr h="233033">
                <a:tc>
                  <a:txBody>
                    <a:bodyPr/>
                    <a:lstStyle/>
                    <a:p>
                      <a:pPr algn="just">
                        <a:spcAft>
                          <a:spcPts val="0"/>
                        </a:spcAft>
                      </a:pPr>
                      <a:r>
                        <a:rPr lang="zh-CN" sz="1600" kern="100">
                          <a:effectLst/>
                          <a:latin typeface="幼圆" panose="02010509060101010101" pitchFamily="49" charset="-122"/>
                          <a:ea typeface="幼圆" panose="02010509060101010101" pitchFamily="49" charset="-122"/>
                        </a:rPr>
                        <a:t>缺陷描述</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无法录入答案。</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233033">
                <a:tc>
                  <a:txBody>
                    <a:bodyPr/>
                    <a:lstStyle/>
                    <a:p>
                      <a:pPr algn="just">
                        <a:spcAft>
                          <a:spcPts val="0"/>
                        </a:spcAft>
                      </a:pPr>
                      <a:r>
                        <a:rPr lang="zh-CN" sz="1600" kern="100">
                          <a:effectLst/>
                          <a:latin typeface="幼圆" panose="02010509060101010101" pitchFamily="49" charset="-122"/>
                          <a:ea typeface="幼圆" panose="02010509060101010101" pitchFamily="49" charset="-122"/>
                        </a:rPr>
                        <a:t>附件</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无</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233033">
                <a:tc>
                  <a:txBody>
                    <a:bodyPr/>
                    <a:lstStyle/>
                    <a:p>
                      <a:pPr algn="just">
                        <a:spcAft>
                          <a:spcPts val="0"/>
                        </a:spcAft>
                      </a:pPr>
                      <a:r>
                        <a:rPr lang="zh-CN" sz="1600" kern="100">
                          <a:effectLst/>
                          <a:latin typeface="幼圆" panose="02010509060101010101" pitchFamily="49" charset="-122"/>
                          <a:ea typeface="幼圆" panose="02010509060101010101" pitchFamily="49" charset="-122"/>
                        </a:rPr>
                        <a:t>缺陷类型</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功能类型缺陷</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233033">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缺陷严重程度</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严重</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233033">
                <a:tc>
                  <a:txBody>
                    <a:bodyPr/>
                    <a:lstStyle/>
                    <a:p>
                      <a:pPr algn="just">
                        <a:spcAft>
                          <a:spcPts val="0"/>
                        </a:spcAft>
                      </a:pPr>
                      <a:r>
                        <a:rPr lang="zh-CN" sz="1600" kern="100">
                          <a:effectLst/>
                          <a:latin typeface="幼圆" panose="02010509060101010101" pitchFamily="49" charset="-122"/>
                          <a:ea typeface="幼圆" panose="02010509060101010101" pitchFamily="49" charset="-122"/>
                        </a:rPr>
                        <a:t>缺陷优先级</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立即解决</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699096">
                <a:tc>
                  <a:txBody>
                    <a:bodyPr/>
                    <a:lstStyle/>
                    <a:p>
                      <a:pPr algn="just">
                        <a:spcAft>
                          <a:spcPts val="0"/>
                        </a:spcAft>
                      </a:pPr>
                      <a:r>
                        <a:rPr lang="zh-CN" sz="1600" kern="100">
                          <a:effectLst/>
                          <a:latin typeface="幼圆" panose="02010509060101010101" pitchFamily="49" charset="-122"/>
                          <a:ea typeface="幼圆" panose="02010509060101010101" pitchFamily="49" charset="-122"/>
                        </a:rPr>
                        <a:t>测试环境</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处理器：</a:t>
                      </a:r>
                      <a:r>
                        <a:rPr lang="en-US" sz="1600" kern="100" dirty="0">
                          <a:effectLst/>
                          <a:latin typeface="幼圆" panose="02010509060101010101" pitchFamily="49" charset="-122"/>
                          <a:ea typeface="幼圆" panose="02010509060101010101" pitchFamily="49" charset="-122"/>
                        </a:rPr>
                        <a:t>Intel(R) Core(TM) i3-4160 CPU @ 3.6GHz 3.60GHz</a:t>
                      </a:r>
                      <a:endParaRPr lang="zh-CN" sz="1600" kern="100" dirty="0">
                        <a:effectLst/>
                        <a:latin typeface="幼圆" panose="02010509060101010101" pitchFamily="49" charset="-122"/>
                        <a:ea typeface="幼圆" panose="02010509060101010101" pitchFamily="49" charset="-122"/>
                      </a:endParaRPr>
                    </a:p>
                    <a:p>
                      <a:pPr algn="just">
                        <a:spcAft>
                          <a:spcPts val="0"/>
                        </a:spcAft>
                      </a:pPr>
                      <a:r>
                        <a:rPr lang="zh-CN" sz="1600" kern="100" dirty="0">
                          <a:effectLst/>
                          <a:latin typeface="幼圆" panose="02010509060101010101" pitchFamily="49" charset="-122"/>
                          <a:ea typeface="幼圆" panose="02010509060101010101" pitchFamily="49" charset="-122"/>
                        </a:rPr>
                        <a:t>内存：</a:t>
                      </a:r>
                      <a:r>
                        <a:rPr lang="en-US" sz="1600" kern="100" dirty="0">
                          <a:effectLst/>
                          <a:latin typeface="幼圆" panose="02010509060101010101" pitchFamily="49" charset="-122"/>
                          <a:ea typeface="幼圆" panose="02010509060101010101" pitchFamily="49" charset="-122"/>
                        </a:rPr>
                        <a:t>8.0GB</a:t>
                      </a:r>
                      <a:endParaRPr lang="zh-CN" sz="1600" kern="100" dirty="0">
                        <a:effectLst/>
                        <a:latin typeface="幼圆" panose="02010509060101010101" pitchFamily="49" charset="-122"/>
                        <a:ea typeface="幼圆" panose="02010509060101010101" pitchFamily="49" charset="-122"/>
                      </a:endParaRPr>
                    </a:p>
                    <a:p>
                      <a:pPr algn="just">
                        <a:spcAft>
                          <a:spcPts val="0"/>
                        </a:spcAft>
                      </a:pPr>
                      <a:r>
                        <a:rPr lang="zh-CN" sz="1600" kern="100" dirty="0">
                          <a:effectLst/>
                          <a:latin typeface="幼圆" panose="02010509060101010101" pitchFamily="49" charset="-122"/>
                          <a:ea typeface="幼圆" panose="02010509060101010101" pitchFamily="49" charset="-122"/>
                        </a:rPr>
                        <a:t>系统类型：</a:t>
                      </a:r>
                      <a:r>
                        <a:rPr lang="en-US" sz="1600" kern="100" dirty="0">
                          <a:effectLst/>
                          <a:latin typeface="幼圆" panose="02010509060101010101" pitchFamily="49" charset="-122"/>
                          <a:ea typeface="幼圆" panose="02010509060101010101" pitchFamily="49" charset="-122"/>
                        </a:rPr>
                        <a:t>windows10 64</a:t>
                      </a:r>
                      <a:r>
                        <a:rPr lang="zh-CN" sz="1600" kern="100" dirty="0">
                          <a:effectLst/>
                          <a:latin typeface="幼圆" panose="02010509060101010101" pitchFamily="49" charset="-122"/>
                          <a:ea typeface="幼圆" panose="02010509060101010101" pitchFamily="49" charset="-122"/>
                        </a:rPr>
                        <a:t>操作系统</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699096">
                <a:tc>
                  <a:txBody>
                    <a:bodyPr/>
                    <a:lstStyle/>
                    <a:p>
                      <a:pPr algn="just">
                        <a:spcAft>
                          <a:spcPts val="0"/>
                        </a:spcAft>
                      </a:pPr>
                      <a:r>
                        <a:rPr lang="zh-CN" sz="1600" kern="100">
                          <a:effectLst/>
                          <a:latin typeface="幼圆" panose="02010509060101010101" pitchFamily="49" charset="-122"/>
                          <a:ea typeface="幼圆" panose="02010509060101010101" pitchFamily="49" charset="-122"/>
                        </a:rPr>
                        <a:t>重现步骤</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marL="342900" lvl="0" indent="-342900" algn="just">
                        <a:spcAft>
                          <a:spcPts val="0"/>
                        </a:spcAft>
                        <a:buFont typeface="+mj-lt"/>
                        <a:buAutoNum type="arabicPeriod"/>
                      </a:pPr>
                      <a:r>
                        <a:rPr lang="zh-CN" sz="1600" kern="100" dirty="0">
                          <a:effectLst/>
                          <a:latin typeface="幼圆" panose="02010509060101010101" pitchFamily="49" charset="-122"/>
                          <a:ea typeface="幼圆" panose="02010509060101010101" pitchFamily="49" charset="-122"/>
                        </a:rPr>
                        <a:t>管理员登录系统。</a:t>
                      </a:r>
                      <a:endParaRPr lang="zh-CN" sz="1600" kern="100" dirty="0">
                        <a:effectLst/>
                        <a:latin typeface="幼圆" panose="02010509060101010101" pitchFamily="49" charset="-122"/>
                        <a:ea typeface="幼圆" panose="02010509060101010101" pitchFamily="49" charset="-122"/>
                      </a:endParaRPr>
                    </a:p>
                    <a:p>
                      <a:pPr marL="342900" lvl="0" indent="-342900" algn="just">
                        <a:spcAft>
                          <a:spcPts val="0"/>
                        </a:spcAft>
                        <a:buFont typeface="+mj-lt"/>
                        <a:buAutoNum type="arabicPeriod"/>
                      </a:pPr>
                      <a:r>
                        <a:rPr lang="zh-CN" sz="1600" kern="100" dirty="0">
                          <a:effectLst/>
                          <a:latin typeface="幼圆" panose="02010509060101010101" pitchFamily="49" charset="-122"/>
                          <a:ea typeface="幼圆" panose="02010509060101010101" pitchFamily="49" charset="-122"/>
                        </a:rPr>
                        <a:t>单击【发布试卷】按钮。</a:t>
                      </a:r>
                      <a:endParaRPr lang="zh-CN" sz="1600" kern="100" dirty="0">
                        <a:effectLst/>
                        <a:latin typeface="幼圆" panose="02010509060101010101" pitchFamily="49" charset="-122"/>
                        <a:ea typeface="幼圆" panose="02010509060101010101" pitchFamily="49" charset="-122"/>
                      </a:endParaRPr>
                    </a:p>
                    <a:p>
                      <a:pPr marL="342900" lvl="0" indent="-342900" algn="just">
                        <a:spcAft>
                          <a:spcPts val="0"/>
                        </a:spcAft>
                        <a:buFont typeface="+mj-lt"/>
                        <a:buAutoNum type="arabicPeriod"/>
                      </a:pPr>
                      <a:r>
                        <a:rPr lang="zh-CN" sz="1600" kern="100" dirty="0">
                          <a:effectLst/>
                          <a:latin typeface="幼圆" panose="02010509060101010101" pitchFamily="49" charset="-122"/>
                          <a:ea typeface="幼圆" panose="02010509060101010101" pitchFamily="49" charset="-122"/>
                        </a:rPr>
                        <a:t>单击【发布】按钮。</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r h="558265">
                <a:tc>
                  <a:txBody>
                    <a:bodyPr/>
                    <a:lstStyle/>
                    <a:p>
                      <a:pPr algn="just">
                        <a:spcAft>
                          <a:spcPts val="0"/>
                        </a:spcAft>
                      </a:pPr>
                      <a:r>
                        <a:rPr lang="zh-CN" sz="1600" kern="100">
                          <a:effectLst/>
                          <a:latin typeface="幼圆" panose="02010509060101010101" pitchFamily="49" charset="-122"/>
                          <a:ea typeface="幼圆" panose="02010509060101010101" pitchFamily="49" charset="-122"/>
                        </a:rPr>
                        <a:t>备注</a:t>
                      </a:r>
                      <a:endParaRPr lang="zh-CN" sz="16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600" kern="100" dirty="0">
                          <a:effectLst/>
                          <a:latin typeface="幼圆" panose="02010509060101010101" pitchFamily="49" charset="-122"/>
                          <a:ea typeface="幼圆" panose="02010509060101010101" pitchFamily="49" charset="-122"/>
                        </a:rPr>
                        <a:t>本缺陷应当由测试用例</a:t>
                      </a:r>
                      <a:r>
                        <a:rPr lang="en-US" sz="1600" kern="100" dirty="0">
                          <a:effectLst/>
                          <a:latin typeface="幼圆" panose="02010509060101010101" pitchFamily="49" charset="-122"/>
                          <a:ea typeface="幼圆" panose="02010509060101010101" pitchFamily="49" charset="-122"/>
                        </a:rPr>
                        <a:t>T_006</a:t>
                      </a:r>
                      <a:r>
                        <a:rPr lang="zh-CN" sz="1600" kern="100" dirty="0">
                          <a:effectLst/>
                          <a:latin typeface="幼圆" panose="02010509060101010101" pitchFamily="49" charset="-122"/>
                          <a:ea typeface="幼圆" panose="02010509060101010101" pitchFamily="49" charset="-122"/>
                        </a:rPr>
                        <a:t>测试得出，但测试用例</a:t>
                      </a:r>
                      <a:r>
                        <a:rPr lang="en-US" sz="1600" kern="100" dirty="0">
                          <a:effectLst/>
                          <a:latin typeface="幼圆" panose="02010509060101010101" pitchFamily="49" charset="-122"/>
                          <a:ea typeface="幼圆" panose="02010509060101010101" pitchFamily="49" charset="-122"/>
                        </a:rPr>
                        <a:t>T_001</a:t>
                      </a:r>
                      <a:r>
                        <a:rPr lang="zh-CN" sz="1600" kern="100" dirty="0">
                          <a:effectLst/>
                          <a:latin typeface="幼圆" panose="02010509060101010101" pitchFamily="49" charset="-122"/>
                          <a:ea typeface="幼圆" panose="02010509060101010101" pitchFamily="49" charset="-122"/>
                        </a:rPr>
                        <a:t>已经测试得出本系统没有管理员入口，没有管理员登录入口便无法录入答案。</a:t>
                      </a:r>
                      <a:endParaRPr lang="zh-CN" sz="1600" kern="100" dirty="0">
                        <a:effectLst/>
                        <a:latin typeface="幼圆" panose="02010509060101010101" pitchFamily="49" charset="-122"/>
                        <a:ea typeface="幼圆" panose="02010509060101010101" pitchFamily="49" charset="-122"/>
                      </a:endParaRPr>
                    </a:p>
                  </a:txBody>
                  <a:tcPr marL="68580" marR="68580" marT="0" marB="0" anchor="ctr"/>
                </a:tc>
              </a:tr>
            </a:tbl>
          </a:graphicData>
        </a:graphic>
      </p:graphicFrame>
      <p:sp>
        <p:nvSpPr>
          <p:cNvPr id="2" name="标题 2"/>
          <p:cNvSpPr>
            <a:spLocks noGrp="1"/>
          </p:cNvSpPr>
          <p:nvPr/>
        </p:nvSpPr>
        <p:spPr>
          <a:xfrm>
            <a:off x="1922333" y="272228"/>
            <a:ext cx="9167913" cy="5331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rgbClr val="C00000"/>
                </a:solidFill>
                <a:latin typeface="微软雅黑" panose="020B0503020204020204" pitchFamily="34" charset="-122"/>
                <a:ea typeface="微软雅黑" panose="020B0503020204020204" pitchFamily="34" charset="-122"/>
                <a:cs typeface="+mj-cs"/>
              </a:defRPr>
            </a:lvl1pPr>
          </a:lstStyle>
          <a:p>
            <a:pPr marL="0" algn="l" defTabSz="914400" rtl="0" eaLnBrk="1" latinLnBrk="0" hangingPunct="1"/>
            <a:r>
              <a:rPr lang="zh-CN" altLang="en-US" dirty="0" smtClean="0">
                <a:solidFill>
                  <a:srgbClr val="FF0000"/>
                </a:solidFill>
                <a:sym typeface="+mn-ea"/>
              </a:rPr>
              <a:t>缺陷报告</a:t>
            </a:r>
            <a:endParaRPr lang="zh-CN" altLang="en-US" dirty="0" smtClean="0">
              <a:solidFill>
                <a:srgbClr val="FF0000"/>
              </a:solidFill>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barn(inVertical)">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内容占位符 2"/>
          <p:cNvSpPr txBox="1"/>
          <p:nvPr/>
        </p:nvSpPr>
        <p:spPr>
          <a:xfrm>
            <a:off x="5120641" y="1152047"/>
            <a:ext cx="2829826" cy="724882"/>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Bug_007</a:t>
            </a:r>
            <a:r>
              <a:rPr lang="zh-CN" altLang="zh-CN"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缺陷</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报告</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2" name="表格 1"/>
          <p:cNvGraphicFramePr>
            <a:graphicFrameLocks noGrp="1"/>
          </p:cNvGraphicFramePr>
          <p:nvPr/>
        </p:nvGraphicFramePr>
        <p:xfrm>
          <a:off x="1973173" y="1767842"/>
          <a:ext cx="9259503" cy="4276823"/>
        </p:xfrm>
        <a:graphic>
          <a:graphicData uri="http://schemas.openxmlformats.org/drawingml/2006/table">
            <a:tbl>
              <a:tblPr firstRow="1" firstCol="1" bandRow="1">
                <a:tableStyleId>{5C22544A-7EE6-4342-B048-85BDC9FD1C3A}</a:tableStyleId>
              </a:tblPr>
              <a:tblGrid>
                <a:gridCol w="2428419"/>
                <a:gridCol w="6831084"/>
              </a:tblGrid>
              <a:tr h="288751">
                <a:tc>
                  <a:txBody>
                    <a:bodyPr/>
                    <a:lstStyle/>
                    <a:p>
                      <a:pPr algn="just">
                        <a:spcAft>
                          <a:spcPts val="0"/>
                        </a:spcAft>
                      </a:pPr>
                      <a:r>
                        <a:rPr lang="zh-CN" sz="1400" kern="100" dirty="0">
                          <a:effectLst/>
                          <a:latin typeface="幼圆" panose="02010509060101010101" pitchFamily="49" charset="-122"/>
                          <a:ea typeface="幼圆" panose="02010509060101010101" pitchFamily="49" charset="-122"/>
                        </a:rPr>
                        <a:t>缺陷</a:t>
                      </a:r>
                      <a:r>
                        <a:rPr lang="en-US" sz="1400" kern="100" dirty="0">
                          <a:effectLst/>
                          <a:latin typeface="幼圆" panose="02010509060101010101" pitchFamily="49" charset="-122"/>
                          <a:ea typeface="幼圆" panose="02010509060101010101" pitchFamily="49" charset="-122"/>
                        </a:rPr>
                        <a:t>ID</a:t>
                      </a:r>
                      <a:endParaRPr lang="zh-CN" sz="14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en-US" sz="1400" kern="100">
                          <a:effectLst/>
                          <a:latin typeface="幼圆" panose="02010509060101010101" pitchFamily="49" charset="-122"/>
                          <a:ea typeface="幼圆" panose="02010509060101010101" pitchFamily="49" charset="-122"/>
                        </a:rPr>
                        <a:t>Bug_007</a:t>
                      </a:r>
                      <a:endParaRPr lang="zh-CN" sz="1400" kern="100">
                        <a:effectLst/>
                        <a:latin typeface="幼圆" panose="02010509060101010101" pitchFamily="49" charset="-122"/>
                        <a:ea typeface="幼圆" panose="02010509060101010101" pitchFamily="49" charset="-122"/>
                      </a:endParaRPr>
                    </a:p>
                  </a:txBody>
                  <a:tcPr marL="68580" marR="68580" marT="0" marB="0" anchor="ctr"/>
                </a:tc>
              </a:tr>
              <a:tr h="213680">
                <a:tc>
                  <a:txBody>
                    <a:bodyPr/>
                    <a:lstStyle/>
                    <a:p>
                      <a:pPr algn="just">
                        <a:spcAft>
                          <a:spcPts val="0"/>
                        </a:spcAft>
                      </a:pPr>
                      <a:r>
                        <a:rPr lang="zh-CN" sz="1400" kern="100" dirty="0">
                          <a:effectLst/>
                          <a:latin typeface="幼圆" panose="02010509060101010101" pitchFamily="49" charset="-122"/>
                          <a:ea typeface="幼圆" panose="02010509060101010101" pitchFamily="49" charset="-122"/>
                        </a:rPr>
                        <a:t>测试软件名称</a:t>
                      </a:r>
                      <a:endParaRPr lang="zh-CN" sz="14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400" kern="100">
                          <a:effectLst/>
                          <a:latin typeface="幼圆" panose="02010509060101010101" pitchFamily="49" charset="-122"/>
                          <a:ea typeface="幼圆" panose="02010509060101010101" pitchFamily="49" charset="-122"/>
                        </a:rPr>
                        <a:t>在线考试系统</a:t>
                      </a:r>
                      <a:endParaRPr lang="zh-CN" sz="1400" kern="100">
                        <a:effectLst/>
                        <a:latin typeface="幼圆" panose="02010509060101010101" pitchFamily="49" charset="-122"/>
                        <a:ea typeface="幼圆" panose="02010509060101010101" pitchFamily="49" charset="-122"/>
                      </a:endParaRPr>
                    </a:p>
                  </a:txBody>
                  <a:tcPr marL="68580" marR="68580" marT="0" marB="0" anchor="ctr"/>
                </a:tc>
              </a:tr>
              <a:tr h="213680">
                <a:tc>
                  <a:txBody>
                    <a:bodyPr/>
                    <a:lstStyle/>
                    <a:p>
                      <a:pPr algn="just">
                        <a:spcAft>
                          <a:spcPts val="0"/>
                        </a:spcAft>
                      </a:pPr>
                      <a:r>
                        <a:rPr lang="zh-CN" sz="1400" kern="100" dirty="0">
                          <a:effectLst/>
                          <a:latin typeface="幼圆" panose="02010509060101010101" pitchFamily="49" charset="-122"/>
                          <a:ea typeface="幼圆" panose="02010509060101010101" pitchFamily="49" charset="-122"/>
                        </a:rPr>
                        <a:t>测试软件版本</a:t>
                      </a:r>
                      <a:endParaRPr lang="zh-CN" sz="14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en-US" sz="1400" kern="100">
                          <a:effectLst/>
                          <a:latin typeface="幼圆" panose="02010509060101010101" pitchFamily="49" charset="-122"/>
                          <a:ea typeface="幼圆" panose="02010509060101010101" pitchFamily="49" charset="-122"/>
                        </a:rPr>
                        <a:t>1.0</a:t>
                      </a:r>
                      <a:endParaRPr lang="zh-CN" sz="1400" kern="100">
                        <a:effectLst/>
                        <a:latin typeface="幼圆" panose="02010509060101010101" pitchFamily="49" charset="-122"/>
                        <a:ea typeface="幼圆" panose="02010509060101010101" pitchFamily="49" charset="-122"/>
                      </a:endParaRPr>
                    </a:p>
                  </a:txBody>
                  <a:tcPr marL="68580" marR="68580" marT="0" marB="0" anchor="ctr"/>
                </a:tc>
              </a:tr>
              <a:tr h="213680">
                <a:tc>
                  <a:txBody>
                    <a:bodyPr/>
                    <a:lstStyle/>
                    <a:p>
                      <a:pPr algn="just">
                        <a:spcAft>
                          <a:spcPts val="0"/>
                        </a:spcAft>
                      </a:pPr>
                      <a:r>
                        <a:rPr lang="zh-CN" sz="1400" kern="100" dirty="0">
                          <a:effectLst/>
                          <a:latin typeface="幼圆" panose="02010509060101010101" pitchFamily="49" charset="-122"/>
                          <a:ea typeface="幼圆" panose="02010509060101010101" pitchFamily="49" charset="-122"/>
                        </a:rPr>
                        <a:t>缺陷发现日期</a:t>
                      </a:r>
                      <a:endParaRPr lang="zh-CN" sz="14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en-US" sz="1400" kern="100" dirty="0">
                          <a:effectLst/>
                          <a:latin typeface="幼圆" panose="02010509060101010101" pitchFamily="49" charset="-122"/>
                          <a:ea typeface="幼圆" panose="02010509060101010101" pitchFamily="49" charset="-122"/>
                        </a:rPr>
                        <a:t>2019.05.08</a:t>
                      </a:r>
                      <a:endParaRPr lang="zh-CN" sz="1400" kern="100" dirty="0">
                        <a:effectLst/>
                        <a:latin typeface="幼圆" panose="02010509060101010101" pitchFamily="49" charset="-122"/>
                        <a:ea typeface="幼圆" panose="02010509060101010101" pitchFamily="49" charset="-122"/>
                      </a:endParaRPr>
                    </a:p>
                  </a:txBody>
                  <a:tcPr marL="68580" marR="68580" marT="0" marB="0" anchor="ctr"/>
                </a:tc>
              </a:tr>
              <a:tr h="213680">
                <a:tc>
                  <a:txBody>
                    <a:bodyPr/>
                    <a:lstStyle/>
                    <a:p>
                      <a:pPr algn="just">
                        <a:spcAft>
                          <a:spcPts val="0"/>
                        </a:spcAft>
                      </a:pPr>
                      <a:r>
                        <a:rPr lang="zh-CN" sz="1400" kern="100" dirty="0">
                          <a:effectLst/>
                          <a:latin typeface="幼圆" panose="02010509060101010101" pitchFamily="49" charset="-122"/>
                          <a:ea typeface="幼圆" panose="02010509060101010101" pitchFamily="49" charset="-122"/>
                        </a:rPr>
                        <a:t>测试人员</a:t>
                      </a:r>
                      <a:endParaRPr lang="zh-CN" sz="14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400" kern="100">
                          <a:effectLst/>
                          <a:latin typeface="幼圆" panose="02010509060101010101" pitchFamily="49" charset="-122"/>
                          <a:ea typeface="幼圆" panose="02010509060101010101" pitchFamily="49" charset="-122"/>
                        </a:rPr>
                        <a:t>薛蒙蒙</a:t>
                      </a:r>
                      <a:r>
                        <a:rPr lang="en-US" sz="1400" kern="100">
                          <a:effectLst/>
                          <a:latin typeface="幼圆" panose="02010509060101010101" pitchFamily="49" charset="-122"/>
                          <a:ea typeface="幼圆" panose="02010509060101010101" pitchFamily="49" charset="-122"/>
                        </a:rPr>
                        <a:t>   </a:t>
                      </a:r>
                      <a:r>
                        <a:rPr lang="zh-CN" sz="1400" kern="100">
                          <a:effectLst/>
                          <a:latin typeface="幼圆" panose="02010509060101010101" pitchFamily="49" charset="-122"/>
                          <a:ea typeface="幼圆" panose="02010509060101010101" pitchFamily="49" charset="-122"/>
                        </a:rPr>
                        <a:t>李卓</a:t>
                      </a:r>
                      <a:endParaRPr lang="zh-CN" sz="1400" kern="100">
                        <a:effectLst/>
                        <a:latin typeface="幼圆" panose="02010509060101010101" pitchFamily="49" charset="-122"/>
                        <a:ea typeface="幼圆" panose="02010509060101010101" pitchFamily="49" charset="-122"/>
                      </a:endParaRPr>
                    </a:p>
                  </a:txBody>
                  <a:tcPr marL="68580" marR="68580" marT="0" marB="0" anchor="ctr"/>
                </a:tc>
              </a:tr>
              <a:tr h="213680">
                <a:tc>
                  <a:txBody>
                    <a:bodyPr/>
                    <a:lstStyle/>
                    <a:p>
                      <a:pPr algn="just">
                        <a:spcAft>
                          <a:spcPts val="0"/>
                        </a:spcAft>
                      </a:pPr>
                      <a:r>
                        <a:rPr lang="zh-CN" sz="1400" kern="100" dirty="0">
                          <a:effectLst/>
                          <a:latin typeface="幼圆" panose="02010509060101010101" pitchFamily="49" charset="-122"/>
                          <a:ea typeface="幼圆" panose="02010509060101010101" pitchFamily="49" charset="-122"/>
                        </a:rPr>
                        <a:t>缺陷描述</a:t>
                      </a:r>
                      <a:endParaRPr lang="zh-CN" sz="14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400" kern="100">
                          <a:effectLst/>
                          <a:latin typeface="幼圆" panose="02010509060101010101" pitchFamily="49" charset="-122"/>
                          <a:ea typeface="幼圆" panose="02010509060101010101" pitchFamily="49" charset="-122"/>
                        </a:rPr>
                        <a:t>不能用平板登录在线考试系统。</a:t>
                      </a:r>
                      <a:endParaRPr lang="zh-CN" sz="1400" kern="100">
                        <a:effectLst/>
                        <a:latin typeface="幼圆" panose="02010509060101010101" pitchFamily="49" charset="-122"/>
                        <a:ea typeface="幼圆" panose="02010509060101010101" pitchFamily="49" charset="-122"/>
                      </a:endParaRPr>
                    </a:p>
                  </a:txBody>
                  <a:tcPr marL="68580" marR="68580" marT="0" marB="0" anchor="ctr"/>
                </a:tc>
              </a:tr>
              <a:tr h="213680">
                <a:tc>
                  <a:txBody>
                    <a:bodyPr/>
                    <a:lstStyle/>
                    <a:p>
                      <a:pPr algn="just">
                        <a:spcAft>
                          <a:spcPts val="0"/>
                        </a:spcAft>
                      </a:pPr>
                      <a:r>
                        <a:rPr lang="zh-CN" sz="1400" kern="100" dirty="0">
                          <a:effectLst/>
                          <a:latin typeface="幼圆" panose="02010509060101010101" pitchFamily="49" charset="-122"/>
                          <a:ea typeface="幼圆" panose="02010509060101010101" pitchFamily="49" charset="-122"/>
                        </a:rPr>
                        <a:t>附件</a:t>
                      </a:r>
                      <a:endParaRPr lang="zh-CN" sz="14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400" kern="100">
                          <a:effectLst/>
                          <a:latin typeface="幼圆" panose="02010509060101010101" pitchFamily="49" charset="-122"/>
                          <a:ea typeface="幼圆" panose="02010509060101010101" pitchFamily="49" charset="-122"/>
                        </a:rPr>
                        <a:t>无</a:t>
                      </a:r>
                      <a:endParaRPr lang="zh-CN" sz="1400" kern="100">
                        <a:effectLst/>
                        <a:latin typeface="幼圆" panose="02010509060101010101" pitchFamily="49" charset="-122"/>
                        <a:ea typeface="幼圆" panose="02010509060101010101" pitchFamily="49" charset="-122"/>
                      </a:endParaRPr>
                    </a:p>
                  </a:txBody>
                  <a:tcPr marL="68580" marR="68580" marT="0" marB="0" anchor="ctr"/>
                </a:tc>
              </a:tr>
              <a:tr h="213680">
                <a:tc>
                  <a:txBody>
                    <a:bodyPr/>
                    <a:lstStyle/>
                    <a:p>
                      <a:pPr algn="just">
                        <a:spcAft>
                          <a:spcPts val="0"/>
                        </a:spcAft>
                      </a:pPr>
                      <a:r>
                        <a:rPr lang="zh-CN" sz="1400" kern="100" dirty="0">
                          <a:effectLst/>
                          <a:latin typeface="幼圆" panose="02010509060101010101" pitchFamily="49" charset="-122"/>
                          <a:ea typeface="幼圆" panose="02010509060101010101" pitchFamily="49" charset="-122"/>
                        </a:rPr>
                        <a:t>缺陷类型</a:t>
                      </a:r>
                      <a:endParaRPr lang="zh-CN" sz="14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400" kern="100" dirty="0">
                          <a:effectLst/>
                          <a:latin typeface="幼圆" panose="02010509060101010101" pitchFamily="49" charset="-122"/>
                          <a:ea typeface="幼圆" panose="02010509060101010101" pitchFamily="49" charset="-122"/>
                        </a:rPr>
                        <a:t>功能类型缺陷</a:t>
                      </a:r>
                      <a:endParaRPr lang="zh-CN" sz="1400" kern="100" dirty="0">
                        <a:effectLst/>
                        <a:latin typeface="幼圆" panose="02010509060101010101" pitchFamily="49" charset="-122"/>
                        <a:ea typeface="幼圆" panose="02010509060101010101" pitchFamily="49" charset="-122"/>
                      </a:endParaRPr>
                    </a:p>
                  </a:txBody>
                  <a:tcPr marL="68580" marR="68580" marT="0" marB="0" anchor="ctr"/>
                </a:tc>
              </a:tr>
              <a:tr h="213680">
                <a:tc>
                  <a:txBody>
                    <a:bodyPr/>
                    <a:lstStyle/>
                    <a:p>
                      <a:pPr algn="just">
                        <a:spcAft>
                          <a:spcPts val="0"/>
                        </a:spcAft>
                      </a:pPr>
                      <a:r>
                        <a:rPr lang="zh-CN" sz="1400" kern="100">
                          <a:effectLst/>
                          <a:latin typeface="幼圆" panose="02010509060101010101" pitchFamily="49" charset="-122"/>
                          <a:ea typeface="幼圆" panose="02010509060101010101" pitchFamily="49" charset="-122"/>
                        </a:rPr>
                        <a:t>缺陷严重程度</a:t>
                      </a:r>
                      <a:endParaRPr lang="zh-CN" sz="14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400" kern="100" dirty="0">
                          <a:effectLst/>
                          <a:latin typeface="幼圆" panose="02010509060101010101" pitchFamily="49" charset="-122"/>
                          <a:ea typeface="幼圆" panose="02010509060101010101" pitchFamily="49" charset="-122"/>
                        </a:rPr>
                        <a:t>一般</a:t>
                      </a:r>
                      <a:endParaRPr lang="zh-CN" sz="1400" kern="100" dirty="0">
                        <a:effectLst/>
                        <a:latin typeface="幼圆" panose="02010509060101010101" pitchFamily="49" charset="-122"/>
                        <a:ea typeface="幼圆" panose="02010509060101010101" pitchFamily="49" charset="-122"/>
                      </a:endParaRPr>
                    </a:p>
                  </a:txBody>
                  <a:tcPr marL="68580" marR="68580" marT="0" marB="0" anchor="ctr"/>
                </a:tc>
              </a:tr>
              <a:tr h="213680">
                <a:tc>
                  <a:txBody>
                    <a:bodyPr/>
                    <a:lstStyle/>
                    <a:p>
                      <a:pPr algn="just">
                        <a:spcAft>
                          <a:spcPts val="0"/>
                        </a:spcAft>
                      </a:pPr>
                      <a:r>
                        <a:rPr lang="zh-CN" sz="1400" kern="100">
                          <a:effectLst/>
                          <a:latin typeface="幼圆" panose="02010509060101010101" pitchFamily="49" charset="-122"/>
                          <a:ea typeface="幼圆" panose="02010509060101010101" pitchFamily="49" charset="-122"/>
                        </a:rPr>
                        <a:t>缺陷优先级</a:t>
                      </a:r>
                      <a:endParaRPr lang="zh-CN" sz="14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400" kern="100" dirty="0">
                          <a:effectLst/>
                          <a:latin typeface="幼圆" panose="02010509060101010101" pitchFamily="49" charset="-122"/>
                          <a:ea typeface="幼圆" panose="02010509060101010101" pitchFamily="49" charset="-122"/>
                        </a:rPr>
                        <a:t>可延后解决</a:t>
                      </a:r>
                      <a:endParaRPr lang="zh-CN" sz="1400" kern="100" dirty="0">
                        <a:effectLst/>
                        <a:latin typeface="幼圆" panose="02010509060101010101" pitchFamily="49" charset="-122"/>
                        <a:ea typeface="幼圆" panose="02010509060101010101" pitchFamily="49" charset="-122"/>
                      </a:endParaRPr>
                    </a:p>
                  </a:txBody>
                  <a:tcPr marL="68580" marR="68580" marT="0" marB="0" anchor="ctr"/>
                </a:tc>
              </a:tr>
              <a:tr h="641042">
                <a:tc>
                  <a:txBody>
                    <a:bodyPr/>
                    <a:lstStyle/>
                    <a:p>
                      <a:pPr algn="just">
                        <a:spcAft>
                          <a:spcPts val="0"/>
                        </a:spcAft>
                      </a:pPr>
                      <a:r>
                        <a:rPr lang="zh-CN" sz="1400" kern="100" dirty="0">
                          <a:effectLst/>
                          <a:latin typeface="幼圆" panose="02010509060101010101" pitchFamily="49" charset="-122"/>
                          <a:ea typeface="幼圆" panose="02010509060101010101" pitchFamily="49" charset="-122"/>
                        </a:rPr>
                        <a:t>测试环境</a:t>
                      </a:r>
                      <a:endParaRPr lang="zh-CN" sz="14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400" kern="100" dirty="0">
                          <a:effectLst/>
                          <a:latin typeface="幼圆" panose="02010509060101010101" pitchFamily="49" charset="-122"/>
                          <a:ea typeface="幼圆" panose="02010509060101010101" pitchFamily="49" charset="-122"/>
                        </a:rPr>
                        <a:t>处理器：</a:t>
                      </a:r>
                      <a:r>
                        <a:rPr lang="en-US" sz="1400" kern="100" dirty="0">
                          <a:effectLst/>
                          <a:latin typeface="幼圆" panose="02010509060101010101" pitchFamily="49" charset="-122"/>
                          <a:ea typeface="幼圆" panose="02010509060101010101" pitchFamily="49" charset="-122"/>
                        </a:rPr>
                        <a:t>Intel(R) Core(TM) i3-4160 CPU @ 3.6GHz 3.60GHz</a:t>
                      </a:r>
                      <a:endParaRPr lang="zh-CN" sz="1400" kern="100" dirty="0">
                        <a:effectLst/>
                        <a:latin typeface="幼圆" panose="02010509060101010101" pitchFamily="49" charset="-122"/>
                        <a:ea typeface="幼圆" panose="02010509060101010101" pitchFamily="49" charset="-122"/>
                      </a:endParaRPr>
                    </a:p>
                    <a:p>
                      <a:pPr algn="just">
                        <a:spcAft>
                          <a:spcPts val="0"/>
                        </a:spcAft>
                      </a:pPr>
                      <a:r>
                        <a:rPr lang="zh-CN" sz="1400" kern="100" dirty="0">
                          <a:effectLst/>
                          <a:latin typeface="幼圆" panose="02010509060101010101" pitchFamily="49" charset="-122"/>
                          <a:ea typeface="幼圆" panose="02010509060101010101" pitchFamily="49" charset="-122"/>
                        </a:rPr>
                        <a:t>内存：</a:t>
                      </a:r>
                      <a:r>
                        <a:rPr lang="en-US" sz="1400" kern="100" dirty="0">
                          <a:effectLst/>
                          <a:latin typeface="幼圆" panose="02010509060101010101" pitchFamily="49" charset="-122"/>
                          <a:ea typeface="幼圆" panose="02010509060101010101" pitchFamily="49" charset="-122"/>
                        </a:rPr>
                        <a:t>8.0GB</a:t>
                      </a:r>
                      <a:endParaRPr lang="zh-CN" sz="1400" kern="100" dirty="0">
                        <a:effectLst/>
                        <a:latin typeface="幼圆" panose="02010509060101010101" pitchFamily="49" charset="-122"/>
                        <a:ea typeface="幼圆" panose="02010509060101010101" pitchFamily="49" charset="-122"/>
                      </a:endParaRPr>
                    </a:p>
                    <a:p>
                      <a:pPr algn="just">
                        <a:spcAft>
                          <a:spcPts val="0"/>
                        </a:spcAft>
                      </a:pPr>
                      <a:r>
                        <a:rPr lang="zh-CN" sz="1400" kern="100" dirty="0">
                          <a:effectLst/>
                          <a:latin typeface="幼圆" panose="02010509060101010101" pitchFamily="49" charset="-122"/>
                          <a:ea typeface="幼圆" panose="02010509060101010101" pitchFamily="49" charset="-122"/>
                        </a:rPr>
                        <a:t>系统类型：</a:t>
                      </a:r>
                      <a:r>
                        <a:rPr lang="en-US" sz="1400" kern="100" dirty="0">
                          <a:effectLst/>
                          <a:latin typeface="幼圆" panose="02010509060101010101" pitchFamily="49" charset="-122"/>
                          <a:ea typeface="幼圆" panose="02010509060101010101" pitchFamily="49" charset="-122"/>
                        </a:rPr>
                        <a:t>windows10 64</a:t>
                      </a:r>
                      <a:r>
                        <a:rPr lang="zh-CN" sz="1400" kern="100" dirty="0">
                          <a:effectLst/>
                          <a:latin typeface="幼圆" panose="02010509060101010101" pitchFamily="49" charset="-122"/>
                          <a:ea typeface="幼圆" panose="02010509060101010101" pitchFamily="49" charset="-122"/>
                        </a:rPr>
                        <a:t>操作系统</a:t>
                      </a:r>
                      <a:endParaRPr lang="zh-CN" sz="1400" kern="100" dirty="0">
                        <a:effectLst/>
                        <a:latin typeface="幼圆" panose="02010509060101010101" pitchFamily="49" charset="-122"/>
                        <a:ea typeface="幼圆" panose="02010509060101010101" pitchFamily="49" charset="-122"/>
                      </a:endParaRPr>
                    </a:p>
                  </a:txBody>
                  <a:tcPr marL="68580" marR="68580" marT="0" marB="0" anchor="ctr"/>
                </a:tc>
              </a:tr>
              <a:tr h="1068404">
                <a:tc>
                  <a:txBody>
                    <a:bodyPr/>
                    <a:lstStyle/>
                    <a:p>
                      <a:pPr algn="just">
                        <a:spcAft>
                          <a:spcPts val="0"/>
                        </a:spcAft>
                      </a:pPr>
                      <a:r>
                        <a:rPr lang="zh-CN" sz="1400" kern="100" dirty="0">
                          <a:effectLst/>
                          <a:latin typeface="幼圆" panose="02010509060101010101" pitchFamily="49" charset="-122"/>
                          <a:ea typeface="幼圆" panose="02010509060101010101" pitchFamily="49" charset="-122"/>
                        </a:rPr>
                        <a:t>重现步骤</a:t>
                      </a:r>
                      <a:endParaRPr lang="zh-CN" sz="14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marL="342900" lvl="0" indent="-342900" algn="just">
                        <a:spcAft>
                          <a:spcPts val="0"/>
                        </a:spcAft>
                        <a:buFont typeface="+mj-lt"/>
                        <a:buAutoNum type="arabicPeriod"/>
                      </a:pPr>
                      <a:r>
                        <a:rPr lang="zh-CN" sz="1400" kern="100" dirty="0">
                          <a:effectLst/>
                          <a:latin typeface="幼圆" panose="02010509060101010101" pitchFamily="49" charset="-122"/>
                          <a:ea typeface="幼圆" panose="02010509060101010101" pitchFamily="49" charset="-122"/>
                        </a:rPr>
                        <a:t>在平板电脑端登录系统。</a:t>
                      </a:r>
                      <a:endParaRPr lang="zh-CN" sz="1400" kern="100" dirty="0">
                        <a:effectLst/>
                        <a:latin typeface="幼圆" panose="02010509060101010101" pitchFamily="49" charset="-122"/>
                        <a:ea typeface="幼圆" panose="02010509060101010101" pitchFamily="49" charset="-122"/>
                      </a:endParaRPr>
                    </a:p>
                    <a:p>
                      <a:pPr marL="342900" lvl="0" indent="-342900" algn="just">
                        <a:spcAft>
                          <a:spcPts val="0"/>
                        </a:spcAft>
                        <a:buFont typeface="+mj-lt"/>
                        <a:buAutoNum type="arabicPeriod"/>
                      </a:pPr>
                      <a:r>
                        <a:rPr lang="zh-CN" sz="1400" kern="100" dirty="0">
                          <a:effectLst/>
                          <a:latin typeface="幼圆" panose="02010509060101010101" pitchFamily="49" charset="-122"/>
                          <a:ea typeface="幼圆" panose="02010509060101010101" pitchFamily="49" charset="-122"/>
                        </a:rPr>
                        <a:t>选择试卷。</a:t>
                      </a:r>
                      <a:endParaRPr lang="zh-CN" sz="1400" kern="100" dirty="0">
                        <a:effectLst/>
                        <a:latin typeface="幼圆" panose="02010509060101010101" pitchFamily="49" charset="-122"/>
                        <a:ea typeface="幼圆" panose="02010509060101010101" pitchFamily="49" charset="-122"/>
                      </a:endParaRPr>
                    </a:p>
                    <a:p>
                      <a:pPr marL="342900" lvl="0" indent="-342900" algn="just">
                        <a:spcAft>
                          <a:spcPts val="0"/>
                        </a:spcAft>
                        <a:buFont typeface="+mj-lt"/>
                        <a:buAutoNum type="arabicPeriod"/>
                      </a:pPr>
                      <a:r>
                        <a:rPr lang="zh-CN" sz="1400" kern="100" dirty="0">
                          <a:effectLst/>
                          <a:latin typeface="幼圆" panose="02010509060101010101" pitchFamily="49" charset="-122"/>
                          <a:ea typeface="幼圆" panose="02010509060101010101" pitchFamily="49" charset="-122"/>
                        </a:rPr>
                        <a:t>答题。</a:t>
                      </a:r>
                      <a:endParaRPr lang="zh-CN" sz="1400" kern="100" dirty="0">
                        <a:effectLst/>
                        <a:latin typeface="幼圆" panose="02010509060101010101" pitchFamily="49" charset="-122"/>
                        <a:ea typeface="幼圆" panose="02010509060101010101" pitchFamily="49" charset="-122"/>
                      </a:endParaRPr>
                    </a:p>
                    <a:p>
                      <a:pPr marL="342900" lvl="0" indent="-342900" algn="just">
                        <a:spcAft>
                          <a:spcPts val="0"/>
                        </a:spcAft>
                        <a:buFont typeface="+mj-lt"/>
                        <a:buAutoNum type="arabicPeriod"/>
                      </a:pPr>
                      <a:r>
                        <a:rPr lang="zh-CN" sz="1400" kern="100" dirty="0">
                          <a:effectLst/>
                          <a:latin typeface="幼圆" panose="02010509060101010101" pitchFamily="49" charset="-122"/>
                          <a:ea typeface="幼圆" panose="02010509060101010101" pitchFamily="49" charset="-122"/>
                        </a:rPr>
                        <a:t>交卷。</a:t>
                      </a:r>
                      <a:endParaRPr lang="zh-CN" sz="1400" kern="100" dirty="0">
                        <a:effectLst/>
                        <a:latin typeface="幼圆" panose="02010509060101010101" pitchFamily="49" charset="-122"/>
                        <a:ea typeface="幼圆" panose="02010509060101010101" pitchFamily="49" charset="-122"/>
                      </a:endParaRPr>
                    </a:p>
                    <a:p>
                      <a:pPr marL="342900" lvl="0" indent="-342900" algn="just">
                        <a:spcAft>
                          <a:spcPts val="0"/>
                        </a:spcAft>
                        <a:buFont typeface="+mj-lt"/>
                        <a:buAutoNum type="arabicPeriod"/>
                      </a:pPr>
                      <a:r>
                        <a:rPr lang="zh-CN" sz="1400" kern="100" dirty="0">
                          <a:effectLst/>
                          <a:latin typeface="幼圆" panose="02010509060101010101" pitchFamily="49" charset="-122"/>
                          <a:ea typeface="幼圆" panose="02010509060101010101" pitchFamily="49" charset="-122"/>
                        </a:rPr>
                        <a:t>查看分数。</a:t>
                      </a:r>
                      <a:endParaRPr lang="zh-CN" sz="1400" kern="100" dirty="0">
                        <a:effectLst/>
                        <a:latin typeface="幼圆" panose="02010509060101010101" pitchFamily="49" charset="-122"/>
                        <a:ea typeface="幼圆" panose="02010509060101010101" pitchFamily="49" charset="-122"/>
                      </a:endParaRPr>
                    </a:p>
                  </a:txBody>
                  <a:tcPr marL="68580" marR="68580" marT="0" marB="0" anchor="ctr"/>
                </a:tc>
              </a:tr>
              <a:tr h="355506">
                <a:tc>
                  <a:txBody>
                    <a:bodyPr/>
                    <a:lstStyle/>
                    <a:p>
                      <a:pPr algn="just">
                        <a:spcAft>
                          <a:spcPts val="0"/>
                        </a:spcAft>
                      </a:pPr>
                      <a:r>
                        <a:rPr lang="zh-CN" sz="1400" kern="100">
                          <a:effectLst/>
                          <a:latin typeface="幼圆" panose="02010509060101010101" pitchFamily="49" charset="-122"/>
                          <a:ea typeface="幼圆" panose="02010509060101010101" pitchFamily="49" charset="-122"/>
                        </a:rPr>
                        <a:t>备注</a:t>
                      </a:r>
                      <a:endParaRPr lang="zh-CN" sz="14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400" kern="100" dirty="0">
                          <a:effectLst/>
                          <a:latin typeface="幼圆" panose="02010509060101010101" pitchFamily="49" charset="-122"/>
                          <a:ea typeface="幼圆" panose="02010509060101010101" pitchFamily="49" charset="-122"/>
                        </a:rPr>
                        <a:t>在平板的</a:t>
                      </a:r>
                      <a:r>
                        <a:rPr lang="en-US" sz="1400" kern="100" dirty="0">
                          <a:effectLst/>
                          <a:latin typeface="幼圆" panose="02010509060101010101" pitchFamily="49" charset="-122"/>
                          <a:ea typeface="幼圆" panose="02010509060101010101" pitchFamily="49" charset="-122"/>
                        </a:rPr>
                        <a:t>Google</a:t>
                      </a:r>
                      <a:r>
                        <a:rPr lang="zh-CN" sz="1400" kern="100" dirty="0">
                          <a:effectLst/>
                          <a:latin typeface="幼圆" panose="02010509060101010101" pitchFamily="49" charset="-122"/>
                          <a:ea typeface="幼圆" panose="02010509060101010101" pitchFamily="49" charset="-122"/>
                        </a:rPr>
                        <a:t>浏览器中输入在线考试系统网址时，提示“抱歉，未找到该网页”。</a:t>
                      </a:r>
                      <a:endParaRPr lang="zh-CN" sz="1400" kern="100" dirty="0">
                        <a:effectLst/>
                        <a:latin typeface="幼圆" panose="02010509060101010101" pitchFamily="49" charset="-122"/>
                        <a:ea typeface="幼圆" panose="02010509060101010101" pitchFamily="49" charset="-122"/>
                      </a:endParaRPr>
                    </a:p>
                  </a:txBody>
                  <a:tcPr marL="68580" marR="68580" marT="0" marB="0" anchor="ctr"/>
                </a:tc>
              </a:tr>
            </a:tbl>
          </a:graphicData>
        </a:graphic>
      </p:graphicFrame>
      <p:sp>
        <p:nvSpPr>
          <p:cNvPr id="4" name="标题 2"/>
          <p:cNvSpPr>
            <a:spLocks noGrp="1"/>
          </p:cNvSpPr>
          <p:nvPr/>
        </p:nvSpPr>
        <p:spPr>
          <a:xfrm>
            <a:off x="1922333" y="272228"/>
            <a:ext cx="9167913" cy="5331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rgbClr val="C00000"/>
                </a:solidFill>
                <a:latin typeface="微软雅黑" panose="020B0503020204020204" pitchFamily="34" charset="-122"/>
                <a:ea typeface="微软雅黑" panose="020B0503020204020204" pitchFamily="34" charset="-122"/>
                <a:cs typeface="+mj-cs"/>
              </a:defRPr>
            </a:lvl1pPr>
          </a:lstStyle>
          <a:p>
            <a:pPr marL="0" algn="l" defTabSz="914400" rtl="0" eaLnBrk="1" latinLnBrk="0" hangingPunct="1"/>
            <a:r>
              <a:rPr lang="zh-CN" altLang="en-US" dirty="0" smtClean="0">
                <a:solidFill>
                  <a:srgbClr val="FF0000"/>
                </a:solidFill>
                <a:sym typeface="+mn-ea"/>
              </a:rPr>
              <a:t>缺陷报告</a:t>
            </a:r>
            <a:endParaRPr lang="zh-CN" altLang="en-US" dirty="0" smtClean="0">
              <a:solidFill>
                <a:srgbClr val="FF0000"/>
              </a:solidFill>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arn(inVertical)">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内容占位符 2"/>
          <p:cNvSpPr txBox="1"/>
          <p:nvPr/>
        </p:nvSpPr>
        <p:spPr>
          <a:xfrm>
            <a:off x="5120641" y="1152047"/>
            <a:ext cx="2829826" cy="724882"/>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Bug_008</a:t>
            </a:r>
            <a:r>
              <a:rPr lang="zh-CN" altLang="zh-CN"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缺陷</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报告</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4" name="表格 3"/>
          <p:cNvGraphicFramePr>
            <a:graphicFrameLocks noGrp="1"/>
          </p:cNvGraphicFramePr>
          <p:nvPr>
            <p:custDataLst>
              <p:tags r:id="rId1"/>
            </p:custDataLst>
          </p:nvPr>
        </p:nvGraphicFramePr>
        <p:xfrm>
          <a:off x="2059806" y="1799920"/>
          <a:ext cx="9105499" cy="4415114"/>
        </p:xfrm>
        <a:graphic>
          <a:graphicData uri="http://schemas.openxmlformats.org/drawingml/2006/table">
            <a:tbl>
              <a:tblPr firstRow="1" firstCol="1" bandRow="1">
                <a:tableStyleId>{5C22544A-7EE6-4342-B048-85BDC9FD1C3A}</a:tableStyleId>
              </a:tblPr>
              <a:tblGrid>
                <a:gridCol w="2388030"/>
                <a:gridCol w="6717469"/>
              </a:tblGrid>
              <a:tr h="336888">
                <a:tc>
                  <a:txBody>
                    <a:bodyPr/>
                    <a:lstStyle/>
                    <a:p>
                      <a:pPr algn="just">
                        <a:spcAft>
                          <a:spcPts val="0"/>
                        </a:spcAft>
                      </a:pPr>
                      <a:r>
                        <a:rPr lang="zh-CN" sz="1400" kern="100" dirty="0">
                          <a:effectLst/>
                          <a:latin typeface="幼圆" panose="02010509060101010101" pitchFamily="49" charset="-122"/>
                          <a:ea typeface="幼圆" panose="02010509060101010101" pitchFamily="49" charset="-122"/>
                        </a:rPr>
                        <a:t>缺陷</a:t>
                      </a:r>
                      <a:r>
                        <a:rPr lang="en-US" sz="1400" kern="100" dirty="0">
                          <a:effectLst/>
                          <a:latin typeface="幼圆" panose="02010509060101010101" pitchFamily="49" charset="-122"/>
                          <a:ea typeface="幼圆" panose="02010509060101010101" pitchFamily="49" charset="-122"/>
                        </a:rPr>
                        <a:t>ID</a:t>
                      </a:r>
                      <a:endParaRPr lang="zh-CN" sz="14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en-US" sz="1400" kern="100">
                          <a:effectLst/>
                          <a:latin typeface="幼圆" panose="02010509060101010101" pitchFamily="49" charset="-122"/>
                          <a:ea typeface="幼圆" panose="02010509060101010101" pitchFamily="49" charset="-122"/>
                        </a:rPr>
                        <a:t>Bug_008</a:t>
                      </a:r>
                      <a:endParaRPr lang="zh-CN" sz="1400" kern="100">
                        <a:effectLst/>
                        <a:latin typeface="幼圆" panose="02010509060101010101" pitchFamily="49" charset="-122"/>
                        <a:ea typeface="幼圆" panose="02010509060101010101" pitchFamily="49" charset="-122"/>
                      </a:endParaRPr>
                    </a:p>
                  </a:txBody>
                  <a:tcPr marL="68580" marR="68580" marT="0" marB="0" anchor="ctr"/>
                </a:tc>
              </a:tr>
              <a:tr h="214644">
                <a:tc>
                  <a:txBody>
                    <a:bodyPr/>
                    <a:lstStyle/>
                    <a:p>
                      <a:pPr algn="just">
                        <a:spcAft>
                          <a:spcPts val="0"/>
                        </a:spcAft>
                      </a:pPr>
                      <a:r>
                        <a:rPr lang="zh-CN" sz="1400" kern="100" dirty="0">
                          <a:effectLst/>
                          <a:latin typeface="幼圆" panose="02010509060101010101" pitchFamily="49" charset="-122"/>
                          <a:ea typeface="幼圆" panose="02010509060101010101" pitchFamily="49" charset="-122"/>
                        </a:rPr>
                        <a:t>测试软件名称</a:t>
                      </a:r>
                      <a:endParaRPr lang="zh-CN" sz="14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400" kern="100">
                          <a:effectLst/>
                          <a:latin typeface="幼圆" panose="02010509060101010101" pitchFamily="49" charset="-122"/>
                          <a:ea typeface="幼圆" panose="02010509060101010101" pitchFamily="49" charset="-122"/>
                        </a:rPr>
                        <a:t>在线考试系统</a:t>
                      </a:r>
                      <a:endParaRPr lang="zh-CN" sz="1400" kern="100">
                        <a:effectLst/>
                        <a:latin typeface="幼圆" panose="02010509060101010101" pitchFamily="49" charset="-122"/>
                        <a:ea typeface="幼圆" panose="02010509060101010101" pitchFamily="49" charset="-122"/>
                      </a:endParaRPr>
                    </a:p>
                  </a:txBody>
                  <a:tcPr marL="68580" marR="68580" marT="0" marB="0" anchor="ctr"/>
                </a:tc>
              </a:tr>
              <a:tr h="214644">
                <a:tc>
                  <a:txBody>
                    <a:bodyPr/>
                    <a:lstStyle/>
                    <a:p>
                      <a:pPr algn="just">
                        <a:spcAft>
                          <a:spcPts val="0"/>
                        </a:spcAft>
                      </a:pPr>
                      <a:r>
                        <a:rPr lang="zh-CN" sz="1400" kern="100" dirty="0">
                          <a:effectLst/>
                          <a:latin typeface="幼圆" panose="02010509060101010101" pitchFamily="49" charset="-122"/>
                          <a:ea typeface="幼圆" panose="02010509060101010101" pitchFamily="49" charset="-122"/>
                        </a:rPr>
                        <a:t>测试软件版本</a:t>
                      </a:r>
                      <a:endParaRPr lang="zh-CN" sz="14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en-US" sz="1400" kern="100">
                          <a:effectLst/>
                          <a:latin typeface="幼圆" panose="02010509060101010101" pitchFamily="49" charset="-122"/>
                          <a:ea typeface="幼圆" panose="02010509060101010101" pitchFamily="49" charset="-122"/>
                        </a:rPr>
                        <a:t>1.0</a:t>
                      </a:r>
                      <a:endParaRPr lang="zh-CN" sz="1400" kern="100">
                        <a:effectLst/>
                        <a:latin typeface="幼圆" panose="02010509060101010101" pitchFamily="49" charset="-122"/>
                        <a:ea typeface="幼圆" panose="02010509060101010101" pitchFamily="49" charset="-122"/>
                      </a:endParaRPr>
                    </a:p>
                  </a:txBody>
                  <a:tcPr marL="68580" marR="68580" marT="0" marB="0" anchor="ctr"/>
                </a:tc>
              </a:tr>
              <a:tr h="214644">
                <a:tc>
                  <a:txBody>
                    <a:bodyPr/>
                    <a:lstStyle/>
                    <a:p>
                      <a:pPr algn="just">
                        <a:spcAft>
                          <a:spcPts val="0"/>
                        </a:spcAft>
                      </a:pPr>
                      <a:r>
                        <a:rPr lang="zh-CN" sz="1400" kern="100" dirty="0">
                          <a:effectLst/>
                          <a:latin typeface="幼圆" panose="02010509060101010101" pitchFamily="49" charset="-122"/>
                          <a:ea typeface="幼圆" panose="02010509060101010101" pitchFamily="49" charset="-122"/>
                        </a:rPr>
                        <a:t>缺陷发现日期</a:t>
                      </a:r>
                      <a:endParaRPr lang="zh-CN" sz="14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en-US" sz="1400" kern="100">
                          <a:effectLst/>
                          <a:latin typeface="幼圆" panose="02010509060101010101" pitchFamily="49" charset="-122"/>
                          <a:ea typeface="幼圆" panose="02010509060101010101" pitchFamily="49" charset="-122"/>
                        </a:rPr>
                        <a:t>2019.05.08</a:t>
                      </a:r>
                      <a:endParaRPr lang="zh-CN" sz="1400" kern="100">
                        <a:effectLst/>
                        <a:latin typeface="幼圆" panose="02010509060101010101" pitchFamily="49" charset="-122"/>
                        <a:ea typeface="幼圆" panose="02010509060101010101" pitchFamily="49" charset="-122"/>
                      </a:endParaRPr>
                    </a:p>
                  </a:txBody>
                  <a:tcPr marL="68580" marR="68580" marT="0" marB="0" anchor="ctr"/>
                </a:tc>
              </a:tr>
              <a:tr h="214644">
                <a:tc>
                  <a:txBody>
                    <a:bodyPr/>
                    <a:lstStyle/>
                    <a:p>
                      <a:pPr algn="just">
                        <a:spcAft>
                          <a:spcPts val="0"/>
                        </a:spcAft>
                      </a:pPr>
                      <a:r>
                        <a:rPr lang="zh-CN" sz="1400" kern="100" dirty="0">
                          <a:effectLst/>
                          <a:latin typeface="幼圆" panose="02010509060101010101" pitchFamily="49" charset="-122"/>
                          <a:ea typeface="幼圆" panose="02010509060101010101" pitchFamily="49" charset="-122"/>
                        </a:rPr>
                        <a:t>测试人员</a:t>
                      </a:r>
                      <a:endParaRPr lang="zh-CN" sz="14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400" kern="100">
                          <a:effectLst/>
                          <a:latin typeface="幼圆" panose="02010509060101010101" pitchFamily="49" charset="-122"/>
                          <a:ea typeface="幼圆" panose="02010509060101010101" pitchFamily="49" charset="-122"/>
                        </a:rPr>
                        <a:t>薛蒙蒙</a:t>
                      </a:r>
                      <a:r>
                        <a:rPr lang="en-US" sz="1400" kern="100">
                          <a:effectLst/>
                          <a:latin typeface="幼圆" panose="02010509060101010101" pitchFamily="49" charset="-122"/>
                          <a:ea typeface="幼圆" panose="02010509060101010101" pitchFamily="49" charset="-122"/>
                        </a:rPr>
                        <a:t>   </a:t>
                      </a:r>
                      <a:r>
                        <a:rPr lang="zh-CN" sz="1400" kern="100">
                          <a:effectLst/>
                          <a:latin typeface="幼圆" panose="02010509060101010101" pitchFamily="49" charset="-122"/>
                          <a:ea typeface="幼圆" panose="02010509060101010101" pitchFamily="49" charset="-122"/>
                        </a:rPr>
                        <a:t>李卓</a:t>
                      </a:r>
                      <a:endParaRPr lang="zh-CN" sz="1400" kern="100">
                        <a:effectLst/>
                        <a:latin typeface="幼圆" panose="02010509060101010101" pitchFamily="49" charset="-122"/>
                        <a:ea typeface="幼圆" panose="02010509060101010101" pitchFamily="49" charset="-122"/>
                      </a:endParaRPr>
                    </a:p>
                  </a:txBody>
                  <a:tcPr marL="68580" marR="68580" marT="0" marB="0" anchor="ctr"/>
                </a:tc>
              </a:tr>
              <a:tr h="214644">
                <a:tc>
                  <a:txBody>
                    <a:bodyPr/>
                    <a:lstStyle/>
                    <a:p>
                      <a:pPr algn="just">
                        <a:spcAft>
                          <a:spcPts val="0"/>
                        </a:spcAft>
                      </a:pPr>
                      <a:r>
                        <a:rPr lang="zh-CN" sz="1400" kern="100" dirty="0">
                          <a:effectLst/>
                          <a:latin typeface="幼圆" panose="02010509060101010101" pitchFamily="49" charset="-122"/>
                          <a:ea typeface="幼圆" panose="02010509060101010101" pitchFamily="49" charset="-122"/>
                        </a:rPr>
                        <a:t>缺陷描述</a:t>
                      </a:r>
                      <a:endParaRPr lang="zh-CN" sz="14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400" kern="100">
                          <a:effectLst/>
                          <a:latin typeface="幼圆" panose="02010509060101010101" pitchFamily="49" charset="-122"/>
                          <a:ea typeface="幼圆" panose="02010509060101010101" pitchFamily="49" charset="-122"/>
                        </a:rPr>
                        <a:t>不能用手机登录在线考试系统。</a:t>
                      </a:r>
                      <a:endParaRPr lang="zh-CN" sz="1400" kern="100">
                        <a:effectLst/>
                        <a:latin typeface="幼圆" panose="02010509060101010101" pitchFamily="49" charset="-122"/>
                        <a:ea typeface="幼圆" panose="02010509060101010101" pitchFamily="49" charset="-122"/>
                      </a:endParaRPr>
                    </a:p>
                  </a:txBody>
                  <a:tcPr marL="68580" marR="68580" marT="0" marB="0" anchor="ctr"/>
                </a:tc>
              </a:tr>
              <a:tr h="214644">
                <a:tc>
                  <a:txBody>
                    <a:bodyPr/>
                    <a:lstStyle/>
                    <a:p>
                      <a:pPr algn="just">
                        <a:spcAft>
                          <a:spcPts val="0"/>
                        </a:spcAft>
                      </a:pPr>
                      <a:r>
                        <a:rPr lang="zh-CN" sz="1400" kern="100">
                          <a:effectLst/>
                          <a:latin typeface="幼圆" panose="02010509060101010101" pitchFamily="49" charset="-122"/>
                          <a:ea typeface="幼圆" panose="02010509060101010101" pitchFamily="49" charset="-122"/>
                        </a:rPr>
                        <a:t>附件</a:t>
                      </a:r>
                      <a:endParaRPr lang="zh-CN" sz="14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400" kern="100" dirty="0">
                          <a:effectLst/>
                          <a:latin typeface="幼圆" panose="02010509060101010101" pitchFamily="49" charset="-122"/>
                          <a:ea typeface="幼圆" panose="02010509060101010101" pitchFamily="49" charset="-122"/>
                        </a:rPr>
                        <a:t>见下图</a:t>
                      </a:r>
                      <a:r>
                        <a:rPr lang="en-US" sz="1400" kern="100" dirty="0">
                          <a:effectLst/>
                          <a:latin typeface="幼圆" panose="02010509060101010101" pitchFamily="49" charset="-122"/>
                          <a:ea typeface="幼圆" panose="02010509060101010101" pitchFamily="49" charset="-122"/>
                        </a:rPr>
                        <a:t>9-5</a:t>
                      </a:r>
                      <a:endParaRPr lang="zh-CN" sz="1400" kern="100" dirty="0">
                        <a:effectLst/>
                        <a:latin typeface="幼圆" panose="02010509060101010101" pitchFamily="49" charset="-122"/>
                        <a:ea typeface="幼圆" panose="02010509060101010101" pitchFamily="49" charset="-122"/>
                      </a:endParaRPr>
                    </a:p>
                  </a:txBody>
                  <a:tcPr marL="68580" marR="68580" marT="0" marB="0" anchor="ctr"/>
                </a:tc>
              </a:tr>
              <a:tr h="214644">
                <a:tc>
                  <a:txBody>
                    <a:bodyPr/>
                    <a:lstStyle/>
                    <a:p>
                      <a:pPr algn="just">
                        <a:spcAft>
                          <a:spcPts val="0"/>
                        </a:spcAft>
                      </a:pPr>
                      <a:r>
                        <a:rPr lang="zh-CN" sz="1400" kern="100" dirty="0">
                          <a:effectLst/>
                          <a:latin typeface="幼圆" panose="02010509060101010101" pitchFamily="49" charset="-122"/>
                          <a:ea typeface="幼圆" panose="02010509060101010101" pitchFamily="49" charset="-122"/>
                        </a:rPr>
                        <a:t>缺陷类型</a:t>
                      </a:r>
                      <a:endParaRPr lang="zh-CN" sz="14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400" kern="100" dirty="0">
                          <a:effectLst/>
                          <a:latin typeface="幼圆" panose="02010509060101010101" pitchFamily="49" charset="-122"/>
                          <a:ea typeface="幼圆" panose="02010509060101010101" pitchFamily="49" charset="-122"/>
                        </a:rPr>
                        <a:t>功能类型缺陷</a:t>
                      </a:r>
                      <a:endParaRPr lang="zh-CN" sz="1400" kern="100" dirty="0">
                        <a:effectLst/>
                        <a:latin typeface="幼圆" panose="02010509060101010101" pitchFamily="49" charset="-122"/>
                        <a:ea typeface="幼圆" panose="02010509060101010101" pitchFamily="49" charset="-122"/>
                      </a:endParaRPr>
                    </a:p>
                  </a:txBody>
                  <a:tcPr marL="68580" marR="68580" marT="0" marB="0" anchor="ctr"/>
                </a:tc>
              </a:tr>
              <a:tr h="214644">
                <a:tc>
                  <a:txBody>
                    <a:bodyPr/>
                    <a:lstStyle/>
                    <a:p>
                      <a:pPr algn="just">
                        <a:spcAft>
                          <a:spcPts val="0"/>
                        </a:spcAft>
                      </a:pPr>
                      <a:r>
                        <a:rPr lang="zh-CN" sz="1400" kern="100">
                          <a:effectLst/>
                          <a:latin typeface="幼圆" panose="02010509060101010101" pitchFamily="49" charset="-122"/>
                          <a:ea typeface="幼圆" panose="02010509060101010101" pitchFamily="49" charset="-122"/>
                        </a:rPr>
                        <a:t>缺陷严重程度</a:t>
                      </a:r>
                      <a:endParaRPr lang="zh-CN" sz="14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400" kern="100" dirty="0">
                          <a:effectLst/>
                          <a:latin typeface="幼圆" panose="02010509060101010101" pitchFamily="49" charset="-122"/>
                          <a:ea typeface="幼圆" panose="02010509060101010101" pitchFamily="49" charset="-122"/>
                        </a:rPr>
                        <a:t>一般</a:t>
                      </a:r>
                      <a:endParaRPr lang="zh-CN" sz="1400" kern="100" dirty="0">
                        <a:effectLst/>
                        <a:latin typeface="幼圆" panose="02010509060101010101" pitchFamily="49" charset="-122"/>
                        <a:ea typeface="幼圆" panose="02010509060101010101" pitchFamily="49" charset="-122"/>
                      </a:endParaRPr>
                    </a:p>
                  </a:txBody>
                  <a:tcPr marL="68580" marR="68580" marT="0" marB="0" anchor="ctr"/>
                </a:tc>
              </a:tr>
              <a:tr h="214644">
                <a:tc>
                  <a:txBody>
                    <a:bodyPr/>
                    <a:lstStyle/>
                    <a:p>
                      <a:pPr algn="just">
                        <a:spcAft>
                          <a:spcPts val="0"/>
                        </a:spcAft>
                      </a:pPr>
                      <a:r>
                        <a:rPr lang="zh-CN" sz="1400" kern="100">
                          <a:effectLst/>
                          <a:latin typeface="幼圆" panose="02010509060101010101" pitchFamily="49" charset="-122"/>
                          <a:ea typeface="幼圆" panose="02010509060101010101" pitchFamily="49" charset="-122"/>
                        </a:rPr>
                        <a:t>缺陷优先级</a:t>
                      </a:r>
                      <a:endParaRPr lang="zh-CN" sz="14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400" kern="100" dirty="0">
                          <a:effectLst/>
                          <a:latin typeface="幼圆" panose="02010509060101010101" pitchFamily="49" charset="-122"/>
                          <a:ea typeface="幼圆" panose="02010509060101010101" pitchFamily="49" charset="-122"/>
                        </a:rPr>
                        <a:t>可延后解决</a:t>
                      </a:r>
                      <a:endParaRPr lang="zh-CN" sz="1400" kern="100" dirty="0">
                        <a:effectLst/>
                        <a:latin typeface="幼圆" panose="02010509060101010101" pitchFamily="49" charset="-122"/>
                        <a:ea typeface="幼圆" panose="02010509060101010101" pitchFamily="49" charset="-122"/>
                      </a:endParaRPr>
                    </a:p>
                  </a:txBody>
                  <a:tcPr marL="68580" marR="68580" marT="0" marB="0" anchor="ctr"/>
                </a:tc>
              </a:tr>
              <a:tr h="643929">
                <a:tc>
                  <a:txBody>
                    <a:bodyPr/>
                    <a:lstStyle/>
                    <a:p>
                      <a:pPr algn="just">
                        <a:spcAft>
                          <a:spcPts val="0"/>
                        </a:spcAft>
                      </a:pPr>
                      <a:r>
                        <a:rPr lang="zh-CN" sz="1400" kern="100">
                          <a:effectLst/>
                          <a:latin typeface="幼圆" panose="02010509060101010101" pitchFamily="49" charset="-122"/>
                          <a:ea typeface="幼圆" panose="02010509060101010101" pitchFamily="49" charset="-122"/>
                        </a:rPr>
                        <a:t>测试环境</a:t>
                      </a:r>
                      <a:endParaRPr lang="zh-CN" sz="14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400" kern="100" dirty="0">
                          <a:effectLst/>
                          <a:latin typeface="幼圆" panose="02010509060101010101" pitchFamily="49" charset="-122"/>
                          <a:ea typeface="幼圆" panose="02010509060101010101" pitchFamily="49" charset="-122"/>
                        </a:rPr>
                        <a:t>处理器：</a:t>
                      </a:r>
                      <a:r>
                        <a:rPr lang="en-US" sz="1400" kern="100" dirty="0">
                          <a:effectLst/>
                          <a:latin typeface="幼圆" panose="02010509060101010101" pitchFamily="49" charset="-122"/>
                          <a:ea typeface="幼圆" panose="02010509060101010101" pitchFamily="49" charset="-122"/>
                        </a:rPr>
                        <a:t>Intel(R) Core(TM) i3-4160 CPU @ 3.6GHz 3.60GHz</a:t>
                      </a:r>
                      <a:endParaRPr lang="zh-CN" sz="1400" kern="100" dirty="0">
                        <a:effectLst/>
                        <a:latin typeface="幼圆" panose="02010509060101010101" pitchFamily="49" charset="-122"/>
                        <a:ea typeface="幼圆" panose="02010509060101010101" pitchFamily="49" charset="-122"/>
                      </a:endParaRPr>
                    </a:p>
                    <a:p>
                      <a:pPr algn="just">
                        <a:spcAft>
                          <a:spcPts val="0"/>
                        </a:spcAft>
                      </a:pPr>
                      <a:r>
                        <a:rPr lang="zh-CN" sz="1400" kern="100" dirty="0">
                          <a:effectLst/>
                          <a:latin typeface="幼圆" panose="02010509060101010101" pitchFamily="49" charset="-122"/>
                          <a:ea typeface="幼圆" panose="02010509060101010101" pitchFamily="49" charset="-122"/>
                        </a:rPr>
                        <a:t>内存：</a:t>
                      </a:r>
                      <a:r>
                        <a:rPr lang="en-US" sz="1400" kern="100" dirty="0">
                          <a:effectLst/>
                          <a:latin typeface="幼圆" panose="02010509060101010101" pitchFamily="49" charset="-122"/>
                          <a:ea typeface="幼圆" panose="02010509060101010101" pitchFamily="49" charset="-122"/>
                        </a:rPr>
                        <a:t>8.0GB</a:t>
                      </a:r>
                      <a:endParaRPr lang="zh-CN" sz="1400" kern="100" dirty="0">
                        <a:effectLst/>
                        <a:latin typeface="幼圆" panose="02010509060101010101" pitchFamily="49" charset="-122"/>
                        <a:ea typeface="幼圆" panose="02010509060101010101" pitchFamily="49" charset="-122"/>
                      </a:endParaRPr>
                    </a:p>
                    <a:p>
                      <a:pPr algn="just">
                        <a:spcAft>
                          <a:spcPts val="0"/>
                        </a:spcAft>
                      </a:pPr>
                      <a:r>
                        <a:rPr lang="zh-CN" sz="1400" kern="100" dirty="0">
                          <a:effectLst/>
                          <a:latin typeface="幼圆" panose="02010509060101010101" pitchFamily="49" charset="-122"/>
                          <a:ea typeface="幼圆" panose="02010509060101010101" pitchFamily="49" charset="-122"/>
                        </a:rPr>
                        <a:t>系统类型：</a:t>
                      </a:r>
                      <a:r>
                        <a:rPr lang="en-US" sz="1400" kern="100" dirty="0">
                          <a:effectLst/>
                          <a:latin typeface="幼圆" panose="02010509060101010101" pitchFamily="49" charset="-122"/>
                          <a:ea typeface="幼圆" panose="02010509060101010101" pitchFamily="49" charset="-122"/>
                        </a:rPr>
                        <a:t>windows10 64</a:t>
                      </a:r>
                      <a:r>
                        <a:rPr lang="zh-CN" sz="1400" kern="100" dirty="0">
                          <a:effectLst/>
                          <a:latin typeface="幼圆" panose="02010509060101010101" pitchFamily="49" charset="-122"/>
                          <a:ea typeface="幼圆" panose="02010509060101010101" pitchFamily="49" charset="-122"/>
                        </a:rPr>
                        <a:t>操作系统</a:t>
                      </a:r>
                      <a:endParaRPr lang="zh-CN" sz="1400" kern="100" dirty="0">
                        <a:effectLst/>
                        <a:latin typeface="幼圆" panose="02010509060101010101" pitchFamily="49" charset="-122"/>
                        <a:ea typeface="幼圆" panose="02010509060101010101" pitchFamily="49" charset="-122"/>
                      </a:endParaRPr>
                    </a:p>
                  </a:txBody>
                  <a:tcPr marL="68580" marR="68580" marT="0" marB="0" anchor="ctr"/>
                </a:tc>
              </a:tr>
              <a:tr h="1073215">
                <a:tc>
                  <a:txBody>
                    <a:bodyPr/>
                    <a:lstStyle/>
                    <a:p>
                      <a:pPr algn="just">
                        <a:spcAft>
                          <a:spcPts val="0"/>
                        </a:spcAft>
                      </a:pPr>
                      <a:r>
                        <a:rPr lang="zh-CN" sz="1400" kern="100" dirty="0">
                          <a:effectLst/>
                          <a:latin typeface="幼圆" panose="02010509060101010101" pitchFamily="49" charset="-122"/>
                          <a:ea typeface="幼圆" panose="02010509060101010101" pitchFamily="49" charset="-122"/>
                        </a:rPr>
                        <a:t>重现步骤</a:t>
                      </a:r>
                      <a:endParaRPr lang="zh-CN" sz="1400" kern="100" dirty="0">
                        <a:effectLst/>
                        <a:latin typeface="幼圆" panose="02010509060101010101" pitchFamily="49" charset="-122"/>
                        <a:ea typeface="幼圆" panose="02010509060101010101" pitchFamily="49" charset="-122"/>
                      </a:endParaRPr>
                    </a:p>
                  </a:txBody>
                  <a:tcPr marL="68580" marR="68580" marT="0" marB="0" anchor="ctr"/>
                </a:tc>
                <a:tc>
                  <a:txBody>
                    <a:bodyPr/>
                    <a:lstStyle/>
                    <a:p>
                      <a:pPr marL="342900" lvl="0" indent="-342900" algn="just">
                        <a:spcAft>
                          <a:spcPts val="0"/>
                        </a:spcAft>
                        <a:buFont typeface="+mj-lt"/>
                        <a:buAutoNum type="arabicPeriod"/>
                      </a:pPr>
                      <a:r>
                        <a:rPr lang="zh-CN" sz="1400" kern="100" dirty="0">
                          <a:effectLst/>
                          <a:latin typeface="幼圆" panose="02010509060101010101" pitchFamily="49" charset="-122"/>
                          <a:ea typeface="幼圆" panose="02010509060101010101" pitchFamily="49" charset="-122"/>
                        </a:rPr>
                        <a:t>在手机端登录系统。</a:t>
                      </a:r>
                      <a:endParaRPr lang="zh-CN" sz="1400" kern="100" dirty="0">
                        <a:effectLst/>
                        <a:latin typeface="幼圆" panose="02010509060101010101" pitchFamily="49" charset="-122"/>
                        <a:ea typeface="幼圆" panose="02010509060101010101" pitchFamily="49" charset="-122"/>
                      </a:endParaRPr>
                    </a:p>
                    <a:p>
                      <a:pPr marL="342900" lvl="0" indent="-342900" algn="just">
                        <a:spcAft>
                          <a:spcPts val="0"/>
                        </a:spcAft>
                        <a:buFont typeface="+mj-lt"/>
                        <a:buAutoNum type="arabicPeriod"/>
                      </a:pPr>
                      <a:r>
                        <a:rPr lang="zh-CN" sz="1400" kern="100" dirty="0">
                          <a:effectLst/>
                          <a:latin typeface="幼圆" panose="02010509060101010101" pitchFamily="49" charset="-122"/>
                          <a:ea typeface="幼圆" panose="02010509060101010101" pitchFamily="49" charset="-122"/>
                        </a:rPr>
                        <a:t>选择试卷。</a:t>
                      </a:r>
                      <a:endParaRPr lang="zh-CN" sz="1400" kern="100" dirty="0">
                        <a:effectLst/>
                        <a:latin typeface="幼圆" panose="02010509060101010101" pitchFamily="49" charset="-122"/>
                        <a:ea typeface="幼圆" panose="02010509060101010101" pitchFamily="49" charset="-122"/>
                      </a:endParaRPr>
                    </a:p>
                    <a:p>
                      <a:pPr marL="342900" lvl="0" indent="-342900" algn="just">
                        <a:spcAft>
                          <a:spcPts val="0"/>
                        </a:spcAft>
                        <a:buFont typeface="+mj-lt"/>
                        <a:buAutoNum type="arabicPeriod"/>
                      </a:pPr>
                      <a:r>
                        <a:rPr lang="zh-CN" sz="1400" kern="100" dirty="0">
                          <a:effectLst/>
                          <a:latin typeface="幼圆" panose="02010509060101010101" pitchFamily="49" charset="-122"/>
                          <a:ea typeface="幼圆" panose="02010509060101010101" pitchFamily="49" charset="-122"/>
                        </a:rPr>
                        <a:t>答题。</a:t>
                      </a:r>
                      <a:endParaRPr lang="zh-CN" sz="1400" kern="100" dirty="0">
                        <a:effectLst/>
                        <a:latin typeface="幼圆" panose="02010509060101010101" pitchFamily="49" charset="-122"/>
                        <a:ea typeface="幼圆" panose="02010509060101010101" pitchFamily="49" charset="-122"/>
                      </a:endParaRPr>
                    </a:p>
                    <a:p>
                      <a:pPr marL="342900" lvl="0" indent="-342900" algn="just">
                        <a:spcAft>
                          <a:spcPts val="0"/>
                        </a:spcAft>
                        <a:buFont typeface="+mj-lt"/>
                        <a:buAutoNum type="arabicPeriod"/>
                      </a:pPr>
                      <a:r>
                        <a:rPr lang="zh-CN" sz="1400" kern="100" dirty="0">
                          <a:effectLst/>
                          <a:latin typeface="幼圆" panose="02010509060101010101" pitchFamily="49" charset="-122"/>
                          <a:ea typeface="幼圆" panose="02010509060101010101" pitchFamily="49" charset="-122"/>
                        </a:rPr>
                        <a:t>交卷。</a:t>
                      </a:r>
                      <a:endParaRPr lang="zh-CN" sz="1400" kern="100" dirty="0">
                        <a:effectLst/>
                        <a:latin typeface="幼圆" panose="02010509060101010101" pitchFamily="49" charset="-122"/>
                        <a:ea typeface="幼圆" panose="02010509060101010101" pitchFamily="49" charset="-122"/>
                      </a:endParaRPr>
                    </a:p>
                    <a:p>
                      <a:pPr marL="342900" lvl="0" indent="-342900" algn="just">
                        <a:spcAft>
                          <a:spcPts val="0"/>
                        </a:spcAft>
                        <a:buFont typeface="+mj-lt"/>
                        <a:buAutoNum type="arabicPeriod"/>
                      </a:pPr>
                      <a:r>
                        <a:rPr lang="zh-CN" sz="1400" kern="100" dirty="0">
                          <a:effectLst/>
                          <a:latin typeface="幼圆" panose="02010509060101010101" pitchFamily="49" charset="-122"/>
                          <a:ea typeface="幼圆" panose="02010509060101010101" pitchFamily="49" charset="-122"/>
                        </a:rPr>
                        <a:t>查看分数。</a:t>
                      </a:r>
                      <a:endParaRPr lang="zh-CN" sz="1400" kern="100" dirty="0">
                        <a:effectLst/>
                        <a:latin typeface="幼圆" panose="02010509060101010101" pitchFamily="49" charset="-122"/>
                        <a:ea typeface="幼圆" panose="02010509060101010101" pitchFamily="49" charset="-122"/>
                      </a:endParaRPr>
                    </a:p>
                  </a:txBody>
                  <a:tcPr marL="68580" marR="68580" marT="0" marB="0" anchor="ctr"/>
                </a:tc>
              </a:tr>
              <a:tr h="429286">
                <a:tc>
                  <a:txBody>
                    <a:bodyPr/>
                    <a:lstStyle/>
                    <a:p>
                      <a:pPr algn="just">
                        <a:spcAft>
                          <a:spcPts val="0"/>
                        </a:spcAft>
                      </a:pPr>
                      <a:r>
                        <a:rPr lang="zh-CN" sz="1400" kern="100">
                          <a:effectLst/>
                          <a:latin typeface="幼圆" panose="02010509060101010101" pitchFamily="49" charset="-122"/>
                          <a:ea typeface="幼圆" panose="02010509060101010101" pitchFamily="49" charset="-122"/>
                        </a:rPr>
                        <a:t>备注</a:t>
                      </a:r>
                      <a:endParaRPr lang="zh-CN" sz="1400" kern="100">
                        <a:effectLst/>
                        <a:latin typeface="幼圆" panose="02010509060101010101" pitchFamily="49" charset="-122"/>
                        <a:ea typeface="幼圆" panose="02010509060101010101" pitchFamily="49" charset="-122"/>
                      </a:endParaRPr>
                    </a:p>
                  </a:txBody>
                  <a:tcPr marL="68580" marR="68580" marT="0" marB="0" anchor="ctr"/>
                </a:tc>
                <a:tc>
                  <a:txBody>
                    <a:bodyPr/>
                    <a:lstStyle/>
                    <a:p>
                      <a:pPr algn="just">
                        <a:spcAft>
                          <a:spcPts val="0"/>
                        </a:spcAft>
                      </a:pPr>
                      <a:r>
                        <a:rPr lang="zh-CN" sz="1400" kern="100" dirty="0">
                          <a:effectLst/>
                          <a:latin typeface="幼圆" panose="02010509060101010101" pitchFamily="49" charset="-122"/>
                          <a:ea typeface="幼圆" panose="02010509060101010101" pitchFamily="49" charset="-122"/>
                        </a:rPr>
                        <a:t>在手机的</a:t>
                      </a:r>
                      <a:r>
                        <a:rPr lang="en-US" sz="1400" kern="100" dirty="0">
                          <a:effectLst/>
                          <a:latin typeface="幼圆" panose="02010509060101010101" pitchFamily="49" charset="-122"/>
                          <a:ea typeface="幼圆" panose="02010509060101010101" pitchFamily="49" charset="-122"/>
                        </a:rPr>
                        <a:t>Google</a:t>
                      </a:r>
                      <a:r>
                        <a:rPr lang="zh-CN" sz="1400" kern="100" dirty="0">
                          <a:effectLst/>
                          <a:latin typeface="幼圆" panose="02010509060101010101" pitchFamily="49" charset="-122"/>
                          <a:ea typeface="幼圆" panose="02010509060101010101" pitchFamily="49" charset="-122"/>
                        </a:rPr>
                        <a:t>浏览器中输入在线考试系统网址时，提示“</a:t>
                      </a:r>
                      <a:r>
                        <a:rPr lang="en-US" sz="1400" kern="100" dirty="0">
                          <a:effectLst/>
                          <a:latin typeface="幼圆" panose="02010509060101010101" pitchFamily="49" charset="-122"/>
                          <a:ea typeface="幼圆" panose="02010509060101010101" pitchFamily="49" charset="-122"/>
                        </a:rPr>
                        <a:t>462</a:t>
                      </a:r>
                      <a:r>
                        <a:rPr lang="zh-CN" sz="1400" kern="100" dirty="0">
                          <a:effectLst/>
                          <a:latin typeface="幼圆" panose="02010509060101010101" pitchFamily="49" charset="-122"/>
                          <a:ea typeface="幼圆" panose="02010509060101010101" pitchFamily="49" charset="-122"/>
                        </a:rPr>
                        <a:t>”错误。</a:t>
                      </a:r>
                      <a:endParaRPr lang="zh-CN" sz="1400" kern="100" dirty="0">
                        <a:effectLst/>
                        <a:latin typeface="幼圆" panose="02010509060101010101" pitchFamily="49" charset="-122"/>
                        <a:ea typeface="幼圆" panose="02010509060101010101" pitchFamily="49" charset="-122"/>
                      </a:endParaRPr>
                    </a:p>
                  </a:txBody>
                  <a:tcPr marL="68580" marR="68580" marT="0" marB="0" anchor="ctr"/>
                </a:tc>
              </a:tr>
            </a:tbl>
          </a:graphicData>
        </a:graphic>
      </p:graphicFrame>
      <p:sp>
        <p:nvSpPr>
          <p:cNvPr id="2" name="标题 2"/>
          <p:cNvSpPr>
            <a:spLocks noGrp="1"/>
          </p:cNvSpPr>
          <p:nvPr/>
        </p:nvSpPr>
        <p:spPr>
          <a:xfrm>
            <a:off x="1922333" y="272228"/>
            <a:ext cx="9167913" cy="5331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rgbClr val="C00000"/>
                </a:solidFill>
                <a:latin typeface="微软雅黑" panose="020B0503020204020204" pitchFamily="34" charset="-122"/>
                <a:ea typeface="微软雅黑" panose="020B0503020204020204" pitchFamily="34" charset="-122"/>
                <a:cs typeface="+mj-cs"/>
              </a:defRPr>
            </a:lvl1pPr>
          </a:lstStyle>
          <a:p>
            <a:pPr marL="0" algn="l" defTabSz="914400" rtl="0" eaLnBrk="1" latinLnBrk="0" hangingPunct="1"/>
            <a:r>
              <a:rPr lang="zh-CN" altLang="en-US" dirty="0" smtClean="0">
                <a:solidFill>
                  <a:srgbClr val="FF0000"/>
                </a:solidFill>
                <a:sym typeface="+mn-ea"/>
              </a:rPr>
              <a:t>缺陷报告</a:t>
            </a:r>
            <a:endParaRPr lang="zh-CN" altLang="en-US" dirty="0" smtClean="0">
              <a:solidFill>
                <a:srgbClr val="FF0000"/>
              </a:solidFill>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barn(inVertical)">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内容占位符 2"/>
          <p:cNvSpPr txBox="1"/>
          <p:nvPr/>
        </p:nvSpPr>
        <p:spPr>
          <a:xfrm>
            <a:off x="2725285" y="1383051"/>
            <a:ext cx="3455469" cy="80188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Bug_008</a:t>
            </a:r>
            <a:r>
              <a:rPr lang="zh-CN" altLang="zh-CN"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缺陷报告</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附件</a:t>
            </a:r>
            <a:endParaRPr lang="en-US" altLang="zh-CN" sz="2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377859"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622182" y="1219424"/>
            <a:ext cx="2521818" cy="5171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标题 2"/>
          <p:cNvSpPr>
            <a:spLocks noGrp="1"/>
          </p:cNvSpPr>
          <p:nvPr/>
        </p:nvSpPr>
        <p:spPr>
          <a:xfrm>
            <a:off x="1922333" y="272228"/>
            <a:ext cx="9167913" cy="5331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rgbClr val="C00000"/>
                </a:solidFill>
                <a:latin typeface="微软雅黑" panose="020B0503020204020204" pitchFamily="34" charset="-122"/>
                <a:ea typeface="微软雅黑" panose="020B0503020204020204" pitchFamily="34" charset="-122"/>
                <a:cs typeface="+mj-cs"/>
              </a:defRPr>
            </a:lvl1pPr>
          </a:lstStyle>
          <a:p>
            <a:pPr marL="0" algn="l" defTabSz="914400" rtl="0" eaLnBrk="1" latinLnBrk="0" hangingPunct="1"/>
            <a:r>
              <a:rPr lang="zh-CN" altLang="en-US" dirty="0" smtClean="0">
                <a:solidFill>
                  <a:srgbClr val="FF0000"/>
                </a:solidFill>
                <a:sym typeface="+mn-ea"/>
              </a:rPr>
              <a:t>缺陷报告</a:t>
            </a:r>
            <a:endParaRPr lang="zh-CN" altLang="en-US" dirty="0" smtClean="0">
              <a:solidFill>
                <a:srgbClr val="FF0000"/>
              </a:solidFill>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77859"/>
                                        </p:tgtEl>
                                        <p:attrNameLst>
                                          <p:attrName>style.visibility</p:attrName>
                                        </p:attrNameLst>
                                      </p:cBhvr>
                                      <p:to>
                                        <p:strVal val="visible"/>
                                      </p:to>
                                    </p:set>
                                    <p:animEffect transition="in" filter="wipe(up)">
                                      <p:cBhvr>
                                        <p:cTn id="11" dur="500"/>
                                        <p:tgtEl>
                                          <p:spTgt spid="3778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152476" y="2593640"/>
            <a:ext cx="1887062" cy="925705"/>
          </a:xfrm>
          <a:prstGeom prst="rect">
            <a:avLst/>
          </a:prstGeom>
          <a:noFill/>
          <a:effectLst>
            <a:glow rad="1346200">
              <a:schemeClr val="accent4">
                <a:satMod val="175000"/>
                <a:alpha val="40000"/>
              </a:schemeClr>
            </a:glow>
            <a:outerShdw blurRad="63500" sx="102000" sy="102000" algn="ctr" rotWithShape="0">
              <a:prstClr val="black">
                <a:alpha val="40000"/>
              </a:prstClr>
            </a:outerShdw>
          </a:effectLst>
        </p:spPr>
        <p:txBody>
          <a:bodyPr wrap="none" lIns="181931" tIns="90965" rIns="181931" bIns="90965" rtlCol="0">
            <a:spAutoFit/>
          </a:bodyPr>
          <a:lstStyle/>
          <a:p>
            <a:pPr algn="ctr" defTabSz="1169670">
              <a:lnSpc>
                <a:spcPct val="150000"/>
              </a:lnSpc>
            </a:pPr>
            <a:r>
              <a:rPr lang="en-US" altLang="zh-CN" sz="3600" b="1" dirty="0">
                <a:solidFill>
                  <a:schemeClr val="accent1">
                    <a:lumMod val="75000"/>
                  </a:schemeClr>
                </a:solidFill>
                <a:latin typeface="Consolas" panose="020B0609020204030204" pitchFamily="49" charset="0"/>
                <a:ea typeface="方正兰亭粗黑简体" panose="02000000000000000000" pitchFamily="2" charset="-122"/>
                <a:cs typeface="+mj-cs"/>
              </a:rPr>
              <a:t>Thanks</a:t>
            </a:r>
            <a:endParaRPr lang="en-US" altLang="zh-CN" sz="3600" b="1" dirty="0">
              <a:solidFill>
                <a:schemeClr val="accent1">
                  <a:lumMod val="75000"/>
                </a:schemeClr>
              </a:solidFill>
              <a:latin typeface="Consolas" panose="020B0609020204030204" pitchFamily="49" charset="0"/>
              <a:ea typeface="方正兰亭粗黑简体" panose="02000000000000000000" pitchFamily="2" charset="-122"/>
              <a:cs typeface="+mj-cs"/>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tags/tag1.xml><?xml version="1.0" encoding="utf-8"?>
<p:tagLst xmlns:p="http://schemas.openxmlformats.org/presentationml/2006/main">
  <p:tag name="KSO_WM_UNIT_TABLE_BEAUTIFY" val="smartTable{52613cb2-b3d8-4796-9ff8-f928b93b1e2d}"/>
</p:tagLst>
</file>

<file path=ppt/tags/tag2.xml><?xml version="1.0" encoding="utf-8"?>
<p:tagLst xmlns:p="http://schemas.openxmlformats.org/presentationml/2006/main">
  <p:tag name="KSO_WM_UNIT_TABLE_BEAUTIFY" val="smartTable{c27df33c-a3e7-4ca6-b58e-e5336728750e}"/>
</p:tagLst>
</file>

<file path=ppt/tags/tag3.xml><?xml version="1.0" encoding="utf-8"?>
<p:tagLst xmlns:p="http://schemas.openxmlformats.org/presentationml/2006/main">
  <p:tag name="KSO_WM_UNIT_TABLE_BEAUTIFY" val="smartTable{654e5462-047e-4d3c-868f-dff6f9cd66b3}"/>
</p:tagLst>
</file>

<file path=ppt/tags/tag4.xml><?xml version="1.0" encoding="utf-8"?>
<p:tagLst xmlns:p="http://schemas.openxmlformats.org/presentationml/2006/main">
  <p:tag name="KSO_WM_UNIT_TABLE_BEAUTIFY" val="smartTable{fbdea1c1-1084-4d48-aca6-185e01237a66}"/>
</p:tagLst>
</file>

<file path=ppt/tags/tag5.xml><?xml version="1.0" encoding="utf-8"?>
<p:tagLst xmlns:p="http://schemas.openxmlformats.org/presentationml/2006/main">
  <p:tag name="KSO_WM_UNIT_TABLE_BEAUTIFY" val="smartTable{7acd4e70-b2c3-4bb1-a921-93537930cf50}"/>
</p:tagLst>
</file>

<file path=ppt/tags/tag6.xml><?xml version="1.0" encoding="utf-8"?>
<p:tagLst xmlns:p="http://schemas.openxmlformats.org/presentationml/2006/main">
  <p:tag name="KSO_WM_UNIT_TABLE_BEAUTIFY" val="smartTable{49e0f65e-c960-42da-8356-ab70b73ff5f6}"/>
</p:tagLst>
</file>

<file path=ppt/tags/tag7.xml><?xml version="1.0" encoding="utf-8"?>
<p:tagLst xmlns:p="http://schemas.openxmlformats.org/presentationml/2006/main">
  <p:tag name="KSO_WM_UNIT_TABLE_BEAUTIFY" val="smartTable{30449957-88b8-4133-80e4-63e23ac12159}"/>
</p:tagLst>
</file>

<file path=ppt/tags/tag8.xml><?xml version="1.0" encoding="utf-8"?>
<p:tagLst xmlns:p="http://schemas.openxmlformats.org/presentationml/2006/main">
  <p:tag name="KSO_WM_UNIT_TABLE_BEAUTIFY" val="smartTable{a0118d11-d8a8-43da-8bb9-7e70389f948d}"/>
</p:tagLst>
</file>

<file path=ppt/tags/tag9.xml><?xml version="1.0" encoding="utf-8"?>
<p:tagLst xmlns:p="http://schemas.openxmlformats.org/presentationml/2006/main">
  <p:tag name="COMMONDATA" val="eyJoZGlkIjoiYmY0OWYxODNlZDIzNDE1OWM2OGEzZDBkM2NmODgwYmEifQ=="/>
  <p:tag name="KSO_WPP_MARK_KEY" val="c228c4da-014b-4537-b86b-abbc684e0902"/>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glow rad="1346200">
            <a:schemeClr val="accent4">
              <a:satMod val="175000"/>
              <a:alpha val="40000"/>
            </a:schemeClr>
          </a:glow>
          <a:outerShdw blurRad="63500" sx="102000" sy="102000" algn="ctr" rotWithShape="0">
            <a:prstClr val="black">
              <a:alpha val="40000"/>
            </a:prstClr>
          </a:outerShdw>
        </a:effectLst>
      </a:spPr>
      <a:bodyPr wrap="square" lIns="181931" tIns="90965" rIns="181931" bIns="90965" rtlCol="0">
        <a:spAutoFit/>
      </a:bodyPr>
      <a:lstStyle>
        <a:defPPr algn="ctr" defTabSz="1169670">
          <a:lnSpc>
            <a:spcPct val="150000"/>
          </a:lnSpc>
          <a:defRPr sz="4400" dirty="0">
            <a:solidFill>
              <a:schemeClr val="bg1"/>
            </a:solidFill>
            <a:latin typeface="方正兰亭粗黑简体" panose="02000000000000000000" pitchFamily="2" charset="-122"/>
            <a:ea typeface="方正兰亭粗黑简体" panose="02000000000000000000" pitchFamily="2" charset="-122"/>
            <a:cs typeface="+mj-cs"/>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7080</Words>
  <Application>WPS 演示</Application>
  <PresentationFormat>宽屏</PresentationFormat>
  <Paragraphs>1506</Paragraphs>
  <Slides>42</Slides>
  <Notes>0</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vt:i4>
      </vt:variant>
      <vt:variant>
        <vt:lpstr>幻灯片标题</vt:lpstr>
      </vt:variant>
      <vt:variant>
        <vt:i4>42</vt:i4>
      </vt:variant>
    </vt:vector>
  </HeadingPairs>
  <TitlesOfParts>
    <vt:vector size="57" baseType="lpstr">
      <vt:lpstr>Arial</vt:lpstr>
      <vt:lpstr>宋体</vt:lpstr>
      <vt:lpstr>Wingdings</vt:lpstr>
      <vt:lpstr>方正兰亭粗黑简体</vt:lpstr>
      <vt:lpstr>黑体</vt:lpstr>
      <vt:lpstr>微软雅黑</vt:lpstr>
      <vt:lpstr>汉仪旗黑-85S</vt:lpstr>
      <vt:lpstr>Times New Roman</vt:lpstr>
      <vt:lpstr>幼圆</vt:lpstr>
      <vt:lpstr>楷体</vt:lpstr>
      <vt:lpstr>Arial Unicode MS</vt:lpstr>
      <vt:lpstr>Calibri</vt:lpstr>
      <vt:lpstr>Consolas</vt:lpstr>
      <vt:lpstr>Office 主题</vt:lpstr>
      <vt:lpstr>Visio.Drawing.11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iflytek</dc:creator>
  <cp:lastModifiedBy>sweet</cp:lastModifiedBy>
  <cp:revision>1317</cp:revision>
  <cp:lastPrinted>2020-05-20T07:11:00Z</cp:lastPrinted>
  <dcterms:created xsi:type="dcterms:W3CDTF">2018-12-27T03:01:00Z</dcterms:created>
  <dcterms:modified xsi:type="dcterms:W3CDTF">2022-10-06T05:29:47Z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2052-11.1.0.12358</vt:lpwstr>
  </property>
  <property fmtid="{D5CDD505-2E9C-101B-9397-08002B2CF9AE}" pid="3" name="ICV">
    <vt:lpwstr>51586634CE7E4E6EAFFBE6B033EA2980</vt:lpwstr>
  </property>
</Properties>
</file>